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81d6b19014a59" /><Relationship Type="http://schemas.openxmlformats.org/officeDocument/2006/relationships/extended-properties" Target="/docProps/app.xml" Id="R4c654c1f5ad0413a" /><Relationship Type="http://schemas.openxmlformats.org/officeDocument/2006/relationships/officeDocument" Target="/ppt/presentation.xml" Id="R5b54602929be40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3efd22dc749e7"/>
  </p:sldMasterIdLst>
  <p:notesMasterIdLst>
    <p:notesMasterId xmlns:r="http://schemas.openxmlformats.org/officeDocument/2006/relationships" r:id="R4ce3804bf0804394"/>
  </p:notesMasterIdLst>
  <p:sldIdLst>
    <p:sldId xmlns:r="http://schemas.openxmlformats.org/officeDocument/2006/relationships" id="256" r:id="R8dd94a16fbde421e"/>
    <p:sldId xmlns:r="http://schemas.openxmlformats.org/officeDocument/2006/relationships" id="257" r:id="Rb10bdcf478d24008"/>
    <p:sldId xmlns:r="http://schemas.openxmlformats.org/officeDocument/2006/relationships" id="258" r:id="R21cebc0e43654b08"/>
    <p:sldId xmlns:r="http://schemas.openxmlformats.org/officeDocument/2006/relationships" id="259" r:id="Re213bca00fc54363"/>
    <p:sldId xmlns:r="http://schemas.openxmlformats.org/officeDocument/2006/relationships" id="260" r:id="R527c1f6afcd241b1"/>
    <p:sldId xmlns:r="http://schemas.openxmlformats.org/officeDocument/2006/relationships" id="261" r:id="R673101bb93b04487"/>
    <p:sldId xmlns:r="http://schemas.openxmlformats.org/officeDocument/2006/relationships" id="262" r:id="Rffca2d6e66b34010"/>
    <p:sldId xmlns:r="http://schemas.openxmlformats.org/officeDocument/2006/relationships" id="263" r:id="Rc87091000d2145df"/>
    <p:sldId xmlns:r="http://schemas.openxmlformats.org/officeDocument/2006/relationships" id="264" r:id="R882918d219264648"/>
    <p:sldId xmlns:r="http://schemas.openxmlformats.org/officeDocument/2006/relationships" id="265" r:id="R9d29c3a786664165"/>
    <p:sldId xmlns:r="http://schemas.openxmlformats.org/officeDocument/2006/relationships" id="266" r:id="R44477b8a4d3746db"/>
    <p:sldId xmlns:r="http://schemas.openxmlformats.org/officeDocument/2006/relationships" id="267" r:id="R26f13a068bf0457e"/>
    <p:sldId xmlns:r="http://schemas.openxmlformats.org/officeDocument/2006/relationships" id="268" r:id="R4c52905acc724a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a70561a5b481a" /><Relationship Type="http://schemas.openxmlformats.org/officeDocument/2006/relationships/slideMaster" Target="/ppt/slideMasters/slideMaster1.xml" Id="Rd803efd22dc749e7" /><Relationship Type="http://schemas.openxmlformats.org/officeDocument/2006/relationships/notesMaster" Target="/ppt/notesMasters/notesMaster1.xml" Id="R4ce3804bf0804394" /><Relationship Type="http://schemas.openxmlformats.org/officeDocument/2006/relationships/presProps" Target="/ppt/presProps.xml" Id="Rc5d6751965514cf4" /><Relationship Type="http://schemas.openxmlformats.org/officeDocument/2006/relationships/tableStyles" Target="/ppt/tableStyles.xml" Id="Rc0ff8e4a8ea74430" /><Relationship Type="http://schemas.openxmlformats.org/officeDocument/2006/relationships/slide" Target="/ppt/slides/slide1.xml" Id="R8dd94a16fbde421e" /><Relationship Type="http://schemas.openxmlformats.org/officeDocument/2006/relationships/slide" Target="/ppt/slides/slide2.xml" Id="Rb10bdcf478d24008" /><Relationship Type="http://schemas.openxmlformats.org/officeDocument/2006/relationships/slide" Target="/ppt/slides/slide3.xml" Id="R21cebc0e43654b08" /><Relationship Type="http://schemas.openxmlformats.org/officeDocument/2006/relationships/slide" Target="/ppt/slides/slide4.xml" Id="Re213bca00fc54363" /><Relationship Type="http://schemas.openxmlformats.org/officeDocument/2006/relationships/slide" Target="/ppt/slides/slide5.xml" Id="R527c1f6afcd241b1" /><Relationship Type="http://schemas.openxmlformats.org/officeDocument/2006/relationships/slide" Target="/ppt/slides/slide6.xml" Id="R673101bb93b04487" /><Relationship Type="http://schemas.openxmlformats.org/officeDocument/2006/relationships/slide" Target="/ppt/slides/slide7.xml" Id="Rffca2d6e66b34010" /><Relationship Type="http://schemas.openxmlformats.org/officeDocument/2006/relationships/slide" Target="/ppt/slides/slide8.xml" Id="Rc87091000d2145df" /><Relationship Type="http://schemas.openxmlformats.org/officeDocument/2006/relationships/slide" Target="/ppt/slides/slide9.xml" Id="R882918d219264648" /><Relationship Type="http://schemas.openxmlformats.org/officeDocument/2006/relationships/slide" Target="/ppt/slides/slide10.xml" Id="R9d29c3a786664165" /><Relationship Type="http://schemas.openxmlformats.org/officeDocument/2006/relationships/slide" Target="/ppt/slides/slide11.xml" Id="R44477b8a4d3746db" /><Relationship Type="http://schemas.openxmlformats.org/officeDocument/2006/relationships/slide" Target="/ppt/slides/slide12.xml" Id="R26f13a068bf0457e" /><Relationship Type="http://schemas.openxmlformats.org/officeDocument/2006/relationships/slide" Target="/ppt/slides/slide13.xml" Id="R4c52905acc724a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49281d8b348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e77081c154c93" /><Relationship Type="http://schemas.openxmlformats.org/officeDocument/2006/relationships/notesMaster" Target="/ppt/notesMasters/notesMaster1.xml" Id="R37cc4e0fe66744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69aa304324d5a" /><Relationship Type="http://schemas.openxmlformats.org/officeDocument/2006/relationships/notesMaster" Target="/ppt/notesMasters/notesMaster1.xml" Id="Re3dd838d77d2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06fa41a77409a" /><Relationship Type="http://schemas.openxmlformats.org/officeDocument/2006/relationships/notesMaster" Target="/ppt/notesMasters/notesMaster1.xml" Id="R53555231bd04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ce972a2814114" /><Relationship Type="http://schemas.openxmlformats.org/officeDocument/2006/relationships/notesMaster" Target="/ppt/notesMasters/notesMaster1.xml" Id="R03c09e2b921e49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9c888cd85d4892" /><Relationship Type="http://schemas.openxmlformats.org/officeDocument/2006/relationships/notesMaster" Target="/ppt/notesMasters/notesMaster1.xml" Id="R2b511ee55b0e4d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be1277d94420f" /><Relationship Type="http://schemas.openxmlformats.org/officeDocument/2006/relationships/notesMaster" Target="/ppt/notesMasters/notesMaster1.xml" Id="Ra467a17f4cc4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d6a0b02c934f86" /><Relationship Type="http://schemas.openxmlformats.org/officeDocument/2006/relationships/notesMaster" Target="/ppt/notesMasters/notesMaster1.xml" Id="R6cb53ab0d4eb4b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a333b4291e4bd3" /><Relationship Type="http://schemas.openxmlformats.org/officeDocument/2006/relationships/notesMaster" Target="/ppt/notesMasters/notesMaster1.xml" Id="R3d51a50d398349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fae876941a4a16" /><Relationship Type="http://schemas.openxmlformats.org/officeDocument/2006/relationships/notesMaster" Target="/ppt/notesMasters/notesMaster1.xml" Id="R7943bf7118714f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0a1d26ae64810" /><Relationship Type="http://schemas.openxmlformats.org/officeDocument/2006/relationships/notesMaster" Target="/ppt/notesMasters/notesMaster1.xml" Id="R3e831fad771d40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57a29a00c54959" /><Relationship Type="http://schemas.openxmlformats.org/officeDocument/2006/relationships/notesMaster" Target="/ppt/notesMasters/notesMaster1.xml" Id="Ree54be57d2f448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61aba0ac0a4ee0" /><Relationship Type="http://schemas.openxmlformats.org/officeDocument/2006/relationships/notesMaster" Target="/ppt/notesMasters/notesMaster1.xml" Id="R39111abbd5584b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3caa9c7fa84b20" /><Relationship Type="http://schemas.openxmlformats.org/officeDocument/2006/relationships/notesMaster" Target="/ppt/notesMasters/notesMaster1.xml" Id="R5d316bff6d5e49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开场：建议从一期试点开始，评估我们承担赛季主题、章节玩法、任务奖励和活动体验设计的方式。团队履历、人员配置和报价需在对外提交前补充。</a:t>
            </a:r>
          </a:p>
          <a:p xmlns:a="http://schemas.openxmlformats.org/drawingml/2006/main">
            <a:r>
              <a:t>视觉素材：D:/codex/RH/haaland-offline/assets/haaland-stadium.png，为本项目AI生成概念素材，不是官方宣传图。</a:t>
            </a:r>
          </a:p>
          <a:p xmlns:a="http://schemas.openxmlformats.org/drawingml/2006/main">
            <a:r>
              <a:t>用户提供的空白文件画布为12192000×6858000 EMU，沿用16:9尺寸。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以两个官方活动为例说明观察依据。年度最佳的日常代币推进奖励路径，路径节点产出票券，票券用于拼图，累计完成拼图解锁球员特惠交换。欧冠荣耀的冠军巡礼重现决赛赛事，完成后可获得球员奖励并解锁特价交换。主题可以影响参与方式，球员获取则连接各章节。这是设计归纳，不代表内部效果结论。完整四样本对照见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</a:p>
          <a:p xmlns:a="http://schemas.openxmlformats.org/drawingml/2006/main">
            <a:r>
              <a:t>图片原址：</a:t>
            </a:r>
          </a:p>
          <a:p xmlns:a="http://schemas.openxmlformats.org/drawingml/2006/main">
            <a:r>
              <a:t>https://wx3.sinaimg.cn/large/8764b058gy1hxutzr4qwfj212w0howj2.jpg</a:t>
            </a:r>
          </a:p>
          <a:p xmlns:a="http://schemas.openxmlformats.org/drawingml/2006/main">
            <a:r>
              <a:t>https://wx2.sinaimg.cn/large/8764b058gy1hxutzu0bggj212w0hogpp.jpg</a:t>
            </a:r>
          </a:p>
          <a:p xmlns:a="http://schemas.openxmlformats.org/drawingml/2006/main">
            <a:r>
              <a:t>图为官方文章原图，保留原比例及水印。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</a:p>
          <a:p xmlns:a="http://schemas.openxmlformats.org/drawingml/2006/main">
            <a:r>
              <a:t>右图源：https://img2-tc.tapimg.com/moment/etag/b73d126035e15df9b26d710f11a3220e.jpg/_tap_ugc.jpg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用玩家经历说明共同框架，避免将所有活动归为固定线性流程。官方样本的完整对照与来源见附录。设计重点是本提案的主张，尚需FC团队的系统能力与奖励规则评审，不是对现有活动效果的评价。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主题方案把哈兰德作为设计线索：训练、创造机会、搭档配合和终章挑战共同构成成长过程。禁区猎手是活动设计的一部分，尚未单独实现到网页原型。网页已有大厅、训练、搭档、征程和冠军五个页面，不能将页面数量等同于完整五个玩法章节。</a:t>
            </a:r>
          </a:p>
          <a:p xmlns:a="http://schemas.openxmlformats.org/drawingml/2006/main">
            <a:r>
              <a:t>视觉素材为本项目AI生成，非官方宣传图片。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路线来自已有原创方案与网页原型。这里为每条路线补充易理解的任务方向，帮助评审球星特色是否落实到比赛体验。正式设计需要进一步确定关卡条件、次数、难度、重复参与规则及产出。当前原型选择路线不会自动加载不同足球比赛，比赛部分采用简化结果结算，不可表述为全部玩法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项目早期网页原型，仅截取手机活动画面用于展示。当前还提供独立的单文件离线版。演示中的训练和比赛采用简化交互，不代表完整足球引擎或游戏客户端实现。禁区猎手未单独接入，完整六周内容也尚未制作。</a:t>
            </a:r>
          </a:p>
          <a:p xmlns:a="http://schemas.openxmlformats.org/drawingml/2006/main">
            <a:r>
              <a:t>截图：D:/codex/RH/haaland-season/preview-overview.jpg</a:t>
            </a:r>
          </a:p>
          <a:p xmlns:a="http://schemas.openxmlformats.org/drawingml/2006/main">
            <a:r>
              <a:t>离线演示：D:/codex/RH/haaland-offline/开始演示-手机预览版.html</a:t>
            </a:r>
          </a:p>
          <a:p xmlns:a="http://schemas.openxmlformats.org/drawingml/2006/main">
            <a:r>
              <a:t>在线参考：https://haaland-season-lab-oct14.apt-toast-4281.chatgpt.site ，当前有访问权限限制，不作为对外提交的唯一入口。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整期设计需要独立内容清单，包括训练关卡、周赛场次、路线任务链、奖励节点和日常任务配置。重复日常的次数不等同于新增内容数量。6周指活动运行长度，项目工期另含设计准备、制作接入与复盘。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此页说明活动运行节奏。项目工期还包括前期设计、开发与美术接入和复盘，不能用六周代替项目总工期。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拟承担活动内容设计，从主题提案到完整制作材料，并配合接入与修订。规则和数值必须对齐FC团队经济约束，系统功能和版本发布由FC团队决定。当前不是交付完成声明，也不承诺未经人员产能核实的范围。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同时评估交付完整性和线上体验。参与、达成与资源分布等指标需要先确认口径和历史参照，不能把所有波动归因于设计合作。未经真实基线与对照，不承诺留存或收入提升百分比。具体效果评估可以在试点简报中约定，无需在初次pitch中铺陈全部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请求与FC团队活动策划、产品和开发负责人对齐试点主题、可用活动系统及奖励限制。随后才能给出具体内容清单、排期和报价。团队履历、配置和实际产能必须补充真实资料，当前原型不能代替履约证明。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此索引仅覆盖本次引用样本。页面中的官方截图和机制图均保留原比例，不以AI图替代。哈兰德视觉为本项目AI生成概念图，网页原型为原创样板。公开资料不包含内部运营数据，也不构成全量历史活动审计。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63df7979149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6defd13f646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881eec98148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be8eeecd4e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155ee525b41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abfaa571a46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aa87a1a0942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391C39-0C6E-4B18-B83C-B985ACE20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9A1A7D-AC72-4CA1-AA1B-F95DA8CE9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BFDA8C-A76F-4742-BD28-A74347416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E828C-D7C9-4E2B-845D-1EB10334C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D99E42-036C-48FC-AF1C-BD6EB6C37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1846A4-A98E-452A-8B35-9EFB41DD4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13967-202F-4E80-9D09-4995DFA85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8118B7-F03D-47ED-BAE5-1FBB02BF8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E6FA9C-1596-449F-975C-C39BDBECA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127D4-DA65-468A-984F-96FE3413C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FC season propos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a5d15f1b24fc3" /><Relationship Type="http://schemas.openxmlformats.org/officeDocument/2006/relationships/slideLayout" Target="/ppt/slideLayouts/slideLayout1.xml" Id="R8a600947d0c34171" /><Relationship Type="http://schemas.openxmlformats.org/officeDocument/2006/relationships/slideLayout" Target="/ppt/slideLayouts/slideLayout2.xml" Id="R8e4579c030f94e9c" /><Relationship Type="http://schemas.openxmlformats.org/officeDocument/2006/relationships/slideLayout" Target="/ppt/slideLayouts/slideLayout3.xml" Id="R1d6bdb9999cf4bc3" /><Relationship Type="http://schemas.openxmlformats.org/officeDocument/2006/relationships/slideLayout" Target="/ppt/slideLayouts/slideLayout4.xml" Id="Raa072b6e0c684b21" /><Relationship Type="http://schemas.openxmlformats.org/officeDocument/2006/relationships/slideLayout" Target="/ppt/slideLayouts/slideLayout5.xml" Id="R2f9780ff1d99462a" /><Relationship Type="http://schemas.openxmlformats.org/officeDocument/2006/relationships/slideLayout" Target="/ppt/slideLayouts/slideLayout6.xml" Id="Rcdc10de813444912" /><Relationship Type="http://schemas.openxmlformats.org/officeDocument/2006/relationships/slideLayout" Target="/ppt/slideLayouts/slideLayout7.xml" Id="Rbc6a5c0c3301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600947d0c34171"/>
    <p:sldLayoutId xmlns:r="http://schemas.openxmlformats.org/officeDocument/2006/relationships" id="2147483650" r:id="R8e4579c030f94e9c"/>
    <p:sldLayoutId xmlns:r="http://schemas.openxmlformats.org/officeDocument/2006/relationships" id="2147483651" r:id="R1d6bdb9999cf4bc3"/>
    <p:sldLayoutId xmlns:r="http://schemas.openxmlformats.org/officeDocument/2006/relationships" id="2147483652" r:id="Raa072b6e0c684b21"/>
    <p:sldLayoutId xmlns:r="http://schemas.openxmlformats.org/officeDocument/2006/relationships" id="2147483653" r:id="R2f9780ff1d99462a"/>
    <p:sldLayoutId xmlns:r="http://schemas.openxmlformats.org/officeDocument/2006/relationships" id="2147483654" r:id="Rcdc10de813444912"/>
    <p:sldLayoutId xmlns:r="http://schemas.openxmlformats.org/officeDocument/2006/relationships" id="2147483655" r:id="Rbc6a5c0c3301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cb81ea41d745a9" /><Relationship Type="http://schemas.openxmlformats.org/officeDocument/2006/relationships/image" Target="/ppt/media/image.png" Id="Rf58ed1e768d94da5" /><Relationship Type="http://schemas.openxmlformats.org/officeDocument/2006/relationships/notesSlide" Target="/ppt/notesSlides/notesSlide1.xml" Id="R74a4eb60e77c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153a80e4a43be" /><Relationship Type="http://schemas.openxmlformats.org/officeDocument/2006/relationships/image" Target="/ppt/media/image.jpeg" Id="R0060aa4c9b4c4473" /><Relationship Type="http://schemas.openxmlformats.org/officeDocument/2006/relationships/image" Target="/ppt/media/image2.jpeg" Id="R84c7eb95f0ff4e6f" /><Relationship Type="http://schemas.openxmlformats.org/officeDocument/2006/relationships/notesSlide" Target="/ppt/notesSlides/notesSlide2.xml" Id="R121005f36804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c0ac71d264a76" /><Relationship Type="http://schemas.openxmlformats.org/officeDocument/2006/relationships/notesSlide" Target="/ppt/notesSlides/notesSlide3.xml" Id="R4e64170b1c83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ee15cc6374a8f" /><Relationship Type="http://schemas.openxmlformats.org/officeDocument/2006/relationships/image" Target="/ppt/media/image2.png" Id="R721f3d8d4b4f4b5f" /><Relationship Type="http://schemas.openxmlformats.org/officeDocument/2006/relationships/notesSlide" Target="/ppt/notesSlides/notesSlide4.xml" Id="R764007cca4bf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bfa03107548fe" /><Relationship Type="http://schemas.openxmlformats.org/officeDocument/2006/relationships/notesSlide" Target="/ppt/notesSlides/notesSlide5.xml" Id="R0d52e8debde1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d5f93bca2c4099" /><Relationship Type="http://schemas.openxmlformats.org/officeDocument/2006/relationships/image" Target="/ppt/media/image3.jpeg" Id="Rf91422c6e893475f" /><Relationship Type="http://schemas.openxmlformats.org/officeDocument/2006/relationships/notesSlide" Target="/ppt/notesSlides/notesSlide6.xml" Id="R40fc4e4313f145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021eb424e4ea9" /><Relationship Type="http://schemas.openxmlformats.org/officeDocument/2006/relationships/notesSlide" Target="/ppt/notesSlides/notesSlide7.xml" Id="Ra60bc57ff450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843a7f3434679" /><Relationship Type="http://schemas.openxmlformats.org/officeDocument/2006/relationships/notesSlide" Target="/ppt/notesSlides/notesSlide8.xml" Id="R9c6201eb26114d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aef220ed342d9" /><Relationship Type="http://schemas.openxmlformats.org/officeDocument/2006/relationships/notesSlide" Target="/ppt/notesSlides/notesSlide9.xml" Id="R88ac617196bc4f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d9ba5fcab434d" /><Relationship Type="http://schemas.openxmlformats.org/officeDocument/2006/relationships/notesSlide" Target="/ppt/notesSlides/notesSlide10.xml" Id="Re1501be815ef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5530575964ace" /><Relationship Type="http://schemas.openxmlformats.org/officeDocument/2006/relationships/notesSlide" Target="/ppt/notesSlides/notesSlide11.xml" Id="Rb9075d54829648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bbf06226e74b65" /><Relationship Type="http://schemas.openxmlformats.org/officeDocument/2006/relationships/notesSlide" Target="/ppt/notesSlides/notesSlide12.xml" Id="R4ebebc6ae32f45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855b1183241f7" /><Relationship Type="http://schemas.openxmlformats.org/officeDocument/2006/relationships/notesSlide" Target="/ppt/notesSlides/notesSlide13.xml" Id="R1fc8094737e6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2999B-6504-4E8B-B5BB-7FA43FC45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ed1e768d94d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9218340-1129-4F5E-B378-9B7CB71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031C9A-61D5-4AA6-A4D0-93F95D1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EF8AE3-96B6-4C95-B42F-FE691FA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从哈兰德主题开始，合作完成一期赛季活动</a:t>
            </a:r>
          </a:p>
        </p:txBody>
      </p:sp>
      <p:sp>
        <p:nvSpPr>
          <p:cNvPr id="5" name="discussion-label">
            <a:extLst xmlns:a="http://schemas.openxmlformats.org/drawingml/2006/main">
              <a:ext uri="{FF2B5EF4-FFF2-40B4-BE49-F238E27FC236}">
                <a16:creationId xmlns:a16="http://schemas.microsoft.com/office/drawing/2014/main" id="{A146037F-71A1-4C1B-9DAE-3E22CF3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</a:p>
        </p:txBody>
      </p:sp>
    </p:spTree>
    <p:extLst>
      <p:ext uri="{BB962C8B-B14F-4D97-AF65-F5344CB8AC3E}">
        <p14:creationId xmlns:p14="http://schemas.microsoft.com/office/powerpoint/2010/main" val="319772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ECB33A-5B97-4043-AB70-605C905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我们研究了 FC 已有的活动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473F711-D134-401B-AEBF-EBF19076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年度最佳和欧冠荣耀，展示了两种不同的参与体验。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285067-1C8F-48A6-9320-89755A2F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F1BBD-1D19-44BE-A077-2300C405B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0aa4c9b4c4473"/>
          <a:stretch xmlns:a="http://schemas.openxmlformats.org/drawingml/2006/main"/>
        </p:blipFill>
        <p:spPr>
          <a:xfrm xmlns:a="http://schemas.openxmlformats.org/drawingml/2006/main">
            <a:off x="685800" y="2039030"/>
            <a:ext cx="5238750" cy="237988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AB314-6F49-457F-A6B0-9864483A1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7eb95f0ff4e6f"/>
          <a:stretch xmlns:a="http://schemas.openxmlformats.org/drawingml/2006/main"/>
        </p:blipFill>
        <p:spPr>
          <a:xfrm xmlns:a="http://schemas.openxmlformats.org/drawingml/2006/main">
            <a:off x="6267450" y="2055107"/>
            <a:ext cx="5238750" cy="2347736"/>
          </a:xfrm>
          <a:prstGeom xmlns:a="http://schemas.openxmlformats.org/drawingml/2006/main" prst="rect">
            <a:avLst/>
          </a:prstGeom>
        </p:spPr>
      </p:pic>
      <p:sp>
        <p:nvSpPr>
          <p:cNvPr id="6" name="example-a">
            <a:extLst xmlns:a="http://schemas.openxmlformats.org/drawingml/2006/main">
              <a:ext uri="{FF2B5EF4-FFF2-40B4-BE49-F238E27FC236}">
                <a16:creationId xmlns:a16="http://schemas.microsoft.com/office/drawing/2014/main" id="{59B21A10-E57A-40D2-A58A-09D895C2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</a:p>
        </p:txBody>
      </p:sp>
      <p:sp>
        <p:nvSpPr>
          <p:cNvPr id="7" name="example-a-body">
            <a:extLst xmlns:a="http://schemas.openxmlformats.org/drawingml/2006/main">
              <a:ext uri="{FF2B5EF4-FFF2-40B4-BE49-F238E27FC236}">
                <a16:creationId xmlns:a16="http://schemas.microsoft.com/office/drawing/2014/main" id="{552127A9-8CB7-4155-AEBB-4DACD6FA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每天积累代币，沿奖励路径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解锁拼图与球员交换。</a:t>
            </a:r>
          </a:p>
        </p:txBody>
      </p:sp>
      <p:sp>
        <p:nvSpPr>
          <p:cNvPr id="8" name="example-d">
            <a:extLst xmlns:a="http://schemas.openxmlformats.org/drawingml/2006/main">
              <a:ext uri="{FF2B5EF4-FFF2-40B4-BE49-F238E27FC236}">
                <a16:creationId xmlns:a16="http://schemas.microsoft.com/office/drawing/2014/main" id="{B666DBC4-1E80-45D9-976F-D70423C2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</a:p>
        </p:txBody>
      </p:sp>
      <p:sp>
        <p:nvSpPr>
          <p:cNvPr id="9" name="example-d-body">
            <a:extLst xmlns:a="http://schemas.openxmlformats.org/drawingml/2006/main">
              <a:ext uri="{FF2B5EF4-FFF2-40B4-BE49-F238E27FC236}">
                <a16:creationId xmlns:a16="http://schemas.microsoft.com/office/drawing/2014/main" id="{186DE29C-B743-4FB3-92A8-C15177B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重踢经典决赛，赢得球员，</a:t>
            </a:r>
          </a:p>
          <a:p xmlns:a="http://schemas.openxmlformats.org/drawingml/2006/main">
            <a: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解锁特价交换。</a:t>
            </a:r>
          </a:p>
        </p:txBody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5BADD25-676C-4A85-92E2-2387D2A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官方界面及规则：EA SPORTS 2025.01.26 [A]、FC足球世界 2026.04.15 [D]。</a:t>
            </a:r>
          </a:p>
        </p:txBody>
      </p:sp>
    </p:spTree>
    <p:extLst>
      <p:ext uri="{BB962C8B-B14F-4D97-AF65-F5344CB8AC3E}">
        <p14:creationId xmlns:p14="http://schemas.microsoft.com/office/powerpoint/2010/main" val="1523479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6E20B8-C338-4898-A7EB-0791E93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玩家熟悉的活动节奏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133E9A3-5D1D-4FF7-9E86-EDBA72C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主题可以变化，参与、推进和领奖需要让玩家看得明白。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6E51A0-ADC1-43E0-8C3E-03523DC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25F06BF-8023-4049-B199-3A07094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7CBCE0A4-1859-45DD-9267-2F9D328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被主题吸引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B8E5317E-AE83-4181-8094-43DC543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球星、荣誉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或现实赛事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17F44CE-3260-47F2-A37B-7643280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A7D462D-9920-49B3-8757-2541FF0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每天参与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F04743F-BD5B-44EB-BA5E-69381DF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比赛与任务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获得活动资源</a:t>
            </a:r>
          </a:p>
        </p:txBody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6473D52-3920-4924-A67E-78AF7311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DC649A31-8A1A-4E49-8693-C5CE803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看见进度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B3CC411-EDA0-4AF9-B451-7401087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路径、拼图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或累计挑战</a:t>
            </a:r>
          </a:p>
        </p:txBody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BFA9ED3-D4AE-4A85-9EC4-8F4F8E6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99479C2-B728-4468-8AE7-235B7FE5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拿到球员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A4FD8F2-77E2-42D4-94D4-C485E94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领取奖励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兑换或交换</a:t>
            </a:r>
          </a:p>
        </p:txBody>
      </p:sp>
      <p:sp>
        <p:nvSpPr>
          <p:cNvPr id="1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2CF3FDAF-CBAD-40A1-BC01-D8B15E4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3D9920F-1BCD-47E3-AD2D-9D85679D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补强球队</a:t>
            </a:r>
          </a:p>
        </p:txBody>
      </p:sp>
      <p:sp>
        <p:nvSpPr>
          <p:cNvPr id="18" name="step-body-4">
            <a:extLst xmlns:a="http://schemas.openxmlformats.org/drawingml/2006/main">
              <a:ext uri="{FF2B5EF4-FFF2-40B4-BE49-F238E27FC236}">
                <a16:creationId xmlns:a16="http://schemas.microsoft.com/office/drawing/2014/main" id="{AE01946B-BF31-4488-A78B-FD04BF4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阵容成长</a:t>
            </a:r>
          </a:p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与球员收集</a:t>
            </a:r>
          </a:p>
        </p:txBody>
      </p:sp>
      <p:sp>
        <p:nvSpPr>
          <p:cNvPr id="19" name="design-position">
            <a:extLst xmlns:a="http://schemas.openxmlformats.org/drawingml/2006/main">
              <a:ext uri="{FF2B5EF4-FFF2-40B4-BE49-F238E27FC236}">
                <a16:creationId xmlns:a16="http://schemas.microsoft.com/office/drawing/2014/main" id="{8E17901C-1F76-482D-A066-C576C6C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我们的设计重点：让每期主题带来值得参与的比赛和阶段目标。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A9EF4EC-4388-4E37-8F87-321CCD3F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基于公开样本的归纳。各模块可以并行，具体玩法和顺序随活动变化。</a:t>
            </a:r>
          </a:p>
        </p:txBody>
      </p:sp>
    </p:spTree>
    <p:extLst>
      <p:ext uri="{BB962C8B-B14F-4D97-AF65-F5344CB8AC3E}">
        <p14:creationId xmlns:p14="http://schemas.microsoft.com/office/powerpoint/2010/main" val="357849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0A0A3-D902-4332-A319-858875C44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f3d8d4b4f4b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05C39DD8-E164-4A91-8113-EC773BB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原创赛季提案</a:t>
            </a:r>
          </a:p>
        </p:txBody>
      </p:sp>
      <p:sp>
        <p:nvSpPr>
          <p:cNvPr id="3" name="case-title">
            <a:extLst xmlns:a="http://schemas.openxmlformats.org/drawingml/2006/main">
              <a:ext uri="{FF2B5EF4-FFF2-40B4-BE49-F238E27FC236}">
                <a16:creationId xmlns:a16="http://schemas.microsoft.com/office/drawing/2014/main" id="{3F12693E-50AB-43BF-A44E-A4AAD01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哈兰德的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锋线征程</a:t>
            </a:r>
          </a:p>
        </p:txBody>
      </p:sp>
      <p:sp>
        <p:nvSpPr>
          <p:cNvPr id="4" name="case-promise">
            <a:extLst xmlns:a="http://schemas.openxmlformats.org/drawingml/2006/main">
              <a:ext uri="{FF2B5EF4-FFF2-40B4-BE49-F238E27FC236}">
                <a16:creationId xmlns:a16="http://schemas.microsoft.com/office/drawing/2014/main" id="{A8C067EF-793B-45DE-9842-3C5936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跟随一名中锋，从训练走到冠军决战。</a:t>
            </a:r>
          </a:p>
        </p:txBody>
      </p:sp>
      <p:sp>
        <p:nvSpPr>
          <p:cNvPr id="5" name="case-chapters">
            <a:extLst xmlns:a="http://schemas.openxmlformats.org/drawingml/2006/main">
              <a:ext uri="{FF2B5EF4-FFF2-40B4-BE49-F238E27FC236}">
                <a16:creationId xmlns:a16="http://schemas.microsoft.com/office/drawing/2014/main" id="{FF3D09FB-8D04-4A51-AC44-3632E14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191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练习终结，寻找搭档。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在每周挑战中推进金靴征程，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最终赢得赛季版哈兰德。</a:t>
            </a:r>
          </a:p>
        </p:txBody>
      </p:sp>
      <p:sp>
        <p:nvSpPr>
          <p:cNvPr id="6" name="case-caveat">
            <a:extLst xmlns:a="http://schemas.openxmlformats.org/drawingml/2006/main">
              <a:ext uri="{FF2B5EF4-FFF2-40B4-BE49-F238E27FC236}">
                <a16:creationId xmlns:a16="http://schemas.microsoft.com/office/drawing/2014/main" id="{B03B8F15-C49D-49D0-AE76-9FF32B4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原创概念，按六周活动设想。主题视觉为AI生成。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85A922-5264-48A5-9B39-99C5DEB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3667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56DD5-CCA4-4CCB-9024-8DB3143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最佳搭档：怎样为哈兰德创造机会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EE13085-C12A-4DEF-98BA-B01A61D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玩家选择进攻路线，完成对应的主题任务。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3D4F1B-D17D-432D-A72A-2D1E1D9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route-title-0">
            <a:extLst xmlns:a="http://schemas.openxmlformats.org/drawingml/2006/main">
              <a:ext uri="{FF2B5EF4-FFF2-40B4-BE49-F238E27FC236}">
                <a16:creationId xmlns:a16="http://schemas.microsoft.com/office/drawing/2014/main" id="{282352EE-A741-4F09-A94B-A697AFB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地面直塞</a:t>
            </a:r>
          </a:p>
        </p:txBody>
      </p:sp>
      <p:sp>
        <p:nvSpPr>
          <p:cNvPr id="5" name="route-task-0">
            <a:extLst xmlns:a="http://schemas.openxmlformats.org/drawingml/2006/main">
              <a:ext uri="{FF2B5EF4-FFF2-40B4-BE49-F238E27FC236}">
                <a16:creationId xmlns:a16="http://schemas.microsoft.com/office/drawing/2014/main" id="{96774985-5226-4C10-8526-EEDEB5A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接应队友的穿透传球，</a:t>
            </a:r>
          </a:p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完成单刀破门。</a:t>
            </a:r>
          </a:p>
        </p:txBody>
      </p:sp>
      <p:sp>
        <p:nvSpPr>
          <p:cNvPr id="6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13B91A31-47AB-41E2-A287-4B09798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边路传中</a:t>
            </a:r>
          </a:p>
        </p:txBody>
      </p:sp>
      <p:sp>
        <p:nvSpPr>
          <p:cNvPr id="7" name="route-task-1">
            <a:extLst xmlns:a="http://schemas.openxmlformats.org/drawingml/2006/main">
              <a:ext uri="{FF2B5EF4-FFF2-40B4-BE49-F238E27FC236}">
                <a16:creationId xmlns:a16="http://schemas.microsoft.com/office/drawing/2014/main" id="{5FAB24BC-93E0-461F-AA00-10DDA0B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从边路创造机会，</a:t>
            </a:r>
          </a:p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在禁区完成抢点。</a:t>
            </a:r>
          </a:p>
        </p:txBody>
      </p:sp>
      <p:sp>
        <p:nvSpPr>
          <p:cNvPr id="8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A3958FAC-4F44-4C24-B68B-F270E9D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前场压迫</a:t>
            </a:r>
          </a:p>
        </p:txBody>
      </p:sp>
      <p:sp>
        <p:nvSpPr>
          <p:cNvPr id="9" name="route-task-2">
            <a:extLst xmlns:a="http://schemas.openxmlformats.org/drawingml/2006/main">
              <a:ext uri="{FF2B5EF4-FFF2-40B4-BE49-F238E27FC236}">
                <a16:creationId xmlns:a16="http://schemas.microsoft.com/office/drawing/2014/main" id="{1AAFDE6A-2B1C-419B-BF85-CEA337E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夺回球权，</a:t>
            </a:r>
          </a:p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在对方重组防线前射门。</a:t>
            </a:r>
          </a:p>
        </p:txBody>
      </p:sp>
      <p:sp>
        <p:nvSpPr>
          <p:cNvPr id="10" name="reward-link">
            <a:extLst xmlns:a="http://schemas.openxmlformats.org/drawingml/2006/main">
              <a:ext uri="{FF2B5EF4-FFF2-40B4-BE49-F238E27FC236}">
                <a16:creationId xmlns:a16="http://schemas.microsoft.com/office/drawing/2014/main" id="{C0D1C211-D579-47A1-9C4C-18B47167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比赛所得推动金靴征程，逐步解锁球员奖励。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A6C1146-E230-4A9F-AE31-9554434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玩法提案。当前网页原型展示路线选择与奖励结算，具体比赛任务仍需制作。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739698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2CAE9-6FAA-43F1-A78E-38481DC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核心流程已有可试玩样板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64DC0CF-B476-498B-A782-5F432A7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可以现场走一遍训练、路线选择和领奖。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97A515-0AC3-485E-8AA5-845B0BED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40B79-32AA-432C-A101-1E6D0099C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422c6e893475f"/>
          <a:srcRect xmlns:a="http://schemas.openxmlformats.org/drawingml/2006/main" l="3600" t="20100" r="2600" b="28700"/>
          <a:stretch xmlns:a="http://schemas.openxmlformats.org/drawingml/2006/main"/>
        </p:blipFill>
        <p:spPr>
          <a:xfrm xmlns:a="http://schemas.openxmlformats.org/drawingml/2006/main">
            <a:off x="685800" y="1905000"/>
            <a:ext cx="108204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prototype-caveat">
            <a:extLst xmlns:a="http://schemas.openxmlformats.org/drawingml/2006/main">
              <a:ext uri="{FF2B5EF4-FFF2-40B4-BE49-F238E27FC236}">
                <a16:creationId xmlns:a16="http://schemas.microsoft.com/office/drawing/2014/main" id="{BE22CC9F-00EC-4717-A0A7-7963512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离线原型为简化演示，完整比赛与六周内容仍需制作。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068409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F96101-B222-4B19-B8C7-085F9B9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六周活动，逐步走向冠军之夜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0CE7D10-3D77-4A09-9DB2-267E2AC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每个阶段都有新的比赛目标，最后留出完成奖励的时间。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3B6A57-10E2-4BC2-9094-722A978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calendar-message">
            <a:extLst xmlns:a="http://schemas.openxmlformats.org/drawingml/2006/main">
              <a:ext uri="{FF2B5EF4-FFF2-40B4-BE49-F238E27FC236}">
                <a16:creationId xmlns:a16="http://schemas.microsoft.com/office/drawing/2014/main" id="{84067D5A-2D47-40D8-A0BB-3950883A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从日常训练，</a:t>
            </a:r>
          </a:p>
          <a:p xmlns:a="http://schemas.openxmlformats.org/drawingml/2006/main">
            <a: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走到冠军决战。</a:t>
            </a:r>
          </a:p>
        </p:txBody>
      </p:sp>
      <p:sp>
        <p:nvSpPr>
          <p:cNvPr id="5" name="calendar-context">
            <a:extLst xmlns:a="http://schemas.openxmlformats.org/drawingml/2006/main">
              <a:ext uri="{FF2B5EF4-FFF2-40B4-BE49-F238E27FC236}">
                <a16:creationId xmlns:a16="http://schemas.microsoft.com/office/drawing/2014/main" id="{FC7F3325-D2E0-4FEA-A331-170A500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整期围绕同一名球星展开，</a:t>
            </a:r>
          </a:p>
          <a:p xmlns:a="http://schemas.openxmlformats.org/drawingml/2006/main">
            <a: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逐步增加配合与比赛挑战。</a:t>
            </a:r>
          </a:p>
        </p:txBody>
      </p:sp>
      <p:sp>
        <p:nvSpPr>
          <p:cNvPr id="6" name="week-0">
            <a:extLst xmlns:a="http://schemas.openxmlformats.org/drawingml/2006/main">
              <a:ext uri="{FF2B5EF4-FFF2-40B4-BE49-F238E27FC236}">
                <a16:creationId xmlns:a16="http://schemas.microsoft.com/office/drawing/2014/main" id="{F2997434-68A1-4361-A985-22EF82A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第1至2周</a:t>
            </a:r>
          </a:p>
        </p:txBody>
      </p:sp>
      <p:sp>
        <p:nvSpPr>
          <p:cNvPr id="7" name="week-goal-0">
            <a:extLst xmlns:a="http://schemas.openxmlformats.org/drawingml/2006/main">
              <a:ext uri="{FF2B5EF4-FFF2-40B4-BE49-F238E27FC236}">
                <a16:creationId xmlns:a16="http://schemas.microsoft.com/office/drawing/2014/main" id="{8BEA60C7-9CC4-43BE-BF17-BAA3E6A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练习终结，熟悉主题比赛</a:t>
            </a:r>
          </a:p>
        </p:txBody>
      </p:sp>
      <p:sp>
        <p:nvSpPr>
          <p:cNvPr id="8" name="week-1">
            <a:extLst xmlns:a="http://schemas.openxmlformats.org/drawingml/2006/main">
              <a:ext uri="{FF2B5EF4-FFF2-40B4-BE49-F238E27FC236}">
                <a16:creationId xmlns:a16="http://schemas.microsoft.com/office/drawing/2014/main" id="{24E657E9-17A1-4774-B87C-B514191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242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第3至4周</a:t>
            </a:r>
          </a:p>
        </p:txBody>
      </p:sp>
      <p:sp>
        <p:nvSpPr>
          <p:cNvPr id="9" name="week-goal-1">
            <a:extLst xmlns:a="http://schemas.openxmlformats.org/drawingml/2006/main">
              <a:ext uri="{FF2B5EF4-FFF2-40B4-BE49-F238E27FC236}">
                <a16:creationId xmlns:a16="http://schemas.microsoft.com/office/drawing/2014/main" id="{FE59F0DE-5216-412C-A594-B58830B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43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选择搭档，迎接进阶挑战</a:t>
            </a:r>
          </a:p>
        </p:txBody>
      </p:sp>
      <p:sp>
        <p:nvSpPr>
          <p:cNvPr id="10" name="week-2">
            <a:extLst xmlns:a="http://schemas.openxmlformats.org/drawingml/2006/main">
              <a:ext uri="{FF2B5EF4-FFF2-40B4-BE49-F238E27FC236}">
                <a16:creationId xmlns:a16="http://schemas.microsoft.com/office/drawing/2014/main" id="{50A4DA45-B752-4E66-9510-559FECC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5765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第5周</a:t>
            </a:r>
          </a:p>
        </p:txBody>
      </p:sp>
      <p:sp>
        <p:nvSpPr>
          <p:cNvPr id="11" name="week-goal-2">
            <a:extLst xmlns:a="http://schemas.openxmlformats.org/drawingml/2006/main">
              <a:ext uri="{FF2B5EF4-FFF2-40B4-BE49-F238E27FC236}">
                <a16:creationId xmlns:a16="http://schemas.microsoft.com/office/drawing/2014/main" id="{D4CB370A-2112-450A-B85F-4826475E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参加冠军之夜，冲击核心球员</a:t>
            </a:r>
          </a:p>
        </p:txBody>
      </p:sp>
      <p:sp>
        <p:nvSpPr>
          <p:cNvPr id="12" name="week-3">
            <a:extLst xmlns:a="http://schemas.openxmlformats.org/drawingml/2006/main">
              <a:ext uri="{FF2B5EF4-FFF2-40B4-BE49-F238E27FC236}">
                <a16:creationId xmlns:a16="http://schemas.microsoft.com/office/drawing/2014/main" id="{A58D4B4D-E284-404A-8077-3FDCDFF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911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第6周</a:t>
            </a:r>
          </a:p>
        </p:txBody>
      </p:sp>
      <p:sp>
        <p:nvSpPr>
          <p:cNvPr id="13" name="week-goal-3">
            <a:extLst xmlns:a="http://schemas.openxmlformats.org/drawingml/2006/main">
              <a:ext uri="{FF2B5EF4-FFF2-40B4-BE49-F238E27FC236}">
                <a16:creationId xmlns:a16="http://schemas.microsoft.com/office/drawing/2014/main" id="{C999FB65-BD17-4AB1-A0F6-A6667DF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完成剩余目标与收藏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ECF0FF1-FE45-4048-80BD-9A31417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六周为方案假设，开放时间与奖励进度需结合制作安排及投放确认。</a:t>
            </a:r>
          </a:p>
        </p:txBody>
      </p:sp>
    </p:spTree>
    <p:extLst>
      <p:ext uri="{BB962C8B-B14F-4D97-AF65-F5344CB8AC3E}">
        <p14:creationId xmlns:p14="http://schemas.microsoft.com/office/powerpoint/2010/main" val="1066929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E6EE0-A13C-4AF9-B3B3-D240F40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我们希望承担的工作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5E762B-5892-4D9B-BE35-A2066A9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cope-statement">
            <a:extLst xmlns:a="http://schemas.openxmlformats.org/drawingml/2006/main">
              <a:ext uri="{FF2B5EF4-FFF2-40B4-BE49-F238E27FC236}">
                <a16:creationId xmlns:a16="http://schemas.microsoft.com/office/drawing/2014/main" id="{F56D0E59-891B-4316-940F-97FEC8A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5143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把一个赛季主题，</a:t>
            </a:r>
          </a:p>
          <a:p xmlns:a="http://schemas.openxmlformats.org/drawingml/2006/main">
            <a: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做成完整的活动设计。</a:t>
            </a:r>
          </a:p>
        </p:txBody>
      </p:sp>
      <p:sp>
        <p:nvSpPr>
          <p:cNvPr id="4" name="scope-intro">
            <a:extLst xmlns:a="http://schemas.openxmlformats.org/drawingml/2006/main">
              <a:ext uri="{FF2B5EF4-FFF2-40B4-BE49-F238E27FC236}">
                <a16:creationId xmlns:a16="http://schemas.microsoft.com/office/drawing/2014/main" id="{2318C997-80EC-4CFE-B93B-8DFF9FDF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5048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交到制作团队手中时，</a:t>
            </a:r>
          </a:p>
          <a:p xmlns:a="http://schemas.openxmlformats.org/drawingml/2006/main">
            <a: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玩法和实现要求都足够清楚。</a:t>
            </a:r>
          </a:p>
        </p:txBody>
      </p:sp>
      <p:sp>
        <p:nvSpPr>
          <p:cNvPr id="5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A5CBDD3A-8CA4-48E7-9839-421800EE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玩法内容</a:t>
            </a:r>
          </a:p>
        </p:txBody>
      </p:sp>
      <p:sp>
        <p:nvSpPr>
          <p:cNvPr id="6" name="scope-desc-0">
            <a:extLst xmlns:a="http://schemas.openxmlformats.org/drawingml/2006/main">
              <a:ext uri="{FF2B5EF4-FFF2-40B4-BE49-F238E27FC236}">
                <a16:creationId xmlns:a16="http://schemas.microsoft.com/office/drawing/2014/main" id="{C142D78F-2DE2-4801-83B5-E270FE82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527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章节、关卡与每日任务</a:t>
            </a:r>
          </a:p>
        </p:txBody>
      </p:sp>
      <p:sp>
        <p:nvSpPr>
          <p:cNvPr id="7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939F06C0-C5DC-4C7F-9CDE-633EA17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5752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奖励设计</a:t>
            </a:r>
          </a:p>
        </p:txBody>
      </p:sp>
      <p:sp>
        <p:nvSpPr>
          <p:cNvPr id="8" name="scope-desc-1">
            <a:extLst xmlns:a="http://schemas.openxmlformats.org/drawingml/2006/main">
              <a:ext uri="{FF2B5EF4-FFF2-40B4-BE49-F238E27FC236}">
                <a16:creationId xmlns:a16="http://schemas.microsoft.com/office/drawing/2014/main" id="{0C8CCE33-6E2B-44FE-A1C0-73199C4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956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产出、消耗与球员获取进度</a:t>
            </a:r>
          </a:p>
        </p:txBody>
      </p:sp>
      <p:sp>
        <p:nvSpPr>
          <p:cNvPr id="9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88720747-4690-4807-83C4-98D590A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活动页面</a:t>
            </a:r>
          </a:p>
        </p:txBody>
      </p:sp>
      <p:sp>
        <p:nvSpPr>
          <p:cNvPr id="10" name="scope-desc-2">
            <a:extLst xmlns:a="http://schemas.openxmlformats.org/drawingml/2006/main">
              <a:ext uri="{FF2B5EF4-FFF2-40B4-BE49-F238E27FC236}">
                <a16:creationId xmlns:a16="http://schemas.microsoft.com/office/drawing/2014/main" id="{4F6FDF54-73DD-4CBF-99A6-748E04C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操作流程、原型与文案</a:t>
            </a:r>
          </a:p>
        </p:txBody>
      </p:sp>
      <p:sp>
        <p:nvSpPr>
          <p:cNvPr id="11" name="scope-title-3">
            <a:extLst xmlns:a="http://schemas.openxmlformats.org/drawingml/2006/main">
              <a:ext uri="{FF2B5EF4-FFF2-40B4-BE49-F238E27FC236}">
                <a16:creationId xmlns:a16="http://schemas.microsoft.com/office/drawing/2014/main" id="{FEDAC632-FF3B-4BAA-9B15-E6461D9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4347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更新安排</a:t>
            </a:r>
          </a:p>
        </p:txBody>
      </p:sp>
      <p:sp>
        <p:nvSpPr>
          <p:cNvPr id="12" name="scope-desc-3">
            <a:extLst xmlns:a="http://schemas.openxmlformats.org/drawingml/2006/main">
              <a:ext uri="{FF2B5EF4-FFF2-40B4-BE49-F238E27FC236}">
                <a16:creationId xmlns:a16="http://schemas.microsoft.com/office/drawing/2014/main" id="{16A4F5F9-7E9E-4AB0-BAA7-FD9EACAE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开放日历、素材与制作需求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4B99EED-F28C-4E0F-894E-8CB4451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FC团队确认球员投放、系统改动与上线安排。具体分工见附录。</a:t>
            </a:r>
          </a:p>
        </p:txBody>
      </p:sp>
    </p:spTree>
    <p:extLst>
      <p:ext uri="{BB962C8B-B14F-4D97-AF65-F5344CB8AC3E}">
        <p14:creationId xmlns:p14="http://schemas.microsoft.com/office/powerpoint/2010/main" val="758147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319697-2C84-47C4-A8CD-6CA58D4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先合作一期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E02F99D-9B99-4FC7-9E21-8B9E642A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用一次完整交付，确认设计方向和合作方式是否合适。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4B3E09-728B-4B41-A09A-81A81F2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design-check">
            <a:extLst xmlns:a="http://schemas.openxmlformats.org/drawingml/2006/main">
              <a:ext uri="{FF2B5EF4-FFF2-40B4-BE49-F238E27FC236}">
                <a16:creationId xmlns:a16="http://schemas.microsoft.com/office/drawing/2014/main" id="{0F4BF563-EEC6-403B-90D0-D5AF52D1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制作方能否照着做</a:t>
            </a:r>
          </a:p>
        </p:txBody>
      </p:sp>
      <p:sp>
        <p:nvSpPr>
          <p:cNvPr id="5" name="design-body">
            <a:extLst xmlns:a="http://schemas.openxmlformats.org/drawingml/2006/main">
              <a:ext uri="{FF2B5EF4-FFF2-40B4-BE49-F238E27FC236}">
                <a16:creationId xmlns:a16="http://schemas.microsoft.com/office/drawing/2014/main" id="{742CEE42-D781-4C83-8998-C1F921C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规则、配置和界面状态讲清楚</a:t>
            </a:r>
          </a:p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开发与美术的工作量提前确认</a:t>
            </a:r>
          </a:p>
        </p:txBody>
      </p:sp>
      <p:sp>
        <p:nvSpPr>
          <p:cNvPr id="6" name="play-check">
            <a:extLst xmlns:a="http://schemas.openxmlformats.org/drawingml/2006/main">
              <a:ext uri="{FF2B5EF4-FFF2-40B4-BE49-F238E27FC236}">
                <a16:creationId xmlns:a16="http://schemas.microsoft.com/office/drawing/2014/main" id="{5F2F9E50-5F78-4BD7-AE31-4B46131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玩家能否顺畅地玩</a:t>
            </a:r>
          </a:p>
        </p:txBody>
      </p:sp>
      <p:sp>
        <p:nvSpPr>
          <p:cNvPr id="7" name="play-body">
            <a:extLst xmlns:a="http://schemas.openxmlformats.org/drawingml/2006/main">
              <a:ext uri="{FF2B5EF4-FFF2-40B4-BE49-F238E27FC236}">
                <a16:creationId xmlns:a16="http://schemas.microsoft.com/office/drawing/2014/main" id="{A500B9E0-AB59-4FD4-B2A3-FB60B33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671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检查参与、领奖与目标达成情况</a:t>
            </a:r>
          </a:p>
          <a:p xmlns:a="http://schemas.openxmlformats.org/drawingml/2006/main">
            <a: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结合历史同类活动完成复盘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7C682CF-7F61-42F8-83BB-5A6CB4C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试点范围、排期与验收标准，双方在启动前约定。</a:t>
            </a:r>
          </a:p>
        </p:txBody>
      </p:sp>
    </p:spTree>
    <p:extLst>
      <p:ext uri="{BB962C8B-B14F-4D97-AF65-F5344CB8AC3E}">
        <p14:creationId xmlns:p14="http://schemas.microsoft.com/office/powerpoint/2010/main" val="1293373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AF699-3D97-4A31-88BD-34022ED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下一步：选定一个赛季主题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08B7D7-97F8-4339-9E70-326B317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395A7DA9-1FA5-4151-A086-647AEFC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6680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以哈兰德方案为起点，</a:t>
            </a:r>
          </a:p>
          <a:p xmlns:a="http://schemas.openxmlformats.org/drawingml/2006/main">
            <a:pPr algn="l"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一起确定首期合作范围。</a:t>
            </a:r>
          </a:p>
        </p:txBody>
      </p:sp>
      <p:sp>
        <p:nvSpPr>
          <p:cNvPr id="4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120C868B-AE48-4B00-8EC6-ED979CD2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确认可用系统与奖励边界后，</a:t>
            </a:r>
          </a:p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提交内容清单、排期和报价。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9F6CB4F-142F-4C9F-AECC-094732D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合作讨论稿。团队履历与人员配置需在正式提交前补齐。</a:t>
            </a:r>
          </a:p>
        </p:txBody>
      </p:sp>
    </p:spTree>
    <p:extLst>
      <p:ext uri="{BB962C8B-B14F-4D97-AF65-F5344CB8AC3E}">
        <p14:creationId xmlns:p14="http://schemas.microsoft.com/office/powerpoint/2010/main" val="1144421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A78A1-D2BE-4A02-8251-758083F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附录：四个活动的对照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D355722-488B-4FE3-9715-BA301A87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供需要进一步了解研究依据的读者查阅。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2E2317-0C4D-4AFD-90B7-C1140C5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05374-A0A0-4725-B818-DC3CD0B4EA48}"/>
              </a:ext>
            </a:extLst>
          </p:cNvPr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62100"/>
                <a:gridCol w="2314575"/>
                <a:gridCol w="2314575"/>
                <a:gridCol w="2314575"/>
                <a:gridCol w="2314575"/>
              </a:tblGrid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0EBF39-719C-47F0-AD83-6ED42C0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按公告可确认机制摘录。“未列出”不代表活动中不存在。来源：[A–D]</a:t>
            </a:r>
          </a:p>
        </p:txBody>
      </p:sp>
    </p:spTree>
    <p:extLst>
      <p:ext uri="{BB962C8B-B14F-4D97-AF65-F5344CB8AC3E}">
        <p14:creationId xmlns:p14="http://schemas.microsoft.com/office/powerpoint/2010/main" val="257415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67EB3-E53E-4423-8244-84E08A7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附录：合作分工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ABA7653-BA87-4702-B871-6174B9F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具体分工随首期项目范围确认。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05774-B422-4E94-A928-5B41C71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B5689-6D3F-4D16-A16F-67076A8649D3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419600"/>
                <a:gridCol w="4495800"/>
              </a:tblGrid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847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6EC5A3-A9EE-492B-A778-A57B78B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附录：资料来源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A400963-BEA4-45B4-8D09-BFE6A6D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官方事实与图片来源。原创提案和样本归纳在相关页面注明。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17BC9-9808-4E3A-AADB-23ED3BD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sp>
        <p:nvSpPr>
          <p:cNvPr id="4" name="ref-label-0">
            <a:extLst xmlns:a="http://schemas.openxmlformats.org/drawingml/2006/main">
              <a:ext uri="{FF2B5EF4-FFF2-40B4-BE49-F238E27FC236}">
                <a16:creationId xmlns:a16="http://schemas.microsoft.com/office/drawing/2014/main" id="{FD085AEC-3768-4691-9882-0E821F0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</a:p>
        </p:txBody>
      </p:sp>
      <p:sp>
        <p:nvSpPr>
          <p:cNvPr id="5" name="ref-date-0">
            <a:extLst xmlns:a="http://schemas.openxmlformats.org/drawingml/2006/main">
              <a:ext uri="{FF2B5EF4-FFF2-40B4-BE49-F238E27FC236}">
                <a16:creationId xmlns:a16="http://schemas.microsoft.com/office/drawing/2014/main" id="{B0AB8B82-8D56-42F5-8543-955AF4E9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</a:p>
        </p:txBody>
      </p:sp>
      <p:sp>
        <p:nvSpPr>
          <p:cNvPr id="6" name="ref-url-0">
            <a:extLst xmlns:a="http://schemas.openxmlformats.org/drawingml/2006/main">
              <a:ext uri="{FF2B5EF4-FFF2-40B4-BE49-F238E27FC236}">
                <a16:creationId xmlns:a16="http://schemas.microsoft.com/office/drawing/2014/main" id="{FFB681B1-61C3-406E-8628-BEAEEF7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</a:p>
        </p:txBody>
      </p:sp>
      <p:sp>
        <p:nvSpPr>
          <p:cNvPr id="7" name="ref-label-1">
            <a:extLst xmlns:a="http://schemas.openxmlformats.org/drawingml/2006/main">
              <a:ext uri="{FF2B5EF4-FFF2-40B4-BE49-F238E27FC236}">
                <a16:creationId xmlns:a16="http://schemas.microsoft.com/office/drawing/2014/main" id="{0BE7480C-0ECD-41D8-B90A-45E98BB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</a:p>
        </p:txBody>
      </p:sp>
      <p:sp>
        <p:nvSpPr>
          <p:cNvPr id="8" name="ref-date-1">
            <a:extLst xmlns:a="http://schemas.openxmlformats.org/drawingml/2006/main">
              <a:ext uri="{FF2B5EF4-FFF2-40B4-BE49-F238E27FC236}">
                <a16:creationId xmlns:a16="http://schemas.microsoft.com/office/drawing/2014/main" id="{049F47B9-9985-418B-A214-DF547609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</a:p>
        </p:txBody>
      </p:sp>
      <p:sp>
        <p:nvSpPr>
          <p:cNvPr id="9" name="ref-url-1">
            <a:extLst xmlns:a="http://schemas.openxmlformats.org/drawingml/2006/main">
              <a:ext uri="{FF2B5EF4-FFF2-40B4-BE49-F238E27FC236}">
                <a16:creationId xmlns:a16="http://schemas.microsoft.com/office/drawing/2014/main" id="{FB72A80F-3E94-423F-94DA-D40E41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</a:p>
        </p:txBody>
      </p:sp>
      <p:sp>
        <p:nvSpPr>
          <p:cNvPr id="10" name="ref-label-2">
            <a:extLst xmlns:a="http://schemas.openxmlformats.org/drawingml/2006/main">
              <a:ext uri="{FF2B5EF4-FFF2-40B4-BE49-F238E27FC236}">
                <a16:creationId xmlns:a16="http://schemas.microsoft.com/office/drawing/2014/main" id="{E0075DE1-E622-4FE1-9A30-F30093A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</a:p>
        </p:txBody>
      </p:sp>
      <p:sp>
        <p:nvSpPr>
          <p:cNvPr id="11" name="ref-date-2">
            <a:extLst xmlns:a="http://schemas.openxmlformats.org/drawingml/2006/main">
              <a:ext uri="{FF2B5EF4-FFF2-40B4-BE49-F238E27FC236}">
                <a16:creationId xmlns:a16="http://schemas.microsoft.com/office/drawing/2014/main" id="{586F9BC5-7DB5-4658-9482-608DBDC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</a:p>
        </p:txBody>
      </p:sp>
      <p:sp>
        <p:nvSpPr>
          <p:cNvPr id="12" name="ref-url-2">
            <a:extLst xmlns:a="http://schemas.openxmlformats.org/drawingml/2006/main">
              <a:ext uri="{FF2B5EF4-FFF2-40B4-BE49-F238E27FC236}">
                <a16:creationId xmlns:a16="http://schemas.microsoft.com/office/drawing/2014/main" id="{437DA156-1DC6-47D4-9DB8-ECB8BE1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</a:p>
        </p:txBody>
      </p:sp>
      <p:sp>
        <p:nvSpPr>
          <p:cNvPr id="13" name="ref-label-3">
            <a:extLst xmlns:a="http://schemas.openxmlformats.org/drawingml/2006/main">
              <a:ext uri="{FF2B5EF4-FFF2-40B4-BE49-F238E27FC236}">
                <a16:creationId xmlns:a16="http://schemas.microsoft.com/office/drawing/2014/main" id="{9EE49B29-0B97-440D-9AFC-72F5576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</a:p>
        </p:txBody>
      </p:sp>
      <p:sp>
        <p:nvSpPr>
          <p:cNvPr id="14" name="ref-date-3">
            <a:extLst xmlns:a="http://schemas.openxmlformats.org/drawingml/2006/main">
              <a:ext uri="{FF2B5EF4-FFF2-40B4-BE49-F238E27FC236}">
                <a16:creationId xmlns:a16="http://schemas.microsoft.com/office/drawing/2014/main" id="{DCC64767-8473-4DBE-AE63-53D0E59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</a:p>
        </p:txBody>
      </p:sp>
      <p:sp>
        <p:nvSpPr>
          <p:cNvPr id="15" name="ref-url-3">
            <a:extLst xmlns:a="http://schemas.openxmlformats.org/drawingml/2006/main">
              <a:ext uri="{FF2B5EF4-FFF2-40B4-BE49-F238E27FC236}">
                <a16:creationId xmlns:a16="http://schemas.microsoft.com/office/drawing/2014/main" id="{24527903-4604-466D-9843-50F7AC4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C43F090-4388-406B-91DF-AFB9C21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资料核对：2026.10.15。详细出处与图片来源亦记录在相关页面备注中。</a:t>
            </a:r>
          </a:p>
        </p:txBody>
      </p:sp>
    </p:spTree>
    <p:extLst>
      <p:ext uri="{BB962C8B-B14F-4D97-AF65-F5344CB8AC3E}">
        <p14:creationId xmlns:p14="http://schemas.microsoft.com/office/powerpoint/2010/main" val="54933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2026-10-15T15:14:43.9250000Z</dcterms:created>
  <dcterms:modified xsi:type="dcterms:W3CDTF">2026-10-15T15:14:43.9250000Z</dcterms:modified>
</coreProperties>
</file>