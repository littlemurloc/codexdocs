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cad52de47145e2" /><Relationship Type="http://schemas.openxmlformats.org/officeDocument/2006/relationships/extended-properties" Target="/docProps/app.xml" Id="R4e3c91b5d8fa418e" /><Relationship Type="http://schemas.openxmlformats.org/officeDocument/2006/relationships/officeDocument" Target="/ppt/presentation.xml" Id="Rf6b9a0ece9c94f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8fa921d56d40f4"/>
  </p:sldMasterIdLst>
  <p:notesMasterIdLst>
    <p:notesMasterId xmlns:r="http://schemas.openxmlformats.org/officeDocument/2006/relationships" r:id="R2e1f16a349454a09"/>
  </p:notesMasterIdLst>
  <p:sldIdLst>
    <p:sldId xmlns:r="http://schemas.openxmlformats.org/officeDocument/2006/relationships" id="256" r:id="Re854be0aabbd4a4c"/>
    <p:sldId xmlns:r="http://schemas.openxmlformats.org/officeDocument/2006/relationships" id="257" r:id="R2bc2decc303d4ada"/>
    <p:sldId xmlns:r="http://schemas.openxmlformats.org/officeDocument/2006/relationships" id="258" r:id="R7065c0bfed044a4c"/>
    <p:sldId xmlns:r="http://schemas.openxmlformats.org/officeDocument/2006/relationships" id="259" r:id="Re47bf7b8514d486e"/>
    <p:sldId xmlns:r="http://schemas.openxmlformats.org/officeDocument/2006/relationships" id="260" r:id="Rcbb3d18f752e449f"/>
    <p:sldId xmlns:r="http://schemas.openxmlformats.org/officeDocument/2006/relationships" id="261" r:id="R07b46519834540e1"/>
    <p:sldId xmlns:r="http://schemas.openxmlformats.org/officeDocument/2006/relationships" id="262" r:id="R2d0965422efe450a"/>
    <p:sldId xmlns:r="http://schemas.openxmlformats.org/officeDocument/2006/relationships" id="263" r:id="R7453b62d0d074e2f"/>
    <p:sldId xmlns:r="http://schemas.openxmlformats.org/officeDocument/2006/relationships" id="264" r:id="R5f870567c8134f0c"/>
    <p:sldId xmlns:r="http://schemas.openxmlformats.org/officeDocument/2006/relationships" id="265" r:id="Rd4f7f148bb68406e"/>
    <p:sldId xmlns:r="http://schemas.openxmlformats.org/officeDocument/2006/relationships" id="266" r:id="Rd30c8ef121d14aca"/>
    <p:sldId xmlns:r="http://schemas.openxmlformats.org/officeDocument/2006/relationships" id="267" r:id="R42b8a77117fb4163"/>
    <p:sldId xmlns:r="http://schemas.openxmlformats.org/officeDocument/2006/relationships" id="268" r:id="R79a17190702445ab"/>
    <p:sldId xmlns:r="http://schemas.openxmlformats.org/officeDocument/2006/relationships" id="269" r:id="R723fbb07de0e4fc6"/>
    <p:sldId xmlns:r="http://schemas.openxmlformats.org/officeDocument/2006/relationships" id="270" r:id="R534977e06d034847"/>
    <p:sldId xmlns:r="http://schemas.openxmlformats.org/officeDocument/2006/relationships" id="271" r:id="R07eaecc90ff94f19"/>
    <p:sldId xmlns:r="http://schemas.openxmlformats.org/officeDocument/2006/relationships" id="272" r:id="R98166751122541f0"/>
    <p:sldId xmlns:r="http://schemas.openxmlformats.org/officeDocument/2006/relationships" id="273" r:id="R66b201d8e53f493e"/>
    <p:sldId xmlns:r="http://schemas.openxmlformats.org/officeDocument/2006/relationships" id="274" r:id="Rb21e0e1224164a95"/>
    <p:sldId xmlns:r="http://schemas.openxmlformats.org/officeDocument/2006/relationships" id="275" r:id="R1594f876a3844c4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0ac2dac9724e37" /><Relationship Type="http://schemas.openxmlformats.org/officeDocument/2006/relationships/slideMaster" Target="/ppt/slideMasters/slideMaster1.xml" Id="R748fa921d56d40f4" /><Relationship Type="http://schemas.openxmlformats.org/officeDocument/2006/relationships/notesMaster" Target="/ppt/notesMasters/notesMaster1.xml" Id="R2e1f16a349454a09" /><Relationship Type="http://schemas.openxmlformats.org/officeDocument/2006/relationships/presProps" Target="/ppt/presProps.xml" Id="R26996273e6154b79" /><Relationship Type="http://schemas.openxmlformats.org/officeDocument/2006/relationships/tableStyles" Target="/ppt/tableStyles.xml" Id="Rf5842ae763074db6" /><Relationship Type="http://schemas.openxmlformats.org/officeDocument/2006/relationships/slide" Target="/ppt/slides/slide1.xml" Id="Re854be0aabbd4a4c" /><Relationship Type="http://schemas.openxmlformats.org/officeDocument/2006/relationships/slide" Target="/ppt/slides/slide2.xml" Id="R2bc2decc303d4ada" /><Relationship Type="http://schemas.openxmlformats.org/officeDocument/2006/relationships/slide" Target="/ppt/slides/slide3.xml" Id="R7065c0bfed044a4c" /><Relationship Type="http://schemas.openxmlformats.org/officeDocument/2006/relationships/slide" Target="/ppt/slides/slide4.xml" Id="Re47bf7b8514d486e" /><Relationship Type="http://schemas.openxmlformats.org/officeDocument/2006/relationships/slide" Target="/ppt/slides/slide5.xml" Id="Rcbb3d18f752e449f" /><Relationship Type="http://schemas.openxmlformats.org/officeDocument/2006/relationships/slide" Target="/ppt/slides/slide6.xml" Id="R07b46519834540e1" /><Relationship Type="http://schemas.openxmlformats.org/officeDocument/2006/relationships/slide" Target="/ppt/slides/slide7.xml" Id="R2d0965422efe450a" /><Relationship Type="http://schemas.openxmlformats.org/officeDocument/2006/relationships/slide" Target="/ppt/slides/slide8.xml" Id="R7453b62d0d074e2f" /><Relationship Type="http://schemas.openxmlformats.org/officeDocument/2006/relationships/slide" Target="/ppt/slides/slide9.xml" Id="R5f870567c8134f0c" /><Relationship Type="http://schemas.openxmlformats.org/officeDocument/2006/relationships/slide" Target="/ppt/slides/slide10.xml" Id="Rd4f7f148bb68406e" /><Relationship Type="http://schemas.openxmlformats.org/officeDocument/2006/relationships/slide" Target="/ppt/slides/slide11.xml" Id="Rd30c8ef121d14aca" /><Relationship Type="http://schemas.openxmlformats.org/officeDocument/2006/relationships/slide" Target="/ppt/slides/slide12.xml" Id="R42b8a77117fb4163" /><Relationship Type="http://schemas.openxmlformats.org/officeDocument/2006/relationships/slide" Target="/ppt/slides/slide13.xml" Id="R79a17190702445ab" /><Relationship Type="http://schemas.openxmlformats.org/officeDocument/2006/relationships/slide" Target="/ppt/slides/slide14.xml" Id="R723fbb07de0e4fc6" /><Relationship Type="http://schemas.openxmlformats.org/officeDocument/2006/relationships/slide" Target="/ppt/slides/slide15.xml" Id="R534977e06d034847" /><Relationship Type="http://schemas.openxmlformats.org/officeDocument/2006/relationships/slide" Target="/ppt/slides/slide16.xml" Id="R07eaecc90ff94f19" /><Relationship Type="http://schemas.openxmlformats.org/officeDocument/2006/relationships/slide" Target="/ppt/slides/slide17.xml" Id="R98166751122541f0" /><Relationship Type="http://schemas.openxmlformats.org/officeDocument/2006/relationships/slide" Target="/ppt/slides/slide18.xml" Id="R66b201d8e53f493e" /><Relationship Type="http://schemas.openxmlformats.org/officeDocument/2006/relationships/slide" Target="/ppt/slides/slide19.xml" Id="Rb21e0e1224164a95" /><Relationship Type="http://schemas.openxmlformats.org/officeDocument/2006/relationships/slide" Target="/ppt/slides/slide20.xml" Id="R1594f876a3844c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3524f151414a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c9dd75b7544d1b" /><Relationship Type="http://schemas.openxmlformats.org/officeDocument/2006/relationships/notesMaster" Target="/ppt/notesMasters/notesMaster1.xml" Id="R76fc5badaaee47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f72d251dc84e3d" /><Relationship Type="http://schemas.openxmlformats.org/officeDocument/2006/relationships/notesMaster" Target="/ppt/notesMasters/notesMaster1.xml" Id="R37540da8811140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bccb104571439b" /><Relationship Type="http://schemas.openxmlformats.org/officeDocument/2006/relationships/notesMaster" Target="/ppt/notesMasters/notesMaster1.xml" Id="Rbfdb6b20fd574d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0757d12a11475e" /><Relationship Type="http://schemas.openxmlformats.org/officeDocument/2006/relationships/notesMaster" Target="/ppt/notesMasters/notesMaster1.xml" Id="R4ebc083e2e0245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b461e979f44b32" /><Relationship Type="http://schemas.openxmlformats.org/officeDocument/2006/relationships/notesMaster" Target="/ppt/notesMasters/notesMaster1.xml" Id="R01d538de18c64b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691bbec0194825" /><Relationship Type="http://schemas.openxmlformats.org/officeDocument/2006/relationships/notesMaster" Target="/ppt/notesMasters/notesMaster1.xml" Id="R4ad75dc0cb9642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16df65f682460f" /><Relationship Type="http://schemas.openxmlformats.org/officeDocument/2006/relationships/notesMaster" Target="/ppt/notesMasters/notesMaster1.xml" Id="R494c0135f2ad4f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c5ad7934fe44be" /><Relationship Type="http://schemas.openxmlformats.org/officeDocument/2006/relationships/notesMaster" Target="/ppt/notesMasters/notesMaster1.xml" Id="R41275e8dcc0342b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b30b97149b498b" /><Relationship Type="http://schemas.openxmlformats.org/officeDocument/2006/relationships/notesMaster" Target="/ppt/notesMasters/notesMaster1.xml" Id="Rda45e14e3e0f437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51c580995ba4807" /><Relationship Type="http://schemas.openxmlformats.org/officeDocument/2006/relationships/notesMaster" Target="/ppt/notesMasters/notesMaster1.xml" Id="Rac2ab4337e144c3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d65c2536c7c4308" /><Relationship Type="http://schemas.openxmlformats.org/officeDocument/2006/relationships/notesMaster" Target="/ppt/notesMasters/notesMaster1.xml" Id="Rfd8e440e96ea466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1690a1396964676" /><Relationship Type="http://schemas.openxmlformats.org/officeDocument/2006/relationships/notesMaster" Target="/ppt/notesMasters/notesMaster1.xml" Id="R03bda98c2e3845c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98dfb9d07a34d2a" /><Relationship Type="http://schemas.openxmlformats.org/officeDocument/2006/relationships/notesMaster" Target="/ppt/notesMasters/notesMaster1.xml" Id="Rcbe28667ac8847a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15a3cb1d0344404" /><Relationship Type="http://schemas.openxmlformats.org/officeDocument/2006/relationships/notesMaster" Target="/ppt/notesMasters/notesMaster1.xml" Id="Rf8bf59c76342483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6241f44389041a3" /><Relationship Type="http://schemas.openxmlformats.org/officeDocument/2006/relationships/notesMaster" Target="/ppt/notesMasters/notesMaster1.xml" Id="R2f053899cce74e8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e54e5517e5849df" /><Relationship Type="http://schemas.openxmlformats.org/officeDocument/2006/relationships/notesMaster" Target="/ppt/notesMasters/notesMaster1.xml" Id="R12c549ca1fe24da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b286b89346b4280" /><Relationship Type="http://schemas.openxmlformats.org/officeDocument/2006/relationships/notesMaster" Target="/ppt/notesMasters/notesMaster1.xml" Id="R30bb91737a3442a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463ec67808148ea" /><Relationship Type="http://schemas.openxmlformats.org/officeDocument/2006/relationships/notesMaster" Target="/ppt/notesMasters/notesMaster1.xml" Id="R5ae4fa88a51c458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12bdf849a1a43a0" /><Relationship Type="http://schemas.openxmlformats.org/officeDocument/2006/relationships/notesMaster" Target="/ppt/notesMasters/notesMaster1.xml" Id="Rebc1cf56ac1d41a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693cac01c8b49be" /><Relationship Type="http://schemas.openxmlformats.org/officeDocument/2006/relationships/notesMaster" Target="/ppt/notesMasters/notesMaster1.xml" Id="R9d44e93c72ec43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开场：建议从一期试点开始，评估我们承担赛季主题、章节玩法、任务奖励和活动体验设计的方式。团队履历、人员配置和报价需在对外提交前补充。</a:t>
            </a:r>
          </a:p>
          <a:p xmlns:a="http://schemas.openxmlformats.org/drawingml/2006/main">
            <a:r>
              <a:t>视觉素材：D:/codex/RH/haaland-offline/assets/haaland-stadium.png，为本项目AI生成概念素材，不是官方宣传图。</a:t>
            </a:r>
          </a:p>
          <a:p xmlns:a="http://schemas.openxmlformats.org/drawingml/2006/main">
            <a:r>
              <a:t>用户提供的空白文件画布为12192000×6858000 EMU，沿用16:9尺寸。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四个样本按差异化机制选择，覆盖2024至2026年。时间为公告发布时间，不等同于整期活动起止。只使用国服《FC足球世界》资料，不把国际服FC Mobile或主机版FC的机制混入。公开资料可以确认规则和呈现方式，不能证明留存、收入或制作成本表现。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公开资料来源（核对于2026-10-15）：</a:t>
            </a:r>
          </a:p>
          <a:p xmlns:a="http://schemas.openxmlformats.org/drawingml/2006/main">
            <a:r>
              <a:t>[A] EA SPORTS，2025-01-26，《年度盛典开启！25年度最佳活动全新上线！》</a:t>
            </a:r>
          </a:p>
          <a:p xmlns:a="http://schemas.openxmlformats.org/drawingml/2006/main">
            <a:r>
              <a:t>https://www.weibo.com/ttarticle/p/show?id=2309405127089513955762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[B] FC足球世界官方，2026-02-12，《马年春节活动即将开启！多重新春福利送不停！》</a:t>
            </a:r>
          </a:p>
          <a:p xmlns:a="http://schemas.openxmlformats.org/drawingml/2006/main">
            <a:r>
              <a:t>https://www.taptap.cn/moment/771064711469861731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[C] FC足球世界官方，2024-06-13，《欧陆足坛风云再起，2024欧洲杯®全员上场！》</a:t>
            </a:r>
          </a:p>
          <a:p xmlns:a="http://schemas.openxmlformats.org/drawingml/2006/main">
            <a:r>
              <a:t>https://www.taptap.cn/moment/550263876587881597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[D] FC足球世界官方，2026-04-15，《Next新世代升级，欧冠荣耀活动，巅峰序章队徽开启！首充双倍重置》</a:t>
            </a:r>
          </a:p>
          <a:p xmlns:a="http://schemas.openxmlformats.org/drawingml/2006/main">
            <a:r>
              <a:t>https://www.taptap.cn/moment/793578209911245431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事实：活动持续42天，五章节中三个先开放。提名揭秘的登录和章节赛事提供章节代币，代币用于球员之旅。路径节点提供拼图票券，拼图完成可解锁特惠球员交换。设计解读：资源在章节之间衔接，设计时需要同时检查产出、推进和解锁门槛。不能仅以界面数量估计活动内容量。</a:t>
            </a:r>
          </a:p>
          <a:p xmlns:a="http://schemas.openxmlformats.org/drawingml/2006/main">
            <a:r>
              <a:t>图片原址：</a:t>
            </a:r>
          </a:p>
          <a:p xmlns:a="http://schemas.openxmlformats.org/drawingml/2006/main">
            <a:r>
              <a:t>https://wx3.sinaimg.cn/large/8764b058gy1hxutzr4qwfj212w0howj2.jpg</a:t>
            </a:r>
          </a:p>
          <a:p xmlns:a="http://schemas.openxmlformats.org/drawingml/2006/main">
            <a:r>
              <a:t>https://wx2.sinaimg.cn/large/8764b058gy1hxutzu0bggj212w0hogpp.jpg</a:t>
            </a:r>
          </a:p>
          <a:p xmlns:a="http://schemas.openxmlformats.org/drawingml/2006/main">
            <a:r>
              <a:t>图为官方文章原图，保留原比例及水印。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公开资料来源（核对于2026-10-15）：</a:t>
            </a:r>
          </a:p>
          <a:p xmlns:a="http://schemas.openxmlformats.org/drawingml/2006/main">
            <a:r>
              <a:t>[A] EA SPORTS，2025-01-26，《年度盛典开启！25年度最佳活动全新上线！》</a:t>
            </a:r>
          </a:p>
          <a:p xmlns:a="http://schemas.openxmlformats.org/drawingml/2006/main">
            <a:r>
              <a:t>https://www.weibo.com/ttarticle/p/show?id=2309405127089513955762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事实：春节登录福利先上线，福气临门、年兽挑战和鸿运叠彩后续开放。福气累积、年兽挑战与叠彩升级存在关联和并行关系，不是所有玩家必须依次通过的单一路径。鸿运升级球员加入骐骥图鉴并保留原养成等级。设计解读：节庆活动可以用每日累积支撑阶段目标，同时让球员自身成长。左侧是官方机制说明配图，不是游戏实机截图。</a:t>
            </a:r>
          </a:p>
          <a:p xmlns:a="http://schemas.openxmlformats.org/drawingml/2006/main">
            <a:r>
              <a:t>图源：https://img2-tc.tapimg.com/moment/etag/33b06e2300097dcd53b8ce0fcad778e1.png/_tap_ugc.jpg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公开资料来源（核对于2026-10-15）：</a:t>
            </a:r>
          </a:p>
          <a:p xmlns:a="http://schemas.openxmlformats.org/drawingml/2006/main">
            <a:r>
              <a:t>[B] FC足球世界官方，2026-02-12，《马年春节活动即将开启！多重新春福利送不停！》</a:t>
            </a:r>
          </a:p>
          <a:p xmlns:a="http://schemas.openxmlformats.org/drawingml/2006/main">
            <a:r>
              <a:t>https://www.taptap.cn/moment/771064711469861731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欧洲杯事实：公告包含使用24支参赛队的锦标赛、活动点数参与比赛竞猜，以及甄选球员卡面随实际登场逐步更新。不可由此推断所有欧洲杯活动均采用同一玩法。欧冠荣耀事实：荣耀时刻、冠军巡礼、精彩时刻三章节分别包含对战与问答、决赛赛事、精彩瞬间赛事。冠军巡礼直接奖励球员并解锁特价交换，构成可观察的机制差异。解读：题材可以改变内容生成依据，而不只是改变背景。</a:t>
            </a:r>
          </a:p>
          <a:p xmlns:a="http://schemas.openxmlformats.org/drawingml/2006/main">
            <a:r>
              <a:t>右图源：https://img2-tc.tapimg.com/moment/etag/b73d126035e15df9b26d710f11a3220e.jpg/_tap_ugc.jpg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公开资料来源（核对于2026-10-15）：</a:t>
            </a:r>
          </a:p>
          <a:p xmlns:a="http://schemas.openxmlformats.org/drawingml/2006/main">
            <a:r>
              <a:t>[C] FC足球世界官方，2024-06-13，《欧陆足坛风云再起，2024欧洲杯®全员上场！》</a:t>
            </a:r>
          </a:p>
          <a:p xmlns:a="http://schemas.openxmlformats.org/drawingml/2006/main">
            <a:r>
              <a:t>https://www.taptap.cn/moment/550263876587881597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[D] FC足球世界官方，2026-04-15，《Next新世代升级，欧冠荣耀活动，巅峰序章队徽开启！首充双倍重置》</a:t>
            </a:r>
          </a:p>
          <a:p xmlns:a="http://schemas.openxmlformats.org/drawingml/2006/main">
            <a:r>
              <a:t>https://www.taptap.cn/moment/793578209911245431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照表是公开公告的选择性摘录，不是完整玩法清单，也不是活动效果比较。欧洲杯的赛事推进来自锦标赛及真实赛况联动，不据此补写代币路径或拼图。春节的球员升级与累计目标可以并行。不同年份的图鉴、徽章或队徽规则也不能视为完全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公开资料来源（核对于2026-10-15）：</a:t>
            </a:r>
          </a:p>
          <a:p xmlns:a="http://schemas.openxmlformats.org/drawingml/2006/main">
            <a:r>
              <a:t>[A] EA SPORTS，2025-01-26，《年度盛典开启！25年度最佳活动全新上线！》</a:t>
            </a:r>
          </a:p>
          <a:p xmlns:a="http://schemas.openxmlformats.org/drawingml/2006/main">
            <a:r>
              <a:t>https://www.weibo.com/ttarticle/p/show?id=2309405127089513955762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[B] FC足球世界官方，2026-02-12，《马年春节活动即将开启！多重新春福利送不停！》</a:t>
            </a:r>
          </a:p>
          <a:p xmlns:a="http://schemas.openxmlformats.org/drawingml/2006/main">
            <a:r>
              <a:t>https://www.taptap.cn/moment/771064711469861731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[C] FC足球世界官方，2024-06-13，《欧陆足坛风云再起，2024欧洲杯®全员上场！》</a:t>
            </a:r>
          </a:p>
          <a:p xmlns:a="http://schemas.openxmlformats.org/drawingml/2006/main">
            <a:r>
              <a:t>https://www.taptap.cn/moment/550263876587881597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[D] FC足球世界官方，2026-04-15，《Next新世代升级，欧冠荣耀活动，巅峰序章队徽开启！首充双倍重置》</a:t>
            </a:r>
          </a:p>
          <a:p xmlns:a="http://schemas.openxmlformats.org/drawingml/2006/main">
            <a:r>
              <a:t>https://www.taptap.cn/moment/793578209911245431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图是我们的设计归纳，不是官方架构图或唯一玩家路径。可观察职能包括主题入口、参与、推进、奖励与成长，但具体机制、顺序和分支不同。部分赛事直接奖励球员，不要求先兑换。图鉴和队徽亦可作为平行目标。新增赛季设计应先选择适合的模块，再明确连接关系与规则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公开资料来源（核对于2026-10-15）：</a:t>
            </a:r>
          </a:p>
          <a:p xmlns:a="http://schemas.openxmlformats.org/drawingml/2006/main">
            <a:r>
              <a:t>[A] EA SPORTS，2025-01-26，《年度盛典开启！25年度最佳活动全新上线！》</a:t>
            </a:r>
          </a:p>
          <a:p xmlns:a="http://schemas.openxmlformats.org/drawingml/2006/main">
            <a:r>
              <a:t>https://www.weibo.com/ttarticle/p/show?id=2309405127089513955762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[B] FC足球世界官方，2026-02-12，《马年春节活动即将开启！多重新春福利送不停！》</a:t>
            </a:r>
          </a:p>
          <a:p xmlns:a="http://schemas.openxmlformats.org/drawingml/2006/main">
            <a:r>
              <a:t>https://www.taptap.cn/moment/771064711469861731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[C] FC足球世界官方，2024-06-13，《欧陆足坛风云再起，2024欧洲杯®全员上场！》</a:t>
            </a:r>
          </a:p>
          <a:p xmlns:a="http://schemas.openxmlformats.org/drawingml/2006/main">
            <a:r>
              <a:t>https://www.taptap.cn/moment/550263876587881597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[D] FC足球世界官方，2026-04-15，《Next新世代升级，欧冠荣耀活动，巅峰序章队徽开启！首充双倍重置》</a:t>
            </a:r>
          </a:p>
          <a:p xmlns:a="http://schemas.openxmlformats.org/drawingml/2006/main">
            <a:r>
              <a:t>https://www.taptap.cn/moment/793578209911245431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列为跨样本的结构观察，中列和右列是我们的设计判断与拟议交付，不是官方自述或已验证结果。资源衔接见[A]，节庆累计及分期见[B]，主题参与方式见[C][D]。所有设计选择都要经过FC团队的系统能力、奖励经济和制作排期评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公开资料来源（核对于2026-10-15）：</a:t>
            </a:r>
          </a:p>
          <a:p xmlns:a="http://schemas.openxmlformats.org/drawingml/2006/main">
            <a:r>
              <a:t>[A] EA SPORTS，2025-01-26，《年度盛典开启！25年度最佳活动全新上线！》</a:t>
            </a:r>
          </a:p>
          <a:p xmlns:a="http://schemas.openxmlformats.org/drawingml/2006/main">
            <a:r>
              <a:t>https://www.weibo.com/ttarticle/p/show?id=2309405127089513955762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[B] FC足球世界官方，2026-02-12，《马年春节活动即将开启！多重新春福利送不停！》</a:t>
            </a:r>
          </a:p>
          <a:p xmlns:a="http://schemas.openxmlformats.org/drawingml/2006/main">
            <a:r>
              <a:t>https://www.taptap.cn/moment/771064711469861731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[C] FC足球世界官方，2024-06-13，《欧陆足坛风云再起，2024欧洲杯®全员上场！》</a:t>
            </a:r>
          </a:p>
          <a:p xmlns:a="http://schemas.openxmlformats.org/drawingml/2006/main">
            <a:r>
              <a:t>https://www.taptap.cn/moment/550263876587881597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[D] FC足球世界官方，2026-04-15，《Next新世代升级，欧冠荣耀活动，巅峰序章队徽开启！首充双倍重置》</a:t>
            </a:r>
          </a:p>
          <a:p xmlns:a="http://schemas.openxmlformats.org/drawingml/2006/main">
            <a:r>
              <a:t>https://www.taptap.cn/moment/793578209911245431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这里列的是合作希望实现的目标，不是已有业绩，也没有承诺具体留存或收入增幅。需要在试点前与FC团队确认优先目标，并在复盘时验证。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我们提出的是设计与制作配合的责任范围。FC团队继续掌握产品方向、球员经济和版本发布的最终决策。进入配置制作或上线执行前，需要确认可用工具、权限、负责人和验收机制。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交付物按FC团队实际配置结构和评审习惯映射。此页是拟议交付目录，不表示这些材料已经全部制作完毕。试点前应准备一份完整配置样表，让制作方验证字段和状态是否足够。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份主题方案把哈兰德作为设计线索：训练、创造机会、搭档配合和终章挑战共同构成成长过程。禁区猎手是活动设计的一部分，尚未单独实现到网页原型。网页已有大厅、训练、搭档、征程和冠军五个页面，不能将页面数量等同于完整五个玩法章节。</a:t>
            </a:r>
          </a:p>
          <a:p xmlns:a="http://schemas.openxmlformats.org/drawingml/2006/main">
            <a:r>
              <a:t>视觉素材为本项目AI生成，非官方宣传图片。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把研究发现回扣到原创方案，避免将官方活动和哈兰德概念混为一谈。引用仅支持设计依据，不意味着官方采用或认可该方案。训练、最佳搭档和金靴征程在网页中为简化样板，禁区猎手没有独立实现。玩家资源与时间需要正式数值表复核。FC团队最终决定球员投放、图鉴或队徽等成长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公开资料来源（核对于2026-10-15）：</a:t>
            </a:r>
          </a:p>
          <a:p xmlns:a="http://schemas.openxmlformats.org/drawingml/2006/main">
            <a:r>
              <a:t>[A] EA SPORTS，2025-01-26，《年度盛典开启！25年度最佳活动全新上线！》</a:t>
            </a:r>
          </a:p>
          <a:p xmlns:a="http://schemas.openxmlformats.org/drawingml/2006/main">
            <a:r>
              <a:t>https://www.weibo.com/ttarticle/p/show?id=2309405127089513955762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[B] FC足球世界官方，2026-02-12，《马年春节活动即将开启！多重新春福利送不停！》</a:t>
            </a:r>
          </a:p>
          <a:p xmlns:a="http://schemas.openxmlformats.org/drawingml/2006/main">
            <a:r>
              <a:t>https://www.taptap.cn/moment/771064711469861731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[C] FC足球世界官方，2024-06-13，《欧陆足坛风云再起，2024欧洲杯®全员上场！》</a:t>
            </a:r>
          </a:p>
          <a:p xmlns:a="http://schemas.openxmlformats.org/drawingml/2006/main">
            <a:r>
              <a:t>https://www.taptap.cn/moment/550263876587881597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[D] FC足球世界官方，2026-04-15，《Next新世代升级，欧冠荣耀活动，巅峰序章队徽开启！首充双倍重置》</a:t>
            </a:r>
          </a:p>
          <a:p xmlns:a="http://schemas.openxmlformats.org/drawingml/2006/main">
            <a:r>
              <a:t>https://www.taptap.cn/moment/793578209911245431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整期设计需要独立内容清单，包括训练关卡、周赛场次、路线任务链、奖励节点和日常任务配置。重复日常的次数不等同于新增内容数量。6周指活动运行长度，项目工期另含设计准备、制作接入与复盘。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自本项目早期网页原型，仅截取手机活动画面用于展示。当前还提供独立的单文件离线版。演示中的训练和比赛采用简化交互，不代表完整足球引擎或游戏客户端实现。禁区猎手未单独接入，完整六周内容也尚未制作。</a:t>
            </a:r>
          </a:p>
          <a:p xmlns:a="http://schemas.openxmlformats.org/drawingml/2006/main">
            <a:r>
              <a:t>截图：D:/codex/RH/haaland-season/preview-overview.jpg</a:t>
            </a:r>
          </a:p>
          <a:p xmlns:a="http://schemas.openxmlformats.org/drawingml/2006/main">
            <a:r>
              <a:t>离线演示：D:/codex/RH/haaland-offline/开始演示-手机预览版.html</a:t>
            </a:r>
          </a:p>
          <a:p xmlns:a="http://schemas.openxmlformats.org/drawingml/2006/main">
            <a:r>
              <a:t>在线参考：https://haaland-season-lab-oct14.apt-toast-4281.chatgpt.site ，当前有访问权限限制，不作为对外提交的唯一入口。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顺序覆盖活动简报、概念评审、内容锁定、配置交付、联调验收和上线复盘。交付日程应以现有系统和资源可用性为前提，避免把需要新增开发的机制混入常规配置工作。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试点需要先确认埋点和历史基线。若没有实验或合适的比较对象，不能将指标变化全部归因于设计合作。球员强度、同期投放、渠道流量和版本变化均可能影响结果。本提案没有虚构项目业绩或提升百分比。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试点可按系统能力缩小范围，不必一次引入全部新机制。设计验收与线上效果验收分别约定。商业目标和最终范围需双方确认，当前不提供未经人员与产能核实的交付承诺。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时提出具体请求：与活动策划、产品及开发负责人对齐一次，确认试点主题、系统能力和验收标准。对外发送前需要补充真实的团队履历、岗位配置、产能样表和商务信息，不以当前设计原型替代履约能力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此索引仅覆盖本次引用样本。页面中的官方截图和机制图均保留原比例，不以AI图替代。哈兰德视觉为本项目AI生成概念图，网页原型为原创样板。公开资料不包含内部运营数据，也不构成全量历史活动审计。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公开资料来源（核对于2026-10-15）：</a:t>
            </a:r>
          </a:p>
          <a:p xmlns:a="http://schemas.openxmlformats.org/drawingml/2006/main">
            <a:r>
              <a:t>[A] EA SPORTS，2025-01-26，《年度盛典开启！25年度最佳活动全新上线！》</a:t>
            </a:r>
          </a:p>
          <a:p xmlns:a="http://schemas.openxmlformats.org/drawingml/2006/main">
            <a:r>
              <a:t>https://www.weibo.com/ttarticle/p/show?id=2309405127089513955762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[B] FC足球世界官方，2026-02-12，《马年春节活动即将开启！多重新春福利送不停！》</a:t>
            </a:r>
          </a:p>
          <a:p xmlns:a="http://schemas.openxmlformats.org/drawingml/2006/main">
            <a:r>
              <a:t>https://www.taptap.cn/moment/771064711469861731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[C] FC足球世界官方，2024-06-13，《欧陆足坛风云再起，2024欧洲杯®全员上场！》</a:t>
            </a:r>
          </a:p>
          <a:p xmlns:a="http://schemas.openxmlformats.org/drawingml/2006/main">
            <a:r>
              <a:t>https://www.taptap.cn/moment/550263876587881597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[D] FC足球世界官方，2026-04-15，《Next新世代升级，欧冠荣耀活动，巅峰序章队徽开启！首充双倍重置》</a:t>
            </a:r>
          </a:p>
          <a:p xmlns:a="http://schemas.openxmlformats.org/drawingml/2006/main">
            <a:r>
              <a:t>https://www.taptap.cn/moment/793578209911245431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c58ee494474fe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0b1a4cce96456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1cfeef4ccb448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a48601ef05401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1a4cb21bd74ba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a4a994d78045c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517e49f0dc4c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391C39-0C6E-4B18-B83C-B985ACE206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29A1A7D-AC72-4CA1-AA1B-F95DA8CE9F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5BFDA8C-A76F-4742-BD28-A743474160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4E828C-D7C9-4E2B-845D-1EB10334C1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2D99E42-036C-48FC-AF1C-BD6EB6C375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A1846A4-A98E-452A-8B35-9EFB41DD48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1513967-202F-4E80-9D09-4995DFA850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18118B7-F03D-47ED-BAE5-1FBB02BF8DF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E6FA9C-1596-449F-975C-C39BDBECAF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9A127D4-DA65-468A-984F-96FE3413CD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.xml><?xml version="1.0" encoding="utf-8"?>
<p:sldLayout xmlns:p="http://schemas.openxmlformats.org/presentationml/2006/main">
  <p:cSld name="FC season proposal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b274f97ba04e37" /><Relationship Type="http://schemas.openxmlformats.org/officeDocument/2006/relationships/slideLayout" Target="/ppt/slideLayouts/slideLayout1.xml" Id="Rfdc0df86cce04a3c" /><Relationship Type="http://schemas.openxmlformats.org/officeDocument/2006/relationships/slideLayout" Target="/ppt/slideLayouts/slideLayout2.xml" Id="R3ba8c3ec5b2c408c" /><Relationship Type="http://schemas.openxmlformats.org/officeDocument/2006/relationships/slideLayout" Target="/ppt/slideLayouts/slideLayout3.xml" Id="R1a1c03e8228f4f99" /><Relationship Type="http://schemas.openxmlformats.org/officeDocument/2006/relationships/slideLayout" Target="/ppt/slideLayouts/slideLayout4.xml" Id="Rb9daa0b4b01f4aed" /><Relationship Type="http://schemas.openxmlformats.org/officeDocument/2006/relationships/slideLayout" Target="/ppt/slideLayouts/slideLayout5.xml" Id="Rce7d1fe41c0d488b" /><Relationship Type="http://schemas.openxmlformats.org/officeDocument/2006/relationships/slideLayout" Target="/ppt/slideLayouts/slideLayout6.xml" Id="R67ee0dc445814857" /><Relationship Type="http://schemas.openxmlformats.org/officeDocument/2006/relationships/slideLayout" Target="/ppt/slideLayouts/slideLayout7.xml" Id="Rc15e056bdfff4e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c0df86cce04a3c"/>
    <p:sldLayoutId xmlns:r="http://schemas.openxmlformats.org/officeDocument/2006/relationships" id="2147483650" r:id="R3ba8c3ec5b2c408c"/>
    <p:sldLayoutId xmlns:r="http://schemas.openxmlformats.org/officeDocument/2006/relationships" id="2147483651" r:id="R1a1c03e8228f4f99"/>
    <p:sldLayoutId xmlns:r="http://schemas.openxmlformats.org/officeDocument/2006/relationships" id="2147483652" r:id="Rb9daa0b4b01f4aed"/>
    <p:sldLayoutId xmlns:r="http://schemas.openxmlformats.org/officeDocument/2006/relationships" id="2147483653" r:id="Rce7d1fe41c0d488b"/>
    <p:sldLayoutId xmlns:r="http://schemas.openxmlformats.org/officeDocument/2006/relationships" id="2147483654" r:id="R67ee0dc445814857"/>
    <p:sldLayoutId xmlns:r="http://schemas.openxmlformats.org/officeDocument/2006/relationships" id="2147483655" r:id="Rc15e056bdfff4e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4808b6d1c4643d8" /><Relationship Type="http://schemas.openxmlformats.org/officeDocument/2006/relationships/image" Target="/ppt/media/image.png" Id="R1989361065404a81" /><Relationship Type="http://schemas.openxmlformats.org/officeDocument/2006/relationships/notesSlide" Target="/ppt/notesSlides/notesSlide1.xml" Id="R93113c39af6a4d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77f6e0d34e474c" /><Relationship Type="http://schemas.openxmlformats.org/officeDocument/2006/relationships/notesSlide" Target="/ppt/notesSlides/notesSlide2.xml" Id="Rb411027422df46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e5488cd6814bc3" /><Relationship Type="http://schemas.openxmlformats.org/officeDocument/2006/relationships/image" Target="/ppt/media/image.jpeg" Id="R60b1bde2c7eb45e7" /><Relationship Type="http://schemas.openxmlformats.org/officeDocument/2006/relationships/image" Target="/ppt/media/image2.jpeg" Id="R0d68cbae502941ec" /><Relationship Type="http://schemas.openxmlformats.org/officeDocument/2006/relationships/notesSlide" Target="/ppt/notesSlides/notesSlide3.xml" Id="R68fa6055447241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0cb61957a54247" /><Relationship Type="http://schemas.openxmlformats.org/officeDocument/2006/relationships/image" Target="/ppt/media/image3.jpeg" Id="R9d7070b77ce24b11" /><Relationship Type="http://schemas.openxmlformats.org/officeDocument/2006/relationships/notesSlide" Target="/ppt/notesSlides/notesSlide4.xml" Id="Rb6319c5145884c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d8aa73032e4255" /><Relationship Type="http://schemas.openxmlformats.org/officeDocument/2006/relationships/image" Target="/ppt/media/image4.jpeg" Id="R756b5d3b33b54343" /><Relationship Type="http://schemas.openxmlformats.org/officeDocument/2006/relationships/notesSlide" Target="/ppt/notesSlides/notesSlide5.xml" Id="Ra9034dcd6dd84e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a58b826c2e42e7" /><Relationship Type="http://schemas.openxmlformats.org/officeDocument/2006/relationships/notesSlide" Target="/ppt/notesSlides/notesSlide6.xml" Id="R3dd267486ead4c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ac71b151fe4f41" /><Relationship Type="http://schemas.openxmlformats.org/officeDocument/2006/relationships/notesSlide" Target="/ppt/notesSlides/notesSlide7.xml" Id="Rb9883608b2fb4b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b7b998892c4175" /><Relationship Type="http://schemas.openxmlformats.org/officeDocument/2006/relationships/notesSlide" Target="/ppt/notesSlides/notesSlide8.xml" Id="R005c40c4397747a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62b19ca47cd4899" /><Relationship Type="http://schemas.openxmlformats.org/officeDocument/2006/relationships/notesSlide" Target="/ppt/notesSlides/notesSlide9.xml" Id="Ra83fbe43291a4f1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31fbe4208f341b0" /><Relationship Type="http://schemas.openxmlformats.org/officeDocument/2006/relationships/notesSlide" Target="/ppt/notesSlides/notesSlide10.xml" Id="R24cc2a45d1874b8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15460c5d48b43f2" /><Relationship Type="http://schemas.openxmlformats.org/officeDocument/2006/relationships/notesSlide" Target="/ppt/notesSlides/notesSlide11.xml" Id="R77855ee8cf4541e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3a9387ae3444c3e" /><Relationship Type="http://schemas.openxmlformats.org/officeDocument/2006/relationships/image" Target="/ppt/media/image2.png" Id="Rff2b03b5152449cf" /><Relationship Type="http://schemas.openxmlformats.org/officeDocument/2006/relationships/notesSlide" Target="/ppt/notesSlides/notesSlide12.xml" Id="R61b7ec54c40d4a9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047fa587c34082" /><Relationship Type="http://schemas.openxmlformats.org/officeDocument/2006/relationships/notesSlide" Target="/ppt/notesSlides/notesSlide13.xml" Id="R820353d638be4b3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abeeebb9c88457c" /><Relationship Type="http://schemas.openxmlformats.org/officeDocument/2006/relationships/notesSlide" Target="/ppt/notesSlides/notesSlide14.xml" Id="R6519129f3a284a3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da8c96b7ce840cf" /><Relationship Type="http://schemas.openxmlformats.org/officeDocument/2006/relationships/image" Target="/ppt/media/image5.jpeg" Id="Re3592760cea64f32" /><Relationship Type="http://schemas.openxmlformats.org/officeDocument/2006/relationships/notesSlide" Target="/ppt/notesSlides/notesSlide15.xml" Id="R210bb221e3db494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8a528e836314e90" /><Relationship Type="http://schemas.openxmlformats.org/officeDocument/2006/relationships/notesSlide" Target="/ppt/notesSlides/notesSlide16.xml" Id="R34f48880a97a44d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6711eb99c364c87" /><Relationship Type="http://schemas.openxmlformats.org/officeDocument/2006/relationships/notesSlide" Target="/ppt/notesSlides/notesSlide17.xml" Id="Rc9452d3fc7f44b2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98b6e5b96ec459c" /><Relationship Type="http://schemas.openxmlformats.org/officeDocument/2006/relationships/notesSlide" Target="/ppt/notesSlides/notesSlide18.xml" Id="R5e5411453bf5457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e20706d0748489f" /><Relationship Type="http://schemas.openxmlformats.org/officeDocument/2006/relationships/notesSlide" Target="/ppt/notesSlides/notesSlide19.xml" Id="R888ecbc2533b433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8bcf0b7c0a4974" /><Relationship Type="http://schemas.openxmlformats.org/officeDocument/2006/relationships/notesSlide" Target="/ppt/notesSlides/notesSlide20.xml" Id="R8802367c7c4345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7DBB5C-4119-44DB-9E5B-1E49B066A9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89361065404a8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lient-title">
            <a:extLst xmlns:a="http://schemas.openxmlformats.org/drawingml/2006/main">
              <a:ext uri="{FF2B5EF4-FFF2-40B4-BE49-F238E27FC236}">
                <a16:creationId xmlns:a16="http://schemas.microsoft.com/office/drawing/2014/main" id="{B9218340-1129-4F5E-B378-9B7CB71B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FC 足球世界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7031C9A-61D5-4AA6-A4D0-93F95D1E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657225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54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赛季活动设计</a:t>
            </a:r>
          </a:p>
          <a:p xmlns:a="http://schemas.openxmlformats.org/drawingml/2006/main">
            <a:pPr algn="l">
              <a:buNone/>
              <a:defRPr sz="54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合作提案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1EF8AE3-96B6-4C95-B42F-FE691FA9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638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通过一期试点，建立持续的活动内容交付合作</a:t>
            </a:r>
          </a:p>
        </p:txBody>
      </p:sp>
      <p:sp>
        <p:nvSpPr>
          <p:cNvPr id="5" name="discussion-label">
            <a:extLst xmlns:a="http://schemas.openxmlformats.org/drawingml/2006/main">
              <a:ext uri="{FF2B5EF4-FFF2-40B4-BE49-F238E27FC236}">
                <a16:creationId xmlns:a16="http://schemas.microsoft.com/office/drawing/2014/main" id="{A146037F-71A1-4C1B-9DAE-3E22CF39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合作讨论稿</a:t>
            </a:r>
          </a:p>
        </p:txBody>
      </p:sp>
    </p:spTree>
    <p:extLst>
      <p:ext uri="{BB962C8B-B14F-4D97-AF65-F5344CB8AC3E}">
        <p14:creationId xmlns:p14="http://schemas.microsoft.com/office/powerpoint/2010/main" val="3197727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1C7D83-79B5-41C9-BEA0-C431D130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公开活动研究样本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4B4FC5BA-E480-4FBD-8DDB-85FDE322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选取四种主题与机制组合，比较参与、推进、奖励和开放节奏。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ABD16A2-B208-4C01-91BC-80FA7147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date-0">
            <a:extLst xmlns:a="http://schemas.openxmlformats.org/drawingml/2006/main">
              <a:ext uri="{FF2B5EF4-FFF2-40B4-BE49-F238E27FC236}">
                <a16:creationId xmlns:a16="http://schemas.microsoft.com/office/drawing/2014/main" id="{69EE51BB-E81A-44C7-A33E-28CC2D59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19325"/>
            <a:ext cx="1381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2024.06</a:t>
            </a:r>
          </a:p>
        </p:txBody>
      </p:sp>
      <p:sp>
        <p:nvSpPr>
          <p:cNvPr id="5" name="sample-0">
            <a:extLst xmlns:a="http://schemas.openxmlformats.org/drawingml/2006/main">
              <a:ext uri="{FF2B5EF4-FFF2-40B4-BE49-F238E27FC236}">
                <a16:creationId xmlns:a16="http://schemas.microsoft.com/office/drawing/2014/main" id="{C36A1BF8-86FA-49E9-BAA4-5576C5BB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190750"/>
            <a:ext cx="2714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欧洲杯</a:t>
            </a:r>
          </a:p>
        </p:txBody>
      </p:sp>
      <p:sp>
        <p:nvSpPr>
          <p:cNvPr id="6" name="type-0">
            <a:extLst xmlns:a="http://schemas.openxmlformats.org/drawingml/2006/main">
              <a:ext uri="{FF2B5EF4-FFF2-40B4-BE49-F238E27FC236}">
                <a16:creationId xmlns:a16="http://schemas.microsoft.com/office/drawing/2014/main" id="{0C03F2CE-D2C3-4ED8-8E66-ADA358BC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00275"/>
            <a:ext cx="2000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真实赛事联动</a:t>
            </a:r>
          </a:p>
        </p:txBody>
      </p:sp>
      <p:sp>
        <p:nvSpPr>
          <p:cNvPr id="7" name="desc-0">
            <a:extLst xmlns:a="http://schemas.openxmlformats.org/drawingml/2006/main">
              <a:ext uri="{FF2B5EF4-FFF2-40B4-BE49-F238E27FC236}">
                <a16:creationId xmlns:a16="http://schemas.microsoft.com/office/drawing/2014/main" id="{04492FEF-ED30-4AC0-A4B1-7E4F43C8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219325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锦标赛、竞猜与主题球员</a:t>
            </a:r>
          </a:p>
        </p:txBody>
      </p:sp>
      <p:sp>
        <p:nvSpPr>
          <p:cNvPr id="8" name="date-1">
            <a:extLst xmlns:a="http://schemas.openxmlformats.org/drawingml/2006/main">
              <a:ext uri="{FF2B5EF4-FFF2-40B4-BE49-F238E27FC236}">
                <a16:creationId xmlns:a16="http://schemas.microsoft.com/office/drawing/2014/main" id="{D51A29DB-863C-4240-9FC8-0BA5C86E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1381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2025.01</a:t>
            </a:r>
          </a:p>
        </p:txBody>
      </p:sp>
      <p:sp>
        <p:nvSpPr>
          <p:cNvPr id="9" name="sample-1">
            <a:extLst xmlns:a="http://schemas.openxmlformats.org/drawingml/2006/main">
              <a:ext uri="{FF2B5EF4-FFF2-40B4-BE49-F238E27FC236}">
                <a16:creationId xmlns:a16="http://schemas.microsoft.com/office/drawing/2014/main" id="{7CCB4BF4-4F9A-4C35-9395-D6560556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057525"/>
            <a:ext cx="2714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年度最佳</a:t>
            </a:r>
          </a:p>
        </p:txBody>
      </p:sp>
      <p:sp>
        <p:nvSpPr>
          <p:cNvPr id="10" name="type-1">
            <a:extLst xmlns:a="http://schemas.openxmlformats.org/drawingml/2006/main">
              <a:ext uri="{FF2B5EF4-FFF2-40B4-BE49-F238E27FC236}">
                <a16:creationId xmlns:a16="http://schemas.microsoft.com/office/drawing/2014/main" id="{8189A4BA-B9AC-4F96-8641-BBAD1CB4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67050"/>
            <a:ext cx="2000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年度荣誉</a:t>
            </a:r>
          </a:p>
        </p:txBody>
      </p:sp>
      <p:sp>
        <p:nvSpPr>
          <p:cNvPr id="11" name="desc-1">
            <a:extLst xmlns:a="http://schemas.openxmlformats.org/drawingml/2006/main">
              <a:ext uri="{FF2B5EF4-FFF2-40B4-BE49-F238E27FC236}">
                <a16:creationId xmlns:a16="http://schemas.microsoft.com/office/drawing/2014/main" id="{AEAA7202-CC8E-4FA4-BC0D-6BD8A805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086100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章节、奖励路径与拼图</a:t>
            </a:r>
          </a:p>
        </p:txBody>
      </p:sp>
      <p:sp>
        <p:nvSpPr>
          <p:cNvPr id="12" name="date-2">
            <a:extLst xmlns:a="http://schemas.openxmlformats.org/drawingml/2006/main">
              <a:ext uri="{FF2B5EF4-FFF2-40B4-BE49-F238E27FC236}">
                <a16:creationId xmlns:a16="http://schemas.microsoft.com/office/drawing/2014/main" id="{9840563C-C759-4D25-AEE9-78E565AC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52875"/>
            <a:ext cx="1381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2026.02</a:t>
            </a:r>
          </a:p>
        </p:txBody>
      </p:sp>
      <p:sp>
        <p:nvSpPr>
          <p:cNvPr id="13" name="sample-2">
            <a:extLst xmlns:a="http://schemas.openxmlformats.org/drawingml/2006/main">
              <a:ext uri="{FF2B5EF4-FFF2-40B4-BE49-F238E27FC236}">
                <a16:creationId xmlns:a16="http://schemas.microsoft.com/office/drawing/2014/main" id="{8EEBCDFA-3790-4AE0-9E0D-7FA4AD37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924300"/>
            <a:ext cx="2714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马上过足瘾</a:t>
            </a:r>
          </a:p>
        </p:txBody>
      </p:sp>
      <p:sp>
        <p:nvSpPr>
          <p:cNvPr id="14" name="type-2">
            <a:extLst xmlns:a="http://schemas.openxmlformats.org/drawingml/2006/main">
              <a:ext uri="{FF2B5EF4-FFF2-40B4-BE49-F238E27FC236}">
                <a16:creationId xmlns:a16="http://schemas.microsoft.com/office/drawing/2014/main" id="{2F652FF1-9441-4501-BBB2-AABA8BFC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933825"/>
            <a:ext cx="2000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春节庆典</a:t>
            </a:r>
          </a:p>
        </p:txBody>
      </p:sp>
      <p:sp>
        <p:nvSpPr>
          <p:cNvPr id="15" name="desc-2">
            <a:extLst xmlns:a="http://schemas.openxmlformats.org/drawingml/2006/main">
              <a:ext uri="{FF2B5EF4-FFF2-40B4-BE49-F238E27FC236}">
                <a16:creationId xmlns:a16="http://schemas.microsoft.com/office/drawing/2014/main" id="{460A021C-FD34-4DD6-AE99-0971B2E3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52875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福气累积、年兽挑战与球员升级</a:t>
            </a:r>
          </a:p>
        </p:txBody>
      </p:sp>
      <p:sp>
        <p:nvSpPr>
          <p:cNvPr id="16" name="date-3">
            <a:extLst xmlns:a="http://schemas.openxmlformats.org/drawingml/2006/main">
              <a:ext uri="{FF2B5EF4-FFF2-40B4-BE49-F238E27FC236}">
                <a16:creationId xmlns:a16="http://schemas.microsoft.com/office/drawing/2014/main" id="{408E3D58-B0B9-4155-BC6D-5CE8A94B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1381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2026.04</a:t>
            </a:r>
          </a:p>
        </p:txBody>
      </p:sp>
      <p:sp>
        <p:nvSpPr>
          <p:cNvPr id="17" name="sample-3">
            <a:extLst xmlns:a="http://schemas.openxmlformats.org/drawingml/2006/main">
              <a:ext uri="{FF2B5EF4-FFF2-40B4-BE49-F238E27FC236}">
                <a16:creationId xmlns:a16="http://schemas.microsoft.com/office/drawing/2014/main" id="{2E339134-7D5B-46B7-9A53-3CF428D4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791075"/>
            <a:ext cx="2714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欧冠荣耀</a:t>
            </a:r>
          </a:p>
        </p:txBody>
      </p:sp>
      <p:sp>
        <p:nvSpPr>
          <p:cNvPr id="18" name="type-3">
            <a:extLst xmlns:a="http://schemas.openxmlformats.org/drawingml/2006/main">
              <a:ext uri="{FF2B5EF4-FFF2-40B4-BE49-F238E27FC236}">
                <a16:creationId xmlns:a16="http://schemas.microsoft.com/office/drawing/2014/main" id="{B601DDBA-4FD9-4CC8-BFB2-54252CD8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800600"/>
            <a:ext cx="2000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赛事回顾</a:t>
            </a:r>
          </a:p>
        </p:txBody>
      </p:sp>
      <p:sp>
        <p:nvSpPr>
          <p:cNvPr id="19" name="desc-3">
            <a:extLst xmlns:a="http://schemas.openxmlformats.org/drawingml/2006/main">
              <a:ext uri="{FF2B5EF4-FFF2-40B4-BE49-F238E27FC236}">
                <a16:creationId xmlns:a16="http://schemas.microsoft.com/office/drawing/2014/main" id="{D54F8D72-AA4B-4339-A1EB-8E39880C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819650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问答、决赛重现与票券兑换</a:t>
            </a:r>
          </a:p>
        </p:txBody>
      </p:sp>
      <p:sp>
        <p:nvSpPr>
          <p:cNvPr id="20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B8EB333C-7F00-46F0-8500-4B13A7DC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rPr>
              <a:t>研究范围：国服《FC足球世界》官方公告与配图，非全量历史活动盘点。[A–D]</a:t>
            </a:r>
          </a:p>
        </p:txBody>
      </p:sp>
    </p:spTree>
    <p:extLst>
      <p:ext uri="{BB962C8B-B14F-4D97-AF65-F5344CB8AC3E}">
        <p14:creationId xmlns:p14="http://schemas.microsoft.com/office/powerpoint/2010/main" val="15454833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52BCB0-7265-42D8-9F4E-CC3C1075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年度最佳：章节之间存在资源衔接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F5F40FF4-B8AB-4A14-A336-11B1DF9F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42天活动分阶段开放，奖励路径产生的票券继续用于拼图。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C598DF4-910A-4594-BF7D-D9082F44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07ED06-F36A-4AC0-A432-7F22C7504A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b1bde2c7eb45e7"/>
          <a:stretch xmlns:a="http://schemas.openxmlformats.org/drawingml/2006/main"/>
        </p:blipFill>
        <p:spPr>
          <a:xfrm xmlns:a="http://schemas.openxmlformats.org/drawingml/2006/main">
            <a:off x="685800" y="2096180"/>
            <a:ext cx="5238750" cy="2379889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520A39-403C-4286-A1BC-7E298289B9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68cbae502941ec"/>
          <a:stretch xmlns:a="http://schemas.openxmlformats.org/drawingml/2006/main"/>
        </p:blipFill>
        <p:spPr>
          <a:xfrm xmlns:a="http://schemas.openxmlformats.org/drawingml/2006/main">
            <a:off x="6267450" y="2096180"/>
            <a:ext cx="5238750" cy="2379889"/>
          </a:xfrm>
          <a:prstGeom xmlns:a="http://schemas.openxmlformats.org/drawingml/2006/main" prst="rect">
            <a:avLst/>
          </a:prstGeom>
        </p:spPr>
      </p:pic>
      <p:sp>
        <p:nvSpPr>
          <p:cNvPr id="6" name="left-caption">
            <a:extLst xmlns:a="http://schemas.openxmlformats.org/drawingml/2006/main">
              <a:ext uri="{FF2B5EF4-FFF2-40B4-BE49-F238E27FC236}">
                <a16:creationId xmlns:a16="http://schemas.microsoft.com/office/drawing/2014/main" id="{CB3A78F8-CE77-457D-8EE2-35055920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57725"/>
            <a:ext cx="519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入口组织五个章节，首期开放其中三个</a:t>
            </a:r>
          </a:p>
        </p:txBody>
      </p:sp>
      <p:sp>
        <p:nvSpPr>
          <p:cNvPr id="7" name="right-caption">
            <a:extLst xmlns:a="http://schemas.openxmlformats.org/drawingml/2006/main">
              <a:ext uri="{FF2B5EF4-FFF2-40B4-BE49-F238E27FC236}">
                <a16:creationId xmlns:a16="http://schemas.microsoft.com/office/drawing/2014/main" id="{5EABFAA4-9D36-4707-BCFE-2EE8491E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577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登录和赛事产出代币，用于推进球员之旅</a:t>
            </a:r>
          </a:p>
        </p:txBody>
      </p:sp>
      <p:sp>
        <p:nvSpPr>
          <p:cNvPr id="8" name="mechanism">
            <a:extLst xmlns:a="http://schemas.openxmlformats.org/drawingml/2006/main">
              <a:ext uri="{FF2B5EF4-FFF2-40B4-BE49-F238E27FC236}">
                <a16:creationId xmlns:a16="http://schemas.microsoft.com/office/drawing/2014/main" id="{A69F9952-FC99-4084-B7E7-950C11C4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路径节点产出票券，拼图累计完成后解锁特惠交换。</a:t>
            </a:r>
          </a:p>
        </p:txBody>
      </p:sp>
      <p:sp>
        <p:nvSpPr>
          <p:cNvPr id="9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3D546F72-483E-4D05-AF2D-AC843829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rPr>
              <a:t>官方规则与界面：[A] EA SPORTS，2025.01.26</a:t>
            </a:r>
          </a:p>
        </p:txBody>
      </p:sp>
    </p:spTree>
    <p:extLst>
      <p:ext uri="{BB962C8B-B14F-4D97-AF65-F5344CB8AC3E}">
        <p14:creationId xmlns:p14="http://schemas.microsoft.com/office/powerpoint/2010/main" val="21291741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C673DDC-C4CC-4A2B-ADEA-D89ED63A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春节：累计进度与球员升级并行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3D40D61A-5706-46BF-847D-5F49B4AF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节庆主题落实到挑战形式、开放日历和奖励成长。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094A5F0-DC2D-4891-842C-F8C5081A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44F16A-9A7C-4866-ACB4-0519F8BFDB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7070b77ce24b11"/>
          <a:stretch xmlns:a="http://schemas.openxmlformats.org/drawingml/2006/main"/>
        </p:blipFill>
        <p:spPr>
          <a:xfrm xmlns:a="http://schemas.openxmlformats.org/drawingml/2006/main">
            <a:off x="724673" y="1971675"/>
            <a:ext cx="2141580" cy="3924300"/>
          </a:xfrm>
          <a:prstGeom xmlns:a="http://schemas.openxmlformats.org/drawingml/2006/main" prst="rect">
            <a:avLst/>
          </a:prstGeom>
        </p:spPr>
      </p:pic>
      <p:sp>
        <p:nvSpPr>
          <p:cNvPr id="5" name="spring-label-0">
            <a:extLst xmlns:a="http://schemas.openxmlformats.org/drawingml/2006/main">
              <a:ext uri="{FF2B5EF4-FFF2-40B4-BE49-F238E27FC236}">
                <a16:creationId xmlns:a16="http://schemas.microsoft.com/office/drawing/2014/main" id="{4C852F06-A6B2-45D3-93F0-D60DF87D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90750"/>
            <a:ext cx="790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每日参与</a:t>
            </a:r>
          </a:p>
        </p:txBody>
      </p:sp>
      <p:sp>
        <p:nvSpPr>
          <p:cNvPr id="6" name="spring-body-0">
            <a:extLst xmlns:a="http://schemas.openxmlformats.org/drawingml/2006/main">
              <a:ext uri="{FF2B5EF4-FFF2-40B4-BE49-F238E27FC236}">
                <a16:creationId xmlns:a16="http://schemas.microsoft.com/office/drawing/2014/main" id="{0CC7F934-0644-4EF3-856C-258C5037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95575"/>
            <a:ext cx="790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首场多人对战与每日挑战积累福气值。</a:t>
            </a:r>
          </a:p>
        </p:txBody>
      </p:sp>
      <p:sp>
        <p:nvSpPr>
          <p:cNvPr id="7" name="spring-label-1">
            <a:extLst xmlns:a="http://schemas.openxmlformats.org/drawingml/2006/main">
              <a:ext uri="{FF2B5EF4-FFF2-40B4-BE49-F238E27FC236}">
                <a16:creationId xmlns:a16="http://schemas.microsoft.com/office/drawing/2014/main" id="{C2024C4D-BC46-4891-B98D-39B71396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62325"/>
            <a:ext cx="790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阶段目标</a:t>
            </a:r>
          </a:p>
        </p:txBody>
      </p:sp>
      <p:sp>
        <p:nvSpPr>
          <p:cNvPr id="8" name="spring-body-1">
            <a:extLst xmlns:a="http://schemas.openxmlformats.org/drawingml/2006/main">
              <a:ext uri="{FF2B5EF4-FFF2-40B4-BE49-F238E27FC236}">
                <a16:creationId xmlns:a16="http://schemas.microsoft.com/office/drawing/2014/main" id="{9917C3DB-7D45-419A-AA12-6C2CFF03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67150"/>
            <a:ext cx="790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升级福袋、领取里程碑，完成年兽挑战。</a:t>
            </a:r>
          </a:p>
        </p:txBody>
      </p:sp>
      <p:sp>
        <p:nvSpPr>
          <p:cNvPr id="9" name="spring-label-2">
            <a:extLst xmlns:a="http://schemas.openxmlformats.org/drawingml/2006/main">
              <a:ext uri="{FF2B5EF4-FFF2-40B4-BE49-F238E27FC236}">
                <a16:creationId xmlns:a16="http://schemas.microsoft.com/office/drawing/2014/main" id="{DBF9A30C-F8F9-40A3-934D-F530CA97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533900"/>
            <a:ext cx="790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持续成长</a:t>
            </a:r>
          </a:p>
        </p:txBody>
      </p:sp>
      <p:sp>
        <p:nvSpPr>
          <p:cNvPr id="10" name="spring-body-2">
            <a:extLst xmlns:a="http://schemas.openxmlformats.org/drawingml/2006/main">
              <a:ext uri="{FF2B5EF4-FFF2-40B4-BE49-F238E27FC236}">
                <a16:creationId xmlns:a16="http://schemas.microsoft.com/office/drawing/2014/main" id="{805F8836-2C75-49E1-8A4C-3752455C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038725"/>
            <a:ext cx="790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鸿运叠彩累计14日任务，交换升级球员。</a:t>
            </a:r>
          </a:p>
        </p:txBody>
      </p:sp>
      <p:sp>
        <p:nvSpPr>
          <p:cNvPr id="11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A13BCBDE-A737-4AB1-B49B-C5C63736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rPr>
              <a:t>官方规则及机制说明图：[B] 2026.02.12；部分章节于2月16日开放。</a:t>
            </a:r>
          </a:p>
        </p:txBody>
      </p:sp>
    </p:spTree>
    <p:extLst>
      <p:ext uri="{BB962C8B-B14F-4D97-AF65-F5344CB8AC3E}">
        <p14:creationId xmlns:p14="http://schemas.microsoft.com/office/powerpoint/2010/main" val="10159196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67E7133-23B1-4021-A8B5-0CF82256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赛事主题：现实进程与经典比赛两种组织方式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706FF35A-9ECD-4379-B2DE-DD0B4489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欧洲杯连接当下赛况，欧冠荣耀重现比赛内容。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6258A98-D927-4DEE-8E6E-4A447357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euro-title">
            <a:extLst xmlns:a="http://schemas.openxmlformats.org/drawingml/2006/main">
              <a:ext uri="{FF2B5EF4-FFF2-40B4-BE49-F238E27FC236}">
                <a16:creationId xmlns:a16="http://schemas.microsoft.com/office/drawing/2014/main" id="{F5352475-677F-4781-8C47-1BB1F128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2024 欧洲杯</a:t>
            </a:r>
          </a:p>
        </p:txBody>
      </p:sp>
      <p:sp>
        <p:nvSpPr>
          <p:cNvPr id="5" name="euro-facts">
            <a:extLst xmlns:a="http://schemas.openxmlformats.org/drawingml/2006/main">
              <a:ext uri="{FF2B5EF4-FFF2-40B4-BE49-F238E27FC236}">
                <a16:creationId xmlns:a16="http://schemas.microsoft.com/office/drawing/2014/main" id="{FE28FD7C-A8DC-46A0-9FF5-CDCB3261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42862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24支参赛队的锦标赛</a:t>
            </a:r>
          </a:p>
          <a:p xmlns:a="http://schemas.openxmlformats.org/drawingml/2006/main">
            <a:pPr algn="l"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点数参与真实比赛竞猜</a:t>
            </a:r>
          </a:p>
          <a:p xmlns:a="http://schemas.openxmlformats.org/drawingml/2006/main">
            <a:pPr algn="l"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球员卡面随登场情况更新</a:t>
            </a:r>
          </a:p>
        </p:txBody>
      </p:sp>
      <p:sp>
        <p:nvSpPr>
          <p:cNvPr id="6" name="euro-reading">
            <a:extLst xmlns:a="http://schemas.openxmlformats.org/drawingml/2006/main">
              <a:ext uri="{FF2B5EF4-FFF2-40B4-BE49-F238E27FC236}">
                <a16:creationId xmlns:a16="http://schemas.microsoft.com/office/drawing/2014/main" id="{F661B781-774A-492C-94B9-6069BFBE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62525"/>
            <a:ext cx="4429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解读：赛事进程可以成为</a:t>
            </a:r>
          </a:p>
          <a:p xmlns:a="http://schemas.openxmlformats.org/drawingml/2006/main">
            <a:pPr algn="l">
              <a:defRPr sz="1800" b="0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回访理由和内容更新依据。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2386EC-3C4E-4683-A689-644ABB7BDE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6b5d3b33b54343"/>
          <a:stretch xmlns:a="http://schemas.openxmlformats.org/drawingml/2006/main"/>
        </p:blipFill>
        <p:spPr>
          <a:xfrm xmlns:a="http://schemas.openxmlformats.org/drawingml/2006/main">
            <a:off x="5334000" y="2174558"/>
            <a:ext cx="6172200" cy="2766060"/>
          </a:xfrm>
          <a:prstGeom xmlns:a="http://schemas.openxmlformats.org/drawingml/2006/main" prst="rect">
            <a:avLst/>
          </a:prstGeom>
        </p:spPr>
      </p:pic>
      <p:sp>
        <p:nvSpPr>
          <p:cNvPr id="8" name="ucl-caption">
            <a:extLst xmlns:a="http://schemas.openxmlformats.org/drawingml/2006/main">
              <a:ext uri="{FF2B5EF4-FFF2-40B4-BE49-F238E27FC236}">
                <a16:creationId xmlns:a16="http://schemas.microsoft.com/office/drawing/2014/main" id="{5AB76721-A04A-45E4-B09E-F2E32EB3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124450"/>
            <a:ext cx="6153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2026 欧冠荣耀：完成决赛赛事，获得奖励</a:t>
            </a:r>
          </a:p>
          <a:p xmlns:a="http://schemas.openxmlformats.org/drawingml/2006/main">
            <a:pPr algn="l"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并解锁球员特价交换。</a:t>
            </a:r>
          </a:p>
        </p:txBody>
      </p:sp>
      <p:sp>
        <p:nvSpPr>
          <p:cNvPr id="9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822C45B-5833-45C3-A5B9-16CFA305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rPr>
              <a:t>官方规则：[C] 2024.06.13、[D] 2026.04.15；右图为[D]官方界面。</a:t>
            </a:r>
          </a:p>
        </p:txBody>
      </p:sp>
    </p:spTree>
    <p:extLst>
      <p:ext uri="{BB962C8B-B14F-4D97-AF65-F5344CB8AC3E}">
        <p14:creationId xmlns:p14="http://schemas.microsoft.com/office/powerpoint/2010/main" val="5701467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91A78A1-D2BE-4A02-8251-758083F5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四个样本的机制对照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0D355722-488B-4FE3-9715-BA301A87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相同的参与与奖励职能，可以由不同的规则承担。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12E2317-0C4D-4AFD-90B7-C1140C56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CDA553-4466-4431-843A-98BFFAFCCC65}"/>
              </a:ext>
            </a:extLst>
          </p:cNvPr>
          <p:cNvGraphicFramePr/>
          <p:nvPr/>
        </p:nvGraphicFramePr>
        <p:xfrm>
          <a:off xmlns:a="http://schemas.openxmlformats.org/drawingml/2006/main" x="685800" y="2038350"/>
          <a:ext xmlns:a="http://schemas.openxmlformats.org/drawingml/2006/main" cx="10820400" cy="38862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562100"/>
                <a:gridCol w="2314575"/>
                <a:gridCol w="2314575"/>
                <a:gridCol w="2314575"/>
                <a:gridCol w="2314575"/>
              </a:tblGrid>
              <a:tr h="777240">
                <a:tc>
                  <a:txBody>
                    <a:bodyPr lIns="142875" tIns="85725" rIns="142875" bIns="85725"/>
                    <a:lstStyle/>
                    <a:p>
                      <a:pPr algn="l"/>
                      <a:r>
                        <a:rPr sz="1725" b="1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比较维度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T w="6668">
                      <a:solidFill>
                        <a:srgbClr val="294250"/>
                      </a:solidFill>
                      <a:prstDash val="solid"/>
                    </a:lnT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/>
                      <a:r>
                        <a:rPr sz="1725" b="1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年度最佳 [A]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T w="6668">
                      <a:solidFill>
                        <a:srgbClr val="294250"/>
                      </a:solidFill>
                      <a:prstDash val="solid"/>
                    </a:lnT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/>
                      <a:r>
                        <a:rPr sz="1725" b="1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春节 [B]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T w="6668">
                      <a:solidFill>
                        <a:srgbClr val="294250"/>
                      </a:solidFill>
                      <a:prstDash val="solid"/>
                    </a:lnT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/>
                      <a:r>
                        <a:rPr sz="1725" b="1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欧洲杯 [C]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T w="6668">
                      <a:solidFill>
                        <a:srgbClr val="294250"/>
                      </a:solidFill>
                      <a:prstDash val="solid"/>
                    </a:lnT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/>
                      <a:r>
                        <a:rPr sz="1725" b="1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欧冠荣耀 [D]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T w="6668">
                      <a:solidFill>
                        <a:srgbClr val="294250"/>
                      </a:solidFill>
                      <a:prstDash val="solid"/>
                    </a:lnT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</a:tr>
              <a:tr h="777240">
                <a:tc>
                  <a:txBody>
                    <a:bodyPr lIns="142875" tIns="85725" rIns="142875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参与行为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登录、赛事</a:t>
                      </a:r>
                    </a:p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每周任务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对战、挑战</a:t>
                      </a:r>
                    </a:p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节日登录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锦标赛</a:t>
                      </a:r>
                    </a:p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比赛竞猜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对战、问答</a:t>
                      </a:r>
                    </a:p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主题赛事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777240">
                <a:tc>
                  <a:txBody>
                    <a:bodyPr lIns="142875" tIns="85725" rIns="142875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推进机制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代币路径</a:t>
                      </a:r>
                    </a:p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票券拼图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福气里程碑</a:t>
                      </a:r>
                    </a:p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累计升级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赛程联动</a:t>
                      </a:r>
                    </a:p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赛事推进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问答里程碑</a:t>
                      </a:r>
                    </a:p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赛事与任务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777240">
                <a:tc>
                  <a:txBody>
                    <a:bodyPr lIns="142875" tIns="85725" rIns="142875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奖励衔接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球员奖励</a:t>
                      </a:r>
                    </a:p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交换资格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福利、球员</a:t>
                      </a:r>
                    </a:p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升级交换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球员与</a:t>
                      </a:r>
                    </a:p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竞猜奖励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球员、票券</a:t>
                      </a:r>
                    </a:p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特价交换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777240">
                <a:tc>
                  <a:txBody>
                    <a:bodyPr lIns="142875" tIns="85725" rIns="142875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节奏依据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分阶段开放</a:t>
                      </a:r>
                    </a:p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日常与每周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节日节点</a:t>
                      </a:r>
                    </a:p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14日累计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真实赛程</a:t>
                      </a:r>
                    </a:p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赛况更新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日常问答</a:t>
                      </a:r>
                    </a:p>
                    <a:p>
                      <a:pPr algn="l"/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分章节挑战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</a:tbl>
          </a:graphicData>
        </a:graphic>
      </p:graphicFrame>
      <p:sp>
        <p:nvSpPr>
          <p:cNvPr id="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4A0EBF39-719C-47F0-AD83-6ED42C04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rPr>
              <a:t>按公告可确认机制摘录。“未列出”不代表活动中不存在。来源：[A–D]</a:t>
            </a:r>
          </a:p>
        </p:txBody>
      </p:sp>
    </p:spTree>
    <p:extLst>
      <p:ext uri="{BB962C8B-B14F-4D97-AF65-F5344CB8AC3E}">
        <p14:creationId xmlns:p14="http://schemas.microsoft.com/office/powerpoint/2010/main" val="2574159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722E170-D6AC-4848-B102-026C4980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活动框架：共同职能与可变模块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D75B53AA-AAAD-4441-A847-A7244D81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以下是对样本的归纳，各模块可以并行，并非每期固定的线性流程。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5075791-04AE-4AB6-A6C8-E448C59A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4E89E59B-7962-4F76-B446-2517B9DB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赛季活动</a:t>
            </a:r>
          </a:p>
        </p:txBody>
      </p:sp>
      <p:sp>
        <p:nvSpPr>
          <p:cNvPr id="5" name="root-to-trunk">
            <a:extLst xmlns:a="http://schemas.openxmlformats.org/drawingml/2006/main">
              <a:ext uri="{FF2B5EF4-FFF2-40B4-BE49-F238E27FC236}">
                <a16:creationId xmlns:a16="http://schemas.microsoft.com/office/drawing/2014/main" id="{1AE74E76-54AB-4BA1-851F-3AD402A4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89572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5636F"/>
            </a:solidFill>
          </a:ln>
        </p:spPr>
      </p:sp>
      <p:sp>
        <p:nvSpPr>
          <p:cNvPr id="6" name="tree-trunk">
            <a:extLst xmlns:a="http://schemas.openxmlformats.org/drawingml/2006/main">
              <a:ext uri="{FF2B5EF4-FFF2-40B4-BE49-F238E27FC236}">
                <a16:creationId xmlns:a16="http://schemas.microsoft.com/office/drawing/2014/main" id="{AD7491FD-858E-4777-B477-9104B1F5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33625"/>
            <a:ext cx="0" cy="3124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5636F"/>
            </a:solidFill>
          </a:ln>
        </p:spPr>
      </p:sp>
      <p:sp>
        <p:nvSpPr>
          <p:cNvPr id="7" name="branch-0">
            <a:extLst xmlns:a="http://schemas.openxmlformats.org/drawingml/2006/main">
              <a:ext uri="{FF2B5EF4-FFF2-40B4-BE49-F238E27FC236}">
                <a16:creationId xmlns:a16="http://schemas.microsoft.com/office/drawing/2014/main" id="{CD6C56B2-98CA-45A9-9CE0-34BB0B88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33625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5636F"/>
            </a:solidFill>
          </a:ln>
        </p:spPr>
      </p:sp>
      <p:sp>
        <p:nvSpPr>
          <p:cNvPr id="8" name="tree-label-0">
            <a:extLst xmlns:a="http://schemas.openxmlformats.org/drawingml/2006/main">
              <a:ext uri="{FF2B5EF4-FFF2-40B4-BE49-F238E27FC236}">
                <a16:creationId xmlns:a16="http://schemas.microsoft.com/office/drawing/2014/main" id="{14A73C38-68A6-43D7-A6DD-63B77907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52650"/>
            <a:ext cx="2143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主题与入口</a:t>
            </a:r>
          </a:p>
        </p:txBody>
      </p:sp>
      <p:sp>
        <p:nvSpPr>
          <p:cNvPr id="9" name="tree-desc-0">
            <a:extLst xmlns:a="http://schemas.openxmlformats.org/drawingml/2006/main">
              <a:ext uri="{FF2B5EF4-FFF2-40B4-BE49-F238E27FC236}">
                <a16:creationId xmlns:a16="http://schemas.microsoft.com/office/drawing/2014/main" id="{3176D80B-597E-44D9-B125-3C52AB7B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81225"/>
            <a:ext cx="5657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荣誉、赛事或节庆，组织章节导览</a:t>
            </a:r>
          </a:p>
        </p:txBody>
      </p:sp>
      <p:sp>
        <p:nvSpPr>
          <p:cNvPr id="10" name="branch-1">
            <a:extLst xmlns:a="http://schemas.openxmlformats.org/drawingml/2006/main">
              <a:ext uri="{FF2B5EF4-FFF2-40B4-BE49-F238E27FC236}">
                <a16:creationId xmlns:a16="http://schemas.microsoft.com/office/drawing/2014/main" id="{CCD06991-6700-46E4-978A-A2301ECA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14675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5636F"/>
            </a:solidFill>
          </a:ln>
        </p:spPr>
      </p:sp>
      <p:sp>
        <p:nvSpPr>
          <p:cNvPr id="11" name="tree-label-1">
            <a:extLst xmlns:a="http://schemas.openxmlformats.org/drawingml/2006/main">
              <a:ext uri="{FF2B5EF4-FFF2-40B4-BE49-F238E27FC236}">
                <a16:creationId xmlns:a16="http://schemas.microsoft.com/office/drawing/2014/main" id="{03AB84B1-2290-44AA-82E9-15D10231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933700"/>
            <a:ext cx="2143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每日参与</a:t>
            </a:r>
          </a:p>
        </p:txBody>
      </p:sp>
      <p:sp>
        <p:nvSpPr>
          <p:cNvPr id="12" name="tree-desc-1">
            <a:extLst xmlns:a="http://schemas.openxmlformats.org/drawingml/2006/main">
              <a:ext uri="{FF2B5EF4-FFF2-40B4-BE49-F238E27FC236}">
                <a16:creationId xmlns:a16="http://schemas.microsoft.com/office/drawing/2014/main" id="{E4D74552-C1C6-408E-B074-376FDE3C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62275"/>
            <a:ext cx="5657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登录、对战、问答与任务，形成资源产出</a:t>
            </a:r>
          </a:p>
        </p:txBody>
      </p:sp>
      <p:sp>
        <p:nvSpPr>
          <p:cNvPr id="13" name="branch-2">
            <a:extLst xmlns:a="http://schemas.openxmlformats.org/drawingml/2006/main">
              <a:ext uri="{FF2B5EF4-FFF2-40B4-BE49-F238E27FC236}">
                <a16:creationId xmlns:a16="http://schemas.microsoft.com/office/drawing/2014/main" id="{E652554C-9A83-4D54-89F6-699692BA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95725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5636F"/>
            </a:solidFill>
          </a:ln>
        </p:spPr>
      </p:sp>
      <p:sp>
        <p:nvSpPr>
          <p:cNvPr id="14" name="tree-label-2">
            <a:extLst xmlns:a="http://schemas.openxmlformats.org/drawingml/2006/main">
              <a:ext uri="{FF2B5EF4-FFF2-40B4-BE49-F238E27FC236}">
                <a16:creationId xmlns:a16="http://schemas.microsoft.com/office/drawing/2014/main" id="{7E04A476-A827-4121-9A6F-F375EFB8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714750"/>
            <a:ext cx="2143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推进与目标</a:t>
            </a:r>
          </a:p>
        </p:txBody>
      </p:sp>
      <p:sp>
        <p:nvSpPr>
          <p:cNvPr id="15" name="tree-desc-2">
            <a:extLst xmlns:a="http://schemas.openxmlformats.org/drawingml/2006/main">
              <a:ext uri="{FF2B5EF4-FFF2-40B4-BE49-F238E27FC236}">
                <a16:creationId xmlns:a16="http://schemas.microsoft.com/office/drawing/2014/main" id="{8B1A5B7C-AE6A-4194-A79D-B139A64A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43325"/>
            <a:ext cx="5657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路径、拼图、累计或挑战，支持不同进度</a:t>
            </a:r>
          </a:p>
        </p:txBody>
      </p:sp>
      <p:sp>
        <p:nvSpPr>
          <p:cNvPr id="16" name="branch-3">
            <a:extLst xmlns:a="http://schemas.openxmlformats.org/drawingml/2006/main">
              <a:ext uri="{FF2B5EF4-FFF2-40B4-BE49-F238E27FC236}">
                <a16:creationId xmlns:a16="http://schemas.microsoft.com/office/drawing/2014/main" id="{7ED207F5-1C56-46FC-9A42-8ADFF06D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76775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5636F"/>
            </a:solidFill>
          </a:ln>
        </p:spPr>
      </p:sp>
      <p:sp>
        <p:nvSpPr>
          <p:cNvPr id="17" name="tree-label-3">
            <a:extLst xmlns:a="http://schemas.openxmlformats.org/drawingml/2006/main">
              <a:ext uri="{FF2B5EF4-FFF2-40B4-BE49-F238E27FC236}">
                <a16:creationId xmlns:a16="http://schemas.microsoft.com/office/drawing/2014/main" id="{2DE047A5-C18C-4E57-AD1E-73C614D7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495800"/>
            <a:ext cx="2143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奖励与交换</a:t>
            </a:r>
          </a:p>
        </p:txBody>
      </p:sp>
      <p:sp>
        <p:nvSpPr>
          <p:cNvPr id="18" name="tree-desc-3">
            <a:extLst xmlns:a="http://schemas.openxmlformats.org/drawingml/2006/main">
              <a:ext uri="{FF2B5EF4-FFF2-40B4-BE49-F238E27FC236}">
                <a16:creationId xmlns:a16="http://schemas.microsoft.com/office/drawing/2014/main" id="{904D7DB6-E682-4644-82CC-AA4BFF1B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24375"/>
            <a:ext cx="5657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直接奖励、代币兑换或解锁交换资格</a:t>
            </a:r>
          </a:p>
        </p:txBody>
      </p:sp>
      <p:sp>
        <p:nvSpPr>
          <p:cNvPr id="19" name="branch-4">
            <a:extLst xmlns:a="http://schemas.openxmlformats.org/drawingml/2006/main">
              <a:ext uri="{FF2B5EF4-FFF2-40B4-BE49-F238E27FC236}">
                <a16:creationId xmlns:a16="http://schemas.microsoft.com/office/drawing/2014/main" id="{B8F82E92-FE76-437F-A67E-28E5EB40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457825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5636F"/>
            </a:solidFill>
          </a:ln>
        </p:spPr>
      </p:sp>
      <p:sp>
        <p:nvSpPr>
          <p:cNvPr id="20" name="tree-label-4">
            <a:extLst xmlns:a="http://schemas.openxmlformats.org/drawingml/2006/main">
              <a:ext uri="{FF2B5EF4-FFF2-40B4-BE49-F238E27FC236}">
                <a16:creationId xmlns:a16="http://schemas.microsoft.com/office/drawing/2014/main" id="{D666E73A-91E2-471D-9B5B-ED5BE2A3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276850"/>
            <a:ext cx="2143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成长与收集</a:t>
            </a:r>
          </a:p>
        </p:txBody>
      </p:sp>
      <p:sp>
        <p:nvSpPr>
          <p:cNvPr id="21" name="tree-desc-4">
            <a:extLst xmlns:a="http://schemas.openxmlformats.org/drawingml/2006/main">
              <a:ext uri="{FF2B5EF4-FFF2-40B4-BE49-F238E27FC236}">
                <a16:creationId xmlns:a16="http://schemas.microsoft.com/office/drawing/2014/main" id="{FAE37728-4D9F-4716-BB46-485041DF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305425"/>
            <a:ext cx="5657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球员入队，衔接图鉴、徽章或队徽</a:t>
            </a:r>
          </a:p>
        </p:txBody>
      </p:sp>
      <p:sp>
        <p:nvSpPr>
          <p:cNvPr id="2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4175F8A-195B-4AC6-8510-09014FBC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rPr>
              <a:t>归纳自[A–D]。开放节奏贯穿各模块，收集与成长规则随版本变化。</a:t>
            </a:r>
          </a:p>
        </p:txBody>
      </p:sp>
    </p:spTree>
    <p:extLst>
      <p:ext uri="{BB962C8B-B14F-4D97-AF65-F5344CB8AC3E}">
        <p14:creationId xmlns:p14="http://schemas.microsoft.com/office/powerpoint/2010/main" val="1715689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64169D-F41D-4EF2-8AF3-9C9AF7AF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研究对新赛季设计的启示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357261C2-CC01-4E7F-9A8C-F2C96124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将观察转化为可评审的设计选择，效果在试点中验证。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F4407F8-F42C-458C-9BE6-67F43BB3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CB8120-5EB3-4640-93BF-4A04C1FF3626}"/>
              </a:ext>
            </a:extLst>
          </p:cNvPr>
          <p:cNvGraphicFramePr/>
          <p:nvPr/>
        </p:nvGraphicFramePr>
        <p:xfrm>
          <a:off xmlns:a="http://schemas.openxmlformats.org/drawingml/2006/main" x="685800" y="2133600"/>
          <a:ext xmlns:a="http://schemas.openxmlformats.org/drawingml/2006/main" cx="10820400" cy="3524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467100"/>
                <a:gridCol w="3905250"/>
                <a:gridCol w="3448050"/>
              </a:tblGrid>
              <a:tr h="881063">
                <a:tc>
                  <a:txBody>
                    <a:bodyPr lIns="142875" tIns="85725" rIns="142875" bIns="85725"/>
                    <a:lstStyle/>
                    <a:p>
                      <a:pPr algn="l"/>
                      <a:r>
                        <a:rPr sz="1725" b="1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样本观察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T w="6668">
                      <a:solidFill>
                        <a:srgbClr val="294250"/>
                      </a:solidFill>
                      <a:prstDash val="solid"/>
                    </a:lnT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/>
                      <a:r>
                        <a:rPr sz="1725" b="1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我们的设计判断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T w="6668">
                      <a:solidFill>
                        <a:srgbClr val="294250"/>
                      </a:solidFill>
                      <a:prstDash val="solid"/>
                    </a:lnT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/>
                      <a:r>
                        <a:rPr sz="1725" b="1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对应交付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T w="6668">
                      <a:solidFill>
                        <a:srgbClr val="294250"/>
                      </a:solidFill>
                      <a:prstDash val="solid"/>
                    </a:lnT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</a:tr>
              <a:tr h="881063">
                <a:tc>
                  <a:txBody>
                    <a:bodyPr lIns="142875" tIns="85725" rIns="142875" bIns="85725"/>
                    <a:lstStyle/>
                    <a:p>
                      <a:pPr algn="l"/>
                      <a:r>
                        <a:rPr sz="180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路径、拼图和里程碑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承担不同推进职能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/>
                      <a:r>
                        <a:rPr sz="180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选择适合主题的推进方式，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明确每个资源的用途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/>
                      <a:r>
                        <a:rPr sz="180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章节关系、资源流向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与门槛测算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881063">
                <a:tc>
                  <a:txBody>
                    <a:bodyPr lIns="142875" tIns="85725" rIns="142875" bIns="85725"/>
                    <a:lstStyle/>
                    <a:p>
                      <a:pPr algn="l"/>
                      <a:r>
                        <a:rPr sz="180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主题能改变比赛内容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或现实赛事联动方式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/>
                      <a:r>
                        <a:rPr sz="180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让球星特征进入挑战规则，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形成具体参与体验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/>
                      <a:r>
                        <a:rPr sz="180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关卡目标、比赛条件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与交互原型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881063">
                <a:tc>
                  <a:txBody>
                    <a:bodyPr lIns="142875" tIns="85725" rIns="142875" bIns="85725"/>
                    <a:lstStyle/>
                    <a:p>
                      <a:pPr algn="l"/>
                      <a:r>
                        <a:rPr sz="180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分阶段开放与日常累计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共同组织活动节奏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/>
                      <a:r>
                        <a:rPr sz="180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分别设计每日目标、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阶段目标与补领安排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/>
                      <a:r>
                        <a:rPr sz="180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内容日历、目标清单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与异常状态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</a:tbl>
          </a:graphicData>
        </a:graphic>
      </p:graphicFrame>
      <p:sp>
        <p:nvSpPr>
          <p:cNvPr id="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3DE1298C-AD7B-4B78-A30D-1B817D92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rPr>
              <a:t>本页为基于样本的设计提议，不据公开公告推断留存、收入或成本。</a:t>
            </a:r>
          </a:p>
        </p:txBody>
      </p:sp>
    </p:spTree>
    <p:extLst>
      <p:ext uri="{BB962C8B-B14F-4D97-AF65-F5344CB8AC3E}">
        <p14:creationId xmlns:p14="http://schemas.microsoft.com/office/powerpoint/2010/main" val="12681706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67324E-59E2-41C8-BDA5-C9885ED9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合作目标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E3839D55-8097-4E3E-9B1B-6D7F22BD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基于上述研究，拟将活动设计落实为可排期、可制作、可验收的持续交付。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5CB4C78-2535-4610-9F53-B7F05065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goal-title-0">
            <a:extLst xmlns:a="http://schemas.openxmlformats.org/drawingml/2006/main">
              <a:ext uri="{FF2B5EF4-FFF2-40B4-BE49-F238E27FC236}">
                <a16:creationId xmlns:a16="http://schemas.microsoft.com/office/drawing/2014/main" id="{13EF17BF-4648-4F96-85E8-AD649E31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4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主题表达</a:t>
            </a:r>
          </a:p>
        </p:txBody>
      </p:sp>
      <p:sp>
        <p:nvSpPr>
          <p:cNvPr id="5" name="goal-body-0">
            <a:extLst xmlns:a="http://schemas.openxmlformats.org/drawingml/2006/main">
              <a:ext uri="{FF2B5EF4-FFF2-40B4-BE49-F238E27FC236}">
                <a16:creationId xmlns:a16="http://schemas.microsoft.com/office/drawing/2014/main" id="{97B294AF-6609-4D1D-A83B-E26FAED1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194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将主题落实到章节目标与玩家选择，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让球星特色影响参与方式。</a:t>
            </a:r>
          </a:p>
        </p:txBody>
      </p:sp>
      <p:sp>
        <p:nvSpPr>
          <p:cNvPr id="6" name="goal-title-1">
            <a:extLst xmlns:a="http://schemas.openxmlformats.org/drawingml/2006/main">
              <a:ext uri="{FF2B5EF4-FFF2-40B4-BE49-F238E27FC236}">
                <a16:creationId xmlns:a16="http://schemas.microsoft.com/office/drawing/2014/main" id="{41F495CB-EA71-482F-B10A-A1A989E4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003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4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制作明确</a:t>
            </a:r>
          </a:p>
        </p:txBody>
      </p:sp>
      <p:sp>
        <p:nvSpPr>
          <p:cNvPr id="7" name="goal-body-1">
            <a:extLst xmlns:a="http://schemas.openxmlformats.org/drawingml/2006/main">
              <a:ext uri="{FF2B5EF4-FFF2-40B4-BE49-F238E27FC236}">
                <a16:creationId xmlns:a16="http://schemas.microsoft.com/office/drawing/2014/main" id="{4777B37B-926C-42D6-ABD9-09BFD20C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194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同步交付规则、字段、界面状态与素材需求，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提前识别制作依赖。</a:t>
            </a:r>
          </a:p>
        </p:txBody>
      </p:sp>
      <p:sp>
        <p:nvSpPr>
          <p:cNvPr id="8" name="goal-title-2">
            <a:extLst xmlns:a="http://schemas.openxmlformats.org/drawingml/2006/main">
              <a:ext uri="{FF2B5EF4-FFF2-40B4-BE49-F238E27FC236}">
                <a16:creationId xmlns:a16="http://schemas.microsoft.com/office/drawing/2014/main" id="{ED3653CC-8CAC-4260-BA8E-4CB4A72C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38625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4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持续更新</a:t>
            </a:r>
          </a:p>
        </p:txBody>
      </p:sp>
      <p:sp>
        <p:nvSpPr>
          <p:cNvPr id="9" name="goal-body-2">
            <a:extLst xmlns:a="http://schemas.openxmlformats.org/drawingml/2006/main">
              <a:ext uri="{FF2B5EF4-FFF2-40B4-BE49-F238E27FC236}">
                <a16:creationId xmlns:a16="http://schemas.microsoft.com/office/drawing/2014/main" id="{7A522BFE-E4C5-41F3-A10D-08196DDA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将整期目标拆到每周内容与每日循环，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保持奖励路径清晰。</a:t>
            </a:r>
          </a:p>
        </p:txBody>
      </p:sp>
      <p:sp>
        <p:nvSpPr>
          <p:cNvPr id="10" name="goal-title-3">
            <a:extLst xmlns:a="http://schemas.openxmlformats.org/drawingml/2006/main">
              <a:ext uri="{FF2B5EF4-FFF2-40B4-BE49-F238E27FC236}">
                <a16:creationId xmlns:a16="http://schemas.microsoft.com/office/drawing/2014/main" id="{5F28CE1D-B6AA-4301-B484-EA75B03B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238625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4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结果复盘</a:t>
            </a:r>
          </a:p>
        </p:txBody>
      </p:sp>
      <p:sp>
        <p:nvSpPr>
          <p:cNvPr id="11" name="goal-body-3">
            <a:extLst xmlns:a="http://schemas.openxmlformats.org/drawingml/2006/main">
              <a:ext uri="{FF2B5EF4-FFF2-40B4-BE49-F238E27FC236}">
                <a16:creationId xmlns:a16="http://schemas.microsoft.com/office/drawing/2014/main" id="{B39A808F-7A1A-4F77-88D9-C30F65F1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577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通过参与、完成和交付记录，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提出下一期的具体调整。</a:t>
            </a:r>
          </a:p>
        </p:txBody>
      </p:sp>
    </p:spTree>
    <p:extLst>
      <p:ext uri="{BB962C8B-B14F-4D97-AF65-F5344CB8AC3E}">
        <p14:creationId xmlns:p14="http://schemas.microsoft.com/office/powerpoint/2010/main" val="17505092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167EB3-E53E-4423-8244-84E08A7C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合作范围与决策分工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1ABA7653-BA87-4702-B871-6174B9F6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首期以活动内容设计为主，配置制作与上线执行按工具、权限和人员逐步扩大。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3C05774-B422-4E94-A928-5B41C71F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5D2CD4-19D0-4BDF-8947-66F490E60B4F}"/>
              </a:ext>
            </a:extLst>
          </p:cNvPr>
          <p:cNvGraphicFramePr/>
          <p:nvPr/>
        </p:nvGraphicFramePr>
        <p:xfrm>
          <a:off xmlns:a="http://schemas.openxmlformats.org/drawingml/2006/main" x="685800" y="2076450"/>
          <a:ext xmlns:a="http://schemas.openxmlformats.org/drawingml/2006/main" cx="10820400" cy="37814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905000"/>
                <a:gridCol w="4419600"/>
                <a:gridCol w="4495800"/>
              </a:tblGrid>
              <a:tr h="630238"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</a:t>
                      </a:r>
                    </a:p>
                  </a:txBody>
                  <a:tcPr marL="171450" marR="171450" marT="11430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T w="6668">
                      <a:solidFill>
                        <a:srgbClr val="294250"/>
                      </a:solidFill>
                      <a:prstDash val="solid"/>
                    </a:lnT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我们拟承担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T w="6668">
                      <a:solidFill>
                        <a:srgbClr val="294250"/>
                      </a:solidFill>
                      <a:prstDash val="solid"/>
                    </a:lnT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FC团队确认或决策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T w="6668">
                      <a:solidFill>
                        <a:srgbClr val="294250"/>
                      </a:solidFill>
                      <a:prstDash val="solid"/>
                    </a:lnT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</a:tr>
              <a:tr h="630238"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主题与玩法</a:t>
                      </a:r>
                    </a:p>
                  </a:txBody>
                  <a:tcPr marL="171450" marR="171450" marT="11430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概念、章节及内容清单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方向、档期与系统限制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30238"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任务与奖励</a:t>
                      </a:r>
                    </a:p>
                  </a:txBody>
                  <a:tcPr marL="171450" marR="171450" marT="11430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规则、配置建议及测算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经济、评级与投放审批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30238"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活动 UI/UX</a:t>
                      </a:r>
                    </a:p>
                  </a:txBody>
                  <a:tcPr marL="171450" marR="171450" marT="11430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流程、原型及素材需求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设计规范与制作标准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30238"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制作与验收</a:t>
                      </a:r>
                    </a:p>
                  </a:txBody>
                  <a:tcPr marL="171450" marR="171450" marT="11430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配置映射、修订与内容验收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客户端、服务端及版本接入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30238"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上线与复盘</a:t>
                      </a:r>
                    </a:p>
                  </a:txBody>
                  <a:tcPr marL="171450" marR="171450" marT="11430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观察结果、分析及调整建议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发布审批与线上变更权限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9847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DB47832-84FB-48C4-B6F6-C3AC02EA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每期的交付清单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37E3E19-7023-496C-9D99-9D37195B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delivery-headline">
            <a:extLst xmlns:a="http://schemas.openxmlformats.org/drawingml/2006/main">
              <a:ext uri="{FF2B5EF4-FFF2-40B4-BE49-F238E27FC236}">
                <a16:creationId xmlns:a16="http://schemas.microsoft.com/office/drawing/2014/main" id="{07FCEBF0-2E78-4EC4-86DD-D7F9D7A7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4429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一套可以进入</a:t>
            </a:r>
          </a:p>
          <a:p xmlns:a="http://schemas.openxmlformats.org/drawingml/2006/main">
            <a: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制作评审的设计包</a:t>
            </a:r>
          </a:p>
        </p:txBody>
      </p:sp>
      <p:sp>
        <p:nvSpPr>
          <p:cNvPr id="4" name="delivery-context">
            <a:extLst xmlns:a="http://schemas.openxmlformats.org/drawingml/2006/main">
              <a:ext uri="{FF2B5EF4-FFF2-40B4-BE49-F238E27FC236}">
                <a16:creationId xmlns:a16="http://schemas.microsoft.com/office/drawing/2014/main" id="{454E9478-9E71-45F2-844E-8EDA7E22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4429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交付颗粒度与对方模板对齐。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新增系统能力单独提出需求。</a:t>
            </a:r>
          </a:p>
        </p:txBody>
      </p:sp>
      <p:sp>
        <p:nvSpPr>
          <p:cNvPr id="5" name="delivery-title-0">
            <a:extLst xmlns:a="http://schemas.openxmlformats.org/drawingml/2006/main">
              <a:ext uri="{FF2B5EF4-FFF2-40B4-BE49-F238E27FC236}">
                <a16:creationId xmlns:a16="http://schemas.microsoft.com/office/drawing/2014/main" id="{7AEFB6B0-590E-46C9-A4A2-35F5541C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赛季总案</a:t>
            </a:r>
          </a:p>
        </p:txBody>
      </p:sp>
      <p:sp>
        <p:nvSpPr>
          <p:cNvPr id="6" name="delivery-body-0">
            <a:extLst xmlns:a="http://schemas.openxmlformats.org/drawingml/2006/main">
              <a:ext uri="{FF2B5EF4-FFF2-40B4-BE49-F238E27FC236}">
                <a16:creationId xmlns:a16="http://schemas.microsoft.com/office/drawing/2014/main" id="{299C67D5-3891-4BA3-96BD-A459DED7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33625"/>
            <a:ext cx="552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1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71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1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主题、目标玩家、章节关系和日历</a:t>
            </a:r>
          </a:p>
        </p:txBody>
      </p:sp>
      <p:sp>
        <p:nvSpPr>
          <p:cNvPr id="7" name="delivery-title-1">
            <a:extLst xmlns:a="http://schemas.openxmlformats.org/drawingml/2006/main">
              <a:ext uri="{FF2B5EF4-FFF2-40B4-BE49-F238E27FC236}">
                <a16:creationId xmlns:a16="http://schemas.microsoft.com/office/drawing/2014/main" id="{693D7F07-0723-4090-AE01-5D050ACB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8605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完整内容</a:t>
            </a:r>
          </a:p>
        </p:txBody>
      </p:sp>
      <p:sp>
        <p:nvSpPr>
          <p:cNvPr id="8" name="delivery-body-1">
            <a:extLst xmlns:a="http://schemas.openxmlformats.org/drawingml/2006/main">
              <a:ext uri="{FF2B5EF4-FFF2-40B4-BE49-F238E27FC236}">
                <a16:creationId xmlns:a16="http://schemas.microsoft.com/office/drawing/2014/main" id="{5AC7C90F-D683-44D3-AED9-7FE98557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19425"/>
            <a:ext cx="552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1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71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1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关卡、任务、奖励节点与获取方式</a:t>
            </a:r>
          </a:p>
        </p:txBody>
      </p:sp>
      <p:sp>
        <p:nvSpPr>
          <p:cNvPr id="9" name="delivery-title-2">
            <a:extLst xmlns:a="http://schemas.openxmlformats.org/drawingml/2006/main">
              <a:ext uri="{FF2B5EF4-FFF2-40B4-BE49-F238E27FC236}">
                <a16:creationId xmlns:a16="http://schemas.microsoft.com/office/drawing/2014/main" id="{E56D8F70-D498-4665-ACED-0ADB9802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7185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规则与数值</a:t>
            </a:r>
          </a:p>
        </p:txBody>
      </p:sp>
      <p:sp>
        <p:nvSpPr>
          <p:cNvPr id="10" name="delivery-body-2">
            <a:extLst xmlns:a="http://schemas.openxmlformats.org/drawingml/2006/main">
              <a:ext uri="{FF2B5EF4-FFF2-40B4-BE49-F238E27FC236}">
                <a16:creationId xmlns:a16="http://schemas.microsoft.com/office/drawing/2014/main" id="{AFE2A3A4-9815-4776-825E-EA33B386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05225"/>
            <a:ext cx="552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1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71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1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产出、消耗、门槛与异常状态</a:t>
            </a:r>
          </a:p>
        </p:txBody>
      </p:sp>
      <p:sp>
        <p:nvSpPr>
          <p:cNvPr id="11" name="delivery-title-3">
            <a:extLst xmlns:a="http://schemas.openxmlformats.org/drawingml/2006/main">
              <a:ext uri="{FF2B5EF4-FFF2-40B4-BE49-F238E27FC236}">
                <a16:creationId xmlns:a16="http://schemas.microsoft.com/office/drawing/2014/main" id="{E583C694-BC13-4EC7-9842-286BDC7A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5765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UI/UX材料</a:t>
            </a:r>
          </a:p>
        </p:txBody>
      </p:sp>
      <p:sp>
        <p:nvSpPr>
          <p:cNvPr id="12" name="delivery-body-3">
            <a:extLst xmlns:a="http://schemas.openxmlformats.org/drawingml/2006/main">
              <a:ext uri="{FF2B5EF4-FFF2-40B4-BE49-F238E27FC236}">
                <a16:creationId xmlns:a16="http://schemas.microsoft.com/office/drawing/2014/main" id="{B5E9CEA3-4ABC-4AA8-A2D7-CEB04F0A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91025"/>
            <a:ext cx="552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1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71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1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流程、线框、交互原型和文案</a:t>
            </a:r>
          </a:p>
        </p:txBody>
      </p:sp>
      <p:sp>
        <p:nvSpPr>
          <p:cNvPr id="13" name="delivery-title-4">
            <a:extLst xmlns:a="http://schemas.openxmlformats.org/drawingml/2006/main">
              <a:ext uri="{FF2B5EF4-FFF2-40B4-BE49-F238E27FC236}">
                <a16:creationId xmlns:a16="http://schemas.microsoft.com/office/drawing/2014/main" id="{4D2CF26C-6D5C-4870-8E29-900BCA90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4345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制作材料</a:t>
            </a:r>
          </a:p>
        </p:txBody>
      </p:sp>
      <p:sp>
        <p:nvSpPr>
          <p:cNvPr id="14" name="delivery-body-4">
            <a:extLst xmlns:a="http://schemas.openxmlformats.org/drawingml/2006/main">
              <a:ext uri="{FF2B5EF4-FFF2-40B4-BE49-F238E27FC236}">
                <a16:creationId xmlns:a16="http://schemas.microsoft.com/office/drawing/2014/main" id="{F7A69674-BC38-45BE-B181-A6073F84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76825"/>
            <a:ext cx="552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1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71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1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素材清单、字段映射和开发需求</a:t>
            </a:r>
          </a:p>
        </p:txBody>
      </p:sp>
      <p:sp>
        <p:nvSpPr>
          <p:cNvPr id="15" name="delivery-title-5">
            <a:extLst xmlns:a="http://schemas.openxmlformats.org/drawingml/2006/main">
              <a:ext uri="{FF2B5EF4-FFF2-40B4-BE49-F238E27FC236}">
                <a16:creationId xmlns:a16="http://schemas.microsoft.com/office/drawing/2014/main" id="{14126FFC-D0C3-4AC2-BE5E-E5D08BC7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42925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运营材料</a:t>
            </a:r>
          </a:p>
        </p:txBody>
      </p:sp>
      <p:sp>
        <p:nvSpPr>
          <p:cNvPr id="16" name="delivery-body-5">
            <a:extLst xmlns:a="http://schemas.openxmlformats.org/drawingml/2006/main">
              <a:ext uri="{FF2B5EF4-FFF2-40B4-BE49-F238E27FC236}">
                <a16:creationId xmlns:a16="http://schemas.microsoft.com/office/drawing/2014/main" id="{DCE23A52-5941-4217-9143-EA2C53EA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762625"/>
            <a:ext cx="552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1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71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1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验收、埋点需求和复盘报告</a:t>
            </a:r>
          </a:p>
        </p:txBody>
      </p:sp>
    </p:spTree>
    <p:extLst>
      <p:ext uri="{BB962C8B-B14F-4D97-AF65-F5344CB8AC3E}">
        <p14:creationId xmlns:p14="http://schemas.microsoft.com/office/powerpoint/2010/main" val="5142478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9FAA48-AA47-4DC6-A6B8-9E70D08594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2b03b5152449c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ase-label">
            <a:extLst xmlns:a="http://schemas.openxmlformats.org/drawingml/2006/main">
              <a:ext uri="{FF2B5EF4-FFF2-40B4-BE49-F238E27FC236}">
                <a16:creationId xmlns:a16="http://schemas.microsoft.com/office/drawing/2014/main" id="{05C39DD8-E164-4A91-8113-EC773BB0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设计案例</a:t>
            </a:r>
          </a:p>
        </p:txBody>
      </p:sp>
      <p:sp>
        <p:nvSpPr>
          <p:cNvPr id="3" name="case-title">
            <a:extLst xmlns:a="http://schemas.openxmlformats.org/drawingml/2006/main">
              <a:ext uri="{FF2B5EF4-FFF2-40B4-BE49-F238E27FC236}">
                <a16:creationId xmlns:a16="http://schemas.microsoft.com/office/drawing/2014/main" id="{3F12693E-50AB-43BF-A44E-A4AAD016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61912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48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哈兰德的</a:t>
            </a:r>
          </a:p>
          <a:p xmlns:a="http://schemas.openxmlformats.org/drawingml/2006/main">
            <a:pPr algn="l">
              <a:buNone/>
              <a:defRPr sz="48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锋线征程</a:t>
            </a:r>
          </a:p>
        </p:txBody>
      </p:sp>
      <p:sp>
        <p:nvSpPr>
          <p:cNvPr id="4" name="case-promise">
            <a:extLst xmlns:a="http://schemas.openxmlformats.org/drawingml/2006/main">
              <a:ext uri="{FF2B5EF4-FFF2-40B4-BE49-F238E27FC236}">
                <a16:creationId xmlns:a16="http://schemas.microsoft.com/office/drawing/2014/main" id="{A8C067EF-793B-45DE-9842-3C593654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657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围绕中锋创造机会，完成高效终结。</a:t>
            </a:r>
          </a:p>
        </p:txBody>
      </p:sp>
      <p:sp>
        <p:nvSpPr>
          <p:cNvPr id="5" name="case-chapters">
            <a:extLst xmlns:a="http://schemas.openxmlformats.org/drawingml/2006/main">
              <a:ext uri="{FF2B5EF4-FFF2-40B4-BE49-F238E27FC236}">
                <a16:creationId xmlns:a16="http://schemas.microsoft.com/office/drawing/2014/main" id="{FF3D09FB-8D04-4A51-AC44-3632E14F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6191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射手训练场   技巧与终结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禁区猎手       应对不同防线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最佳搭档       选择配合路线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金靴征程       推进球员奖励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冠军之夜       完成终章挑战</a:t>
            </a:r>
          </a:p>
        </p:txBody>
      </p:sp>
      <p:sp>
        <p:nvSpPr>
          <p:cNvPr id="6" name="case-caveat">
            <a:extLst xmlns:a="http://schemas.openxmlformats.org/drawingml/2006/main">
              <a:ext uri="{FF2B5EF4-FFF2-40B4-BE49-F238E27FC236}">
                <a16:creationId xmlns:a16="http://schemas.microsoft.com/office/drawing/2014/main" id="{B03B8F15-C49D-49D0-AE76-9FF32B4B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原创概念，按6周活动假设设计。AI生成主题视觉。</a:t>
            </a:r>
          </a:p>
        </p:txBody>
      </p:sp>
    </p:spTree>
    <p:extLst>
      <p:ext uri="{BB962C8B-B14F-4D97-AF65-F5344CB8AC3E}">
        <p14:creationId xmlns:p14="http://schemas.microsoft.com/office/powerpoint/2010/main" val="7436670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CC038E7-E4D8-4523-A80C-434866A0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哈兰德方案的设计依据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70429B60-8D82-41ED-AAC7-4EED3499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沿用已识别的活动职能，将变化集中在中锋的参与体验。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C69E919-1BC5-43A5-8365-F5D22E89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E977D9-1782-4075-BCCE-A0D1C62EDD5C}"/>
              </a:ext>
            </a:extLst>
          </p:cNvPr>
          <p:cNvGraphicFramePr/>
          <p:nvPr/>
        </p:nvGraphicFramePr>
        <p:xfrm>
          <a:off xmlns:a="http://schemas.openxmlformats.org/drawingml/2006/main" x="685800" y="2076450"/>
          <a:ext xmlns:a="http://schemas.openxmlformats.org/drawingml/2006/main" cx="10820400" cy="3810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143250"/>
                <a:gridCol w="4419600"/>
                <a:gridCol w="3257550"/>
              </a:tblGrid>
              <a:tr h="762000">
                <a:tc>
                  <a:txBody>
                    <a:bodyPr lIns="142875" tIns="85725" rIns="142875" bIns="85725"/>
                    <a:lstStyle/>
                    <a:p>
                      <a:pPr algn="l"/>
                      <a:r>
                        <a:rPr sz="1725" b="1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研究依据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T w="6668">
                      <a:solidFill>
                        <a:srgbClr val="294250"/>
                      </a:solidFill>
                      <a:prstDash val="solid"/>
                    </a:lnT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/>
                      <a:r>
                        <a:rPr sz="1725" b="1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哈兰德方案选择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T w="6668">
                      <a:solidFill>
                        <a:srgbClr val="294250"/>
                      </a:solidFill>
                      <a:prstDash val="solid"/>
                    </a:lnT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/>
                      <a:r>
                        <a:rPr sz="1725" b="1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评审与验证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T w="6668">
                      <a:solidFill>
                        <a:srgbClr val="294250"/>
                      </a:solidFill>
                      <a:prstDash val="solid"/>
                    </a:lnT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</a:tr>
              <a:tr h="762000">
                <a:tc>
                  <a:txBody>
                    <a:bodyPr lIns="142875" tIns="85725" rIns="142875" bIns="85725"/>
                    <a:lstStyle/>
                    <a:p>
                      <a:pPr algn="l"/>
                      <a:r>
                        <a:rPr sz="1725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主题影响挑战内容 [C][D]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/>
                      <a:r>
                        <a:rPr sz="1725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训练终结技巧，设计禁区挑战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与搭档配合任务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/>
                      <a:r>
                        <a:rPr sz="1725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球星特色是否落实为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不同的挑战条件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762000">
                <a:tc>
                  <a:txBody>
                    <a:bodyPr lIns="142875" tIns="85725" rIns="142875" bIns="85725"/>
                    <a:lstStyle/>
                    <a:p>
                      <a:pPr algn="l"/>
                      <a:r>
                        <a:rPr sz="1725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资源衔接推进 [A]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/>
                      <a:r>
                        <a:rPr sz="1725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训练与比赛积累赛季资源，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金靴征程承接阶段奖励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/>
                      <a:r>
                        <a:rPr sz="1725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产出、消耗和核心球员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获取时间是否合理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762000">
                <a:tc>
                  <a:txBody>
                    <a:bodyPr lIns="142875" tIns="85725" rIns="142875" bIns="85725"/>
                    <a:lstStyle/>
                    <a:p>
                      <a:pPr algn="l"/>
                      <a:r>
                        <a:rPr sz="1725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累计与阶段开放 [A][B]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/>
                      <a:r>
                        <a:rPr sz="1725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按周开放内容，冠军之夜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承接整期目标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/>
                      <a:r>
                        <a:rPr sz="1725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各阶段内容量、难度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与回访理由是否明确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762000">
                <a:tc>
                  <a:txBody>
                    <a:bodyPr lIns="142875" tIns="85725" rIns="142875" bIns="85725"/>
                    <a:lstStyle/>
                    <a:p>
                      <a:pPr algn="l"/>
                      <a:r>
                        <a:rPr sz="1725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奖励连接持续成长 [A][B][D]</a:t>
                      </a:r>
                    </a:p>
                  </a:txBody>
                  <a:tcPr marL="142875" marR="142875" marT="9525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/>
                      <a:r>
                        <a:rPr sz="1725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球员、养成与收藏目标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采用FC团队认可的规则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42875" tIns="85725" rIns="142875" bIns="85725"/>
                    <a:lstStyle/>
                    <a:p>
                      <a:pPr algn="l"/>
                      <a:r>
                        <a:rPr sz="1725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经济投放与版本能力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是否支持设计</a:t>
                      </a:r>
                    </a:p>
                  </a:txBody>
                  <a:tcPr marL="142875" marR="142875" marT="9525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</a:tbl>
          </a:graphicData>
        </a:graphic>
      </p:graphicFrame>
      <p:sp>
        <p:nvSpPr>
          <p:cNvPr id="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A634DB33-72B2-4893-902E-9A2207A8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rPr>
              <a:t>原创设计假设。禁区猎手、完整周内容和成长配置仍需制作。</a:t>
            </a:r>
          </a:p>
        </p:txBody>
      </p:sp>
    </p:spTree>
    <p:extLst>
      <p:ext uri="{BB962C8B-B14F-4D97-AF65-F5344CB8AC3E}">
        <p14:creationId xmlns:p14="http://schemas.microsoft.com/office/powerpoint/2010/main" val="156189240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2D1915-09F4-4EE7-83BD-54E04DE3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六周赛季的内容节奏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54CCAAFC-A1EF-411F-909A-32D4F8B5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开放顺序同时考虑学习、阶段目标和核心奖励的达成时间。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B9134C7-9857-4A20-A426-1D6F7456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8047B9-1F73-4D60-9E1F-9A8B1EB951F9}"/>
              </a:ext>
            </a:extLst>
          </p:cNvPr>
          <p:cNvGraphicFramePr/>
          <p:nvPr/>
        </p:nvGraphicFramePr>
        <p:xfrm>
          <a:off xmlns:a="http://schemas.openxmlformats.org/drawingml/2006/main" x="685800" y="2143125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95500"/>
                <a:gridCol w="4438650"/>
                <a:gridCol w="4286250"/>
              </a:tblGrid>
              <a:tr h="685800"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171450" marR="171450" marT="11430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T w="6668">
                      <a:solidFill>
                        <a:srgbClr val="294250"/>
                      </a:solidFill>
                      <a:prstDash val="solid"/>
                    </a:lnT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内容重点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T w="6668">
                      <a:solidFill>
                        <a:srgbClr val="294250"/>
                      </a:solidFill>
                      <a:prstDash val="solid"/>
                    </a:lnT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玩家目标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T w="6668">
                      <a:solidFill>
                        <a:srgbClr val="294250"/>
                      </a:solidFill>
                      <a:prstDash val="solid"/>
                    </a:lnT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</a:tr>
              <a:tr h="685800"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第1至2周</a:t>
                      </a:r>
                    </a:p>
                  </a:txBody>
                  <a:tcPr marL="171450" marR="171450" marT="11430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基础训练、主题比赛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熟悉终结方式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85800"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第3至4周</a:t>
                      </a:r>
                    </a:p>
                  </a:txBody>
                  <a:tcPr marL="171450" marR="171450" marT="11430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搭档路线、进阶挑战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形成自己的进攻组合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85800"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第5周</a:t>
                      </a:r>
                    </a:p>
                  </a:txBody>
                  <a:tcPr marL="171450" marR="171450" marT="11430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冠军之夜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冲击核心球员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85800"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第6周</a:t>
                      </a:r>
                    </a:p>
                  </a:txBody>
                  <a:tcPr marL="171450" marR="171450" marT="11430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补领与剩余目标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完成征程与收藏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</a:tbl>
          </a:graphicData>
        </a:graphic>
      </p:graphicFrame>
      <p:sp>
        <p:nvSpPr>
          <p:cNvPr id="5" name="calendar-caveat">
            <a:extLst xmlns:a="http://schemas.openxmlformats.org/drawingml/2006/main">
              <a:ext uri="{FF2B5EF4-FFF2-40B4-BE49-F238E27FC236}">
                <a16:creationId xmlns:a16="http://schemas.microsoft.com/office/drawing/2014/main" id="{97630110-5074-4140-9298-16DD4852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开放时间与内容数量为初步设计，需结合现有系统、投放和制作产能确认。</a:t>
            </a:r>
          </a:p>
        </p:txBody>
      </p:sp>
    </p:spTree>
    <p:extLst>
      <p:ext uri="{BB962C8B-B14F-4D97-AF65-F5344CB8AC3E}">
        <p14:creationId xmlns:p14="http://schemas.microsoft.com/office/powerpoint/2010/main" val="15371122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D2CAE9-6FAA-43F1-A78E-38481DC1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关键交互已经有可操作的样板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664DC0CF-B476-498B-A782-5F432A74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训练、路线选择、奖励领取和冠军结算，能够在同一条体验流程中演示。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F97A515-0AC3-485E-8AA5-845B0BED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8310D2-14C4-4C28-9C43-523C8A6F49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592760cea64f32"/>
          <a:srcRect xmlns:a="http://schemas.openxmlformats.org/drawingml/2006/main" l="3600" t="20100" r="2600" b="28700"/>
          <a:stretch xmlns:a="http://schemas.openxmlformats.org/drawingml/2006/main"/>
        </p:blipFill>
        <p:spPr>
          <a:xfrm xmlns:a="http://schemas.openxmlformats.org/drawingml/2006/main">
            <a:off x="685800" y="1905000"/>
            <a:ext cx="10820400" cy="3952875"/>
          </a:xfrm>
          <a:prstGeom xmlns:a="http://schemas.openxmlformats.org/drawingml/2006/main" prst="rect">
            <a:avLst/>
          </a:prstGeom>
        </p:spPr>
      </p:pic>
      <p:sp>
        <p:nvSpPr>
          <p:cNvPr id="5" name="prototype-caveat">
            <a:extLst xmlns:a="http://schemas.openxmlformats.org/drawingml/2006/main">
              <a:ext uri="{FF2B5EF4-FFF2-40B4-BE49-F238E27FC236}">
                <a16:creationId xmlns:a16="http://schemas.microsoft.com/office/drawing/2014/main" id="{BE22CC9F-00EC-4717-A0A7-79635123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388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当前为交互样板，完整关卡、赛季配置与游戏客户端接入仍需制作。</a:t>
            </a:r>
          </a:p>
        </p:txBody>
      </p:sp>
    </p:spTree>
    <p:extLst>
      <p:ext uri="{BB962C8B-B14F-4D97-AF65-F5344CB8AC3E}">
        <p14:creationId xmlns:p14="http://schemas.microsoft.com/office/powerpoint/2010/main" val="106840923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B0AC2EF-FD58-407C-8F94-81E5D174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持续内容交付流程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E0874FE7-0B77-4D2C-9B8A-A348BF4E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每个阶段保留确认人和验收项，新增系统能力单独评估排期。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EC34811-CB41-427A-BADF-9E26F8D0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process-index-0">
            <a:extLst xmlns:a="http://schemas.openxmlformats.org/drawingml/2006/main">
              <a:ext uri="{FF2B5EF4-FFF2-40B4-BE49-F238E27FC236}">
                <a16:creationId xmlns:a16="http://schemas.microsoft.com/office/drawing/2014/main" id="{3ECC2C92-7573-4925-94B7-2AFBC4BC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process-title-0">
            <a:extLst xmlns:a="http://schemas.openxmlformats.org/drawingml/2006/main">
              <a:ext uri="{FF2B5EF4-FFF2-40B4-BE49-F238E27FC236}">
                <a16:creationId xmlns:a16="http://schemas.microsoft.com/office/drawing/2014/main" id="{3A07B950-5CC3-4112-A0DB-964285A76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33725"/>
            <a:ext cx="2333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需求对齐</a:t>
            </a:r>
          </a:p>
        </p:txBody>
      </p:sp>
      <p:sp>
        <p:nvSpPr>
          <p:cNvPr id="6" name="process-body-0">
            <a:extLst xmlns:a="http://schemas.openxmlformats.org/drawingml/2006/main">
              <a:ext uri="{FF2B5EF4-FFF2-40B4-BE49-F238E27FC236}">
                <a16:creationId xmlns:a16="http://schemas.microsoft.com/office/drawing/2014/main" id="{BBFDD61D-D7F7-4FCE-99CE-E54FCB3E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238125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档期、主题和目标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球员池与奖励边界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现有活动系统能力</a:t>
            </a:r>
          </a:p>
        </p:txBody>
      </p:sp>
      <p:sp>
        <p:nvSpPr>
          <p:cNvPr id="7" name="process-index-1">
            <a:extLst xmlns:a="http://schemas.openxmlformats.org/drawingml/2006/main">
              <a:ext uri="{FF2B5EF4-FFF2-40B4-BE49-F238E27FC236}">
                <a16:creationId xmlns:a16="http://schemas.microsoft.com/office/drawing/2014/main" id="{50DF8C56-E712-4715-AA7A-E2E87F43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33625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process-title-1">
            <a:extLst xmlns:a="http://schemas.openxmlformats.org/drawingml/2006/main">
              <a:ext uri="{FF2B5EF4-FFF2-40B4-BE49-F238E27FC236}">
                <a16:creationId xmlns:a16="http://schemas.microsoft.com/office/drawing/2014/main" id="{010B1A66-556C-41B8-BA95-DD2FE6D7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33725"/>
            <a:ext cx="2333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设计锁定</a:t>
            </a:r>
          </a:p>
        </p:txBody>
      </p:sp>
      <p:sp>
        <p:nvSpPr>
          <p:cNvPr id="9" name="process-body-1">
            <a:extLst xmlns:a="http://schemas.openxmlformats.org/drawingml/2006/main">
              <a:ext uri="{FF2B5EF4-FFF2-40B4-BE49-F238E27FC236}">
                <a16:creationId xmlns:a16="http://schemas.microsoft.com/office/drawing/2014/main" id="{E0CEF120-26C6-4BD0-A25C-D8920C7F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86200"/>
            <a:ext cx="238125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章节和核心玩法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任务、规则与奖励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原型和制作依赖</a:t>
            </a:r>
          </a:p>
        </p:txBody>
      </p:sp>
      <p:sp>
        <p:nvSpPr>
          <p:cNvPr id="10" name="process-index-2">
            <a:extLst xmlns:a="http://schemas.openxmlformats.org/drawingml/2006/main">
              <a:ext uri="{FF2B5EF4-FFF2-40B4-BE49-F238E27FC236}">
                <a16:creationId xmlns:a16="http://schemas.microsoft.com/office/drawing/2014/main" id="{1CDE5030-38ED-4D88-9DB2-6914E30D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33625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process-title-2">
            <a:extLst xmlns:a="http://schemas.openxmlformats.org/drawingml/2006/main">
              <a:ext uri="{FF2B5EF4-FFF2-40B4-BE49-F238E27FC236}">
                <a16:creationId xmlns:a16="http://schemas.microsoft.com/office/drawing/2014/main" id="{3F0231CA-A43F-4517-B000-BC4FCA00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33725"/>
            <a:ext cx="2333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制作联调</a:t>
            </a:r>
          </a:p>
        </p:txBody>
      </p:sp>
      <p:sp>
        <p:nvSpPr>
          <p:cNvPr id="12" name="process-body-2">
            <a:extLst xmlns:a="http://schemas.openxmlformats.org/drawingml/2006/main">
              <a:ext uri="{FF2B5EF4-FFF2-40B4-BE49-F238E27FC236}">
                <a16:creationId xmlns:a16="http://schemas.microsoft.com/office/drawing/2014/main" id="{67B5263A-4B02-4926-82E6-2C792A4A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86200"/>
            <a:ext cx="238125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字段与配置交付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客户端和美术接入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完整路径与异常验收</a:t>
            </a:r>
          </a:p>
        </p:txBody>
      </p:sp>
      <p:sp>
        <p:nvSpPr>
          <p:cNvPr id="13" name="process-index-3">
            <a:extLst xmlns:a="http://schemas.openxmlformats.org/drawingml/2006/main">
              <a:ext uri="{FF2B5EF4-FFF2-40B4-BE49-F238E27FC236}">
                <a16:creationId xmlns:a16="http://schemas.microsoft.com/office/drawing/2014/main" id="{BCB26C7A-55C8-4DC8-BC6C-A0457AAF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33625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process-title-3">
            <a:extLst xmlns:a="http://schemas.openxmlformats.org/drawingml/2006/main">
              <a:ext uri="{FF2B5EF4-FFF2-40B4-BE49-F238E27FC236}">
                <a16:creationId xmlns:a16="http://schemas.microsoft.com/office/drawing/2014/main" id="{1C02351B-FC1F-4247-B4F4-89DF7833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33725"/>
            <a:ext cx="2333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上线复盘</a:t>
            </a:r>
          </a:p>
        </p:txBody>
      </p:sp>
      <p:sp>
        <p:nvSpPr>
          <p:cNvPr id="15" name="process-body-3">
            <a:extLst xmlns:a="http://schemas.openxmlformats.org/drawingml/2006/main">
              <a:ext uri="{FF2B5EF4-FFF2-40B4-BE49-F238E27FC236}">
                <a16:creationId xmlns:a16="http://schemas.microsoft.com/office/drawing/2014/main" id="{7932B51F-B4C4-426D-9854-5F4FD0B5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886200"/>
            <a:ext cx="238125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内容开放跟进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参与与达成数据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后续调整和下一期建议</a:t>
            </a:r>
          </a:p>
        </p:txBody>
      </p:sp>
    </p:spTree>
    <p:extLst>
      <p:ext uri="{BB962C8B-B14F-4D97-AF65-F5344CB8AC3E}">
        <p14:creationId xmlns:p14="http://schemas.microsoft.com/office/powerpoint/2010/main" val="15809890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81C6D6C-28A6-4E25-A5BC-7EC09DBE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效果评估与交付验收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5A87FD54-3EB4-46AA-83A4-25B750B6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玩家结果与交付质量分开记录，目标值在试点前基于历史数据共同确定。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D43B1D1-E4BD-4141-8CA1-D8897A34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8787D-FBC9-453C-A8FA-7E3809DB00AC}"/>
              </a:ext>
            </a:extLst>
          </p:cNvPr>
          <p:cNvGraphicFramePr/>
          <p:nvPr/>
        </p:nvGraphicFramePr>
        <p:xfrm>
          <a:off xmlns:a="http://schemas.openxmlformats.org/drawingml/2006/main" x="685800" y="2143125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95500"/>
                <a:gridCol w="4362450"/>
                <a:gridCol w="4362450"/>
              </a:tblGrid>
              <a:tr h="685800"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方向</a:t>
                      </a:r>
                    </a:p>
                  </a:txBody>
                  <a:tcPr marL="171450" marR="171450" marT="11430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T w="6668">
                      <a:solidFill>
                        <a:srgbClr val="294250"/>
                      </a:solidFill>
                      <a:prstDash val="solid"/>
                    </a:lnT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观察内容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T w="6668">
                      <a:solidFill>
                        <a:srgbClr val="294250"/>
                      </a:solidFill>
                      <a:prstDash val="solid"/>
                    </a:lnT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解释与比较口径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T w="6668">
                      <a:solidFill>
                        <a:srgbClr val="294250"/>
                      </a:solidFill>
                      <a:prstDash val="solid"/>
                    </a:lnT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</a:tr>
              <a:tr h="685800"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活动参与</a:t>
                      </a:r>
                    </a:p>
                  </a:txBody>
                  <a:tcPr marL="171450" marR="171450" marT="11430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入口、章节参与与回访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与历史同类活动比较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85800"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奖励体验</a:t>
                      </a:r>
                    </a:p>
                  </a:txBody>
                  <a:tcPr marL="171450" marR="171450" marT="11430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达成率、耗时与资源积累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按玩家类型分层观察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85800"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商业表现</a:t>
                      </a:r>
                    </a:p>
                  </a:txBody>
                  <a:tcPr marL="171450" marR="171450" marT="11430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付费参与与奖励经济影响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结合球员强度和投放解释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85800"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交付质量</a:t>
                      </a:r>
                    </a:p>
                  </a:txBody>
                  <a:tcPr marL="171450" marR="171450" marT="114300" marB="95250" anchor="ctr">
                    <a:lnL w="6668">
                      <a:solidFill>
                        <a:srgbClr val="294250"/>
                      </a:solidFill>
                      <a:prstDash val="solid"/>
                    </a:lnL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按期完成、返工与上线问题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 lIns="152400" tIns="85725" rIns="152400" bIns="85725"/>
                    <a:lstStyle/>
                    <a:p>
                      <a:pPr algn="l">
                        <a:buNone/>
                      </a:pPr>
                      <a:r>
                        <a:rPr sz="1710" b="0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按双方约定的标准记录</a:t>
                      </a:r>
                    </a:p>
                  </a:txBody>
                  <a:tcPr marL="171450" marR="171450" marT="114300" marB="95250" anchor="ctr">
                    <a:lnR w="6668">
                      <a:solidFill>
                        <a:srgbClr val="294250"/>
                      </a:solidFill>
                      <a:prstDash val="solid"/>
                    </a:lnR>
                    <a:lnB w="6668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</a:tbl>
          </a:graphicData>
        </a:graphic>
      </p:graphicFrame>
      <p:sp>
        <p:nvSpPr>
          <p:cNvPr id="5" name="measurement-caveat">
            <a:extLst xmlns:a="http://schemas.openxmlformats.org/drawingml/2006/main">
              <a:ext uri="{FF2B5EF4-FFF2-40B4-BE49-F238E27FC236}">
                <a16:creationId xmlns:a16="http://schemas.microsoft.com/office/drawing/2014/main" id="{DAAF38DE-085E-4B66-9DE0-C9ADE2A1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当前没有真实运营数据，不预先承诺留存或收入提升幅度。</a:t>
            </a:r>
          </a:p>
        </p:txBody>
      </p:sp>
    </p:spTree>
    <p:extLst>
      <p:ext uri="{BB962C8B-B14F-4D97-AF65-F5344CB8AC3E}">
        <p14:creationId xmlns:p14="http://schemas.microsoft.com/office/powerpoint/2010/main" val="180828588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EAAF5C8-F151-4335-AE82-B7BCFF96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先完成一期试点，再扩大持续合作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2C558CD3-D80B-4E7C-A957-EB455C65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选择双方认可的主题，在现有活动能力支持的范围内完成设计与接入验证。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EB254E1-C76E-4172-AC7A-F66F5F36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4" name="pilot-design">
            <a:extLst xmlns:a="http://schemas.openxmlformats.org/drawingml/2006/main">
              <a:ext uri="{FF2B5EF4-FFF2-40B4-BE49-F238E27FC236}">
                <a16:creationId xmlns:a16="http://schemas.microsoft.com/office/drawing/2014/main" id="{EE136BD3-7D63-4993-A7D2-0434A34B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4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制作前：设计验收</a:t>
            </a:r>
          </a:p>
        </p:txBody>
      </p:sp>
      <p:sp>
        <p:nvSpPr>
          <p:cNvPr id="5" name="pilot-design-body">
            <a:extLst xmlns:a="http://schemas.openxmlformats.org/drawingml/2006/main">
              <a:ext uri="{FF2B5EF4-FFF2-40B4-BE49-F238E27FC236}">
                <a16:creationId xmlns:a16="http://schemas.microsoft.com/office/drawing/2014/main" id="{36DFEFC8-A373-4748-8640-3EBBAECF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28975"/>
            <a:ext cx="504825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主题与玩法符合活动简报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规则、配置和界面状态完整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制作依赖与排期明确</a:t>
            </a:r>
          </a:p>
        </p:txBody>
      </p:sp>
      <p:sp>
        <p:nvSpPr>
          <p:cNvPr id="6" name="pilot-live">
            <a:extLst xmlns:a="http://schemas.openxmlformats.org/drawingml/2006/main">
              <a:ext uri="{FF2B5EF4-FFF2-40B4-BE49-F238E27FC236}">
                <a16:creationId xmlns:a16="http://schemas.microsoft.com/office/drawing/2014/main" id="{D59A3317-F343-410A-AC33-78DFBB36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81250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4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上线后：运行验证</a:t>
            </a:r>
          </a:p>
        </p:txBody>
      </p:sp>
      <p:sp>
        <p:nvSpPr>
          <p:cNvPr id="7" name="pilot-live-body">
            <a:extLst xmlns:a="http://schemas.openxmlformats.org/drawingml/2006/main">
              <a:ext uri="{FF2B5EF4-FFF2-40B4-BE49-F238E27FC236}">
                <a16:creationId xmlns:a16="http://schemas.microsoft.com/office/drawing/2014/main" id="{280EA1FA-CB94-425B-948C-E21C6BE5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228975"/>
            <a:ext cx="504825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关键流程与奖励发放正常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内容按约定节奏开放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数据口径与复盘建议可交付</a:t>
            </a:r>
          </a:p>
        </p:txBody>
      </p:sp>
      <p:sp>
        <p:nvSpPr>
          <p:cNvPr id="8" name="pilot-duration">
            <a:extLst xmlns:a="http://schemas.openxmlformats.org/drawingml/2006/main">
              <a:ext uri="{FF2B5EF4-FFF2-40B4-BE49-F238E27FC236}">
                <a16:creationId xmlns:a16="http://schemas.microsoft.com/office/drawing/2014/main" id="{AB8D2896-77C5-49D9-B1CD-4AF51E1B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626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活动运行按6周假设，项目总工期另含准备、接入与复盘。</a:t>
            </a:r>
          </a:p>
        </p:txBody>
      </p:sp>
    </p:spTree>
    <p:extLst>
      <p:ext uri="{BB962C8B-B14F-4D97-AF65-F5344CB8AC3E}">
        <p14:creationId xmlns:p14="http://schemas.microsoft.com/office/powerpoint/2010/main" val="204049797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A905B3-A6FA-422F-A6E5-9695432A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下一步：确定一期试点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D6C1C56-6E8E-4626-BED3-4596C107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3" name="next-statement">
            <a:extLst xmlns:a="http://schemas.openxmlformats.org/drawingml/2006/main">
              <a:ext uri="{FF2B5EF4-FFF2-40B4-BE49-F238E27FC236}">
                <a16:creationId xmlns:a16="http://schemas.microsoft.com/office/drawing/2014/main" id="{D860EE49-58F6-43FC-AAFE-43C13923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45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一次需求对齐，</a:t>
            </a:r>
          </a:p>
          <a:p xmlns:a="http://schemas.openxmlformats.org/drawingml/2006/main">
            <a:pPr algn="l">
              <a:buNone/>
              <a:defRPr sz="45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确认合作的起点。</a:t>
            </a:r>
          </a:p>
        </p:txBody>
      </p:sp>
      <p:sp>
        <p:nvSpPr>
          <p:cNvPr id="4" name="next-topics">
            <a:extLst xmlns:a="http://schemas.openxmlformats.org/drawingml/2006/main">
              <a:ext uri="{FF2B5EF4-FFF2-40B4-BE49-F238E27FC236}">
                <a16:creationId xmlns:a16="http://schemas.microsoft.com/office/drawing/2014/main" id="{1D282ABF-808C-46A3-95B2-EF46C4DD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试点主题     可用活动系统</a:t>
            </a:r>
          </a:p>
          <a:p xmlns:a="http://schemas.openxmlformats.org/drawingml/2006/main">
            <a:pPr algn="l">
              <a:buNone/>
              <a:defRPr sz="24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奖励边界     验收口径与负责人</a:t>
            </a:r>
          </a:p>
        </p:txBody>
      </p:sp>
      <p:sp>
        <p:nvSpPr>
          <p:cNvPr id="5" name="next-commercial">
            <a:extLst xmlns:a="http://schemas.openxmlformats.org/drawingml/2006/main">
              <a:ext uri="{FF2B5EF4-FFF2-40B4-BE49-F238E27FC236}">
                <a16:creationId xmlns:a16="http://schemas.microsoft.com/office/drawing/2014/main" id="{F398613B-BAB4-41EF-B43E-CE220CB2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006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试点范围、排期与费用在需求确认后约定。</a:t>
            </a:r>
          </a:p>
        </p:txBody>
      </p:sp>
      <p:sp>
        <p:nvSpPr>
          <p:cNvPr id="6" name="next-readiness">
            <a:extLst xmlns:a="http://schemas.openxmlformats.org/drawingml/2006/main">
              <a:ext uri="{FF2B5EF4-FFF2-40B4-BE49-F238E27FC236}">
                <a16:creationId xmlns:a16="http://schemas.microsoft.com/office/drawing/2014/main" id="{79DDE899-88D2-4B66-B9D4-BDBC5583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98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提交前补充：团队履历、岗位配置与实际产能样表。</a:t>
            </a:r>
          </a:p>
        </p:txBody>
      </p:sp>
    </p:spTree>
    <p:extLst>
      <p:ext uri="{BB962C8B-B14F-4D97-AF65-F5344CB8AC3E}">
        <p14:creationId xmlns:p14="http://schemas.microsoft.com/office/powerpoint/2010/main" val="119401591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6EC5A3-A9EE-492B-A778-A57B78B3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附录：公开资料索引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2A400963-BEA4-45B4-8D09-BFE6A6DE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事实与图片来自国服官方发布，归纳与原创设计在相关页面分别标明。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B117BC9-9808-4E3A-AADB-23ED3BDC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4" name="ref-label-0">
            <a:extLst xmlns:a="http://schemas.openxmlformats.org/drawingml/2006/main">
              <a:ext uri="{FF2B5EF4-FFF2-40B4-BE49-F238E27FC236}">
                <a16:creationId xmlns:a16="http://schemas.microsoft.com/office/drawing/2014/main" id="{FD085AEC-3768-4691-9882-0E821F0F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338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[A] 年度最佳</a:t>
            </a:r>
          </a:p>
        </p:txBody>
      </p:sp>
      <p:sp>
        <p:nvSpPr>
          <p:cNvPr id="5" name="ref-date-0">
            <a:extLst xmlns:a="http://schemas.openxmlformats.org/drawingml/2006/main">
              <a:ext uri="{FF2B5EF4-FFF2-40B4-BE49-F238E27FC236}">
                <a16:creationId xmlns:a16="http://schemas.microsoft.com/office/drawing/2014/main" id="{B0AB8B82-8D56-42F5-8543-955AF4E9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14550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EA SPORTS，2025.01.26</a:t>
            </a:r>
          </a:p>
        </p:txBody>
      </p:sp>
      <p:sp>
        <p:nvSpPr>
          <p:cNvPr id="6" name="ref-url-0">
            <a:extLst xmlns:a="http://schemas.openxmlformats.org/drawingml/2006/main">
              <a:ext uri="{FF2B5EF4-FFF2-40B4-BE49-F238E27FC236}">
                <a16:creationId xmlns:a16="http://schemas.microsoft.com/office/drawing/2014/main" id="{FFB681B1-61C3-406E-8628-BEAEEF7F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1071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https://www.weibo.com/ttarticle/p/show?id=2309405127089513955762</a:t>
            </a:r>
          </a:p>
        </p:txBody>
      </p:sp>
      <p:sp>
        <p:nvSpPr>
          <p:cNvPr id="7" name="ref-label-1">
            <a:extLst xmlns:a="http://schemas.openxmlformats.org/drawingml/2006/main">
              <a:ext uri="{FF2B5EF4-FFF2-40B4-BE49-F238E27FC236}">
                <a16:creationId xmlns:a16="http://schemas.microsoft.com/office/drawing/2014/main" id="{0BE7480C-0ECD-41D8-B90A-45E98BB3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19425"/>
            <a:ext cx="338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[B] 马上过足瘾</a:t>
            </a:r>
          </a:p>
        </p:txBody>
      </p:sp>
      <p:sp>
        <p:nvSpPr>
          <p:cNvPr id="8" name="ref-date-1">
            <a:extLst xmlns:a="http://schemas.openxmlformats.org/drawingml/2006/main">
              <a:ext uri="{FF2B5EF4-FFF2-40B4-BE49-F238E27FC236}">
                <a16:creationId xmlns:a16="http://schemas.microsoft.com/office/drawing/2014/main" id="{049F47B9-9985-418B-A214-DF547609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57525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FC足球世界，2026.02.12</a:t>
            </a:r>
          </a:p>
        </p:txBody>
      </p:sp>
      <p:sp>
        <p:nvSpPr>
          <p:cNvPr id="9" name="ref-url-1">
            <a:extLst xmlns:a="http://schemas.openxmlformats.org/drawingml/2006/main">
              <a:ext uri="{FF2B5EF4-FFF2-40B4-BE49-F238E27FC236}">
                <a16:creationId xmlns:a16="http://schemas.microsoft.com/office/drawing/2014/main" id="{FB72A80F-3E94-423F-94DA-D40E41B9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57575"/>
            <a:ext cx="1071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https://www.taptap.cn/moment/771064711469861731</a:t>
            </a:r>
          </a:p>
        </p:txBody>
      </p:sp>
      <p:sp>
        <p:nvSpPr>
          <p:cNvPr id="10" name="ref-label-2">
            <a:extLst xmlns:a="http://schemas.openxmlformats.org/drawingml/2006/main">
              <a:ext uri="{FF2B5EF4-FFF2-40B4-BE49-F238E27FC236}">
                <a16:creationId xmlns:a16="http://schemas.microsoft.com/office/drawing/2014/main" id="{E0075DE1-E622-4FE1-9A30-F30093A6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338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[C] 欧洲杯</a:t>
            </a:r>
          </a:p>
        </p:txBody>
      </p:sp>
      <p:sp>
        <p:nvSpPr>
          <p:cNvPr id="11" name="ref-date-2">
            <a:extLst xmlns:a="http://schemas.openxmlformats.org/drawingml/2006/main">
              <a:ext uri="{FF2B5EF4-FFF2-40B4-BE49-F238E27FC236}">
                <a16:creationId xmlns:a16="http://schemas.microsoft.com/office/drawing/2014/main" id="{586F9BC5-7DB5-4658-9482-608DBDCF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00500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FC足球世界，2024.06.13</a:t>
            </a:r>
          </a:p>
        </p:txBody>
      </p:sp>
      <p:sp>
        <p:nvSpPr>
          <p:cNvPr id="12" name="ref-url-2">
            <a:extLst xmlns:a="http://schemas.openxmlformats.org/drawingml/2006/main">
              <a:ext uri="{FF2B5EF4-FFF2-40B4-BE49-F238E27FC236}">
                <a16:creationId xmlns:a16="http://schemas.microsoft.com/office/drawing/2014/main" id="{437DA156-1DC6-47D4-9DB8-ECB8BE1A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1071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https://www.taptap.cn/moment/550263876587881597</a:t>
            </a:r>
          </a:p>
        </p:txBody>
      </p:sp>
      <p:sp>
        <p:nvSpPr>
          <p:cNvPr id="13" name="ref-label-3">
            <a:extLst xmlns:a="http://schemas.openxmlformats.org/drawingml/2006/main">
              <a:ext uri="{FF2B5EF4-FFF2-40B4-BE49-F238E27FC236}">
                <a16:creationId xmlns:a16="http://schemas.microsoft.com/office/drawing/2014/main" id="{9EE49B29-0B97-440D-9AFC-72F55767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05375"/>
            <a:ext cx="338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[D] 欧冠荣耀</a:t>
            </a:r>
          </a:p>
        </p:txBody>
      </p:sp>
      <p:sp>
        <p:nvSpPr>
          <p:cNvPr id="14" name="ref-date-3">
            <a:extLst xmlns:a="http://schemas.openxmlformats.org/drawingml/2006/main">
              <a:ext uri="{FF2B5EF4-FFF2-40B4-BE49-F238E27FC236}">
                <a16:creationId xmlns:a16="http://schemas.microsoft.com/office/drawing/2014/main" id="{DCC64767-8473-4DBE-AE63-53D0E59E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43475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FC足球世界，2026.04.15</a:t>
            </a:r>
          </a:p>
        </p:txBody>
      </p:sp>
      <p:sp>
        <p:nvSpPr>
          <p:cNvPr id="15" name="ref-url-3">
            <a:extLst xmlns:a="http://schemas.openxmlformats.org/drawingml/2006/main">
              <a:ext uri="{FF2B5EF4-FFF2-40B4-BE49-F238E27FC236}">
                <a16:creationId xmlns:a16="http://schemas.microsoft.com/office/drawing/2014/main" id="{24527903-4604-466D-9843-50F7AC4D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1071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https://www.taptap.cn/moment/793578209911245431</a:t>
            </a:r>
          </a:p>
        </p:txBody>
      </p:sp>
      <p:sp>
        <p:nvSpPr>
          <p:cNvPr id="1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C43F090-4388-406B-91DF-AFB9C21D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rPr>
              <a:t>资料核对：2026.10.15。详细出处与图片来源亦记录在相关页面备注中。</a:t>
            </a:r>
          </a:p>
        </p:txBody>
      </p:sp>
    </p:spTree>
    <p:extLst>
      <p:ext uri="{BB962C8B-B14F-4D97-AF65-F5344CB8AC3E}">
        <p14:creationId xmlns:p14="http://schemas.microsoft.com/office/powerpoint/2010/main" val="5493397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2026-10-15T15:01:08.7680000Z</dcterms:created>
  <dcterms:modified xsi:type="dcterms:W3CDTF">2026-10-15T15:01:08.7680000Z</dcterms:modified>
</coreProperties>
</file>