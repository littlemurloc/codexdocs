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df9a273870427b" /><Relationship Type="http://schemas.openxmlformats.org/officeDocument/2006/relationships/extended-properties" Target="/docProps/app.xml" Id="Rd05e58942da04237" /><Relationship Type="http://schemas.openxmlformats.org/officeDocument/2006/relationships/officeDocument" Target="/ppt/presentation.xml" Id="R9e80038686364b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c53470cc374c5f"/>
  </p:sldMasterIdLst>
  <p:notesMasterIdLst>
    <p:notesMasterId xmlns:r="http://schemas.openxmlformats.org/officeDocument/2006/relationships" r:id="Rc31ed28100204913"/>
  </p:notesMasterIdLst>
  <p:sldIdLst>
    <p:sldId xmlns:r="http://schemas.openxmlformats.org/officeDocument/2006/relationships" id="256" r:id="R72341ce1be6f4395"/>
    <p:sldId xmlns:r="http://schemas.openxmlformats.org/officeDocument/2006/relationships" id="257" r:id="Rc7fefb0bc7d64be4"/>
    <p:sldId xmlns:r="http://schemas.openxmlformats.org/officeDocument/2006/relationships" id="258" r:id="R93effd24a1ca4b08"/>
    <p:sldId xmlns:r="http://schemas.openxmlformats.org/officeDocument/2006/relationships" id="259" r:id="Rf50437138aaa44e3"/>
    <p:sldId xmlns:r="http://schemas.openxmlformats.org/officeDocument/2006/relationships" id="260" r:id="Rc6d491d26cf54541"/>
    <p:sldId xmlns:r="http://schemas.openxmlformats.org/officeDocument/2006/relationships" id="261" r:id="R2f5b16d0f7c44d95"/>
    <p:sldId xmlns:r="http://schemas.openxmlformats.org/officeDocument/2006/relationships" id="262" r:id="R5eaeeedd49a843af"/>
    <p:sldId xmlns:r="http://schemas.openxmlformats.org/officeDocument/2006/relationships" id="263" r:id="R8166e9cd5e65412e"/>
    <p:sldId xmlns:r="http://schemas.openxmlformats.org/officeDocument/2006/relationships" id="264" r:id="R617046c4bc9f4e19"/>
    <p:sldId xmlns:r="http://schemas.openxmlformats.org/officeDocument/2006/relationships" id="265" r:id="R7b318ee929f848e8"/>
    <p:sldId xmlns:r="http://schemas.openxmlformats.org/officeDocument/2006/relationships" id="266" r:id="Rdf3481edd4b04936"/>
    <p:sldId xmlns:r="http://schemas.openxmlformats.org/officeDocument/2006/relationships" id="267" r:id="R7ff3309d76e042ef"/>
    <p:sldId xmlns:r="http://schemas.openxmlformats.org/officeDocument/2006/relationships" id="268" r:id="R3e82a009d9d446c5"/>
    <p:sldId xmlns:r="http://schemas.openxmlformats.org/officeDocument/2006/relationships" id="269" r:id="R96284b48035742b4"/>
    <p:sldId xmlns:r="http://schemas.openxmlformats.org/officeDocument/2006/relationships" id="270" r:id="Rd31e9a36afef4730"/>
    <p:sldId xmlns:r="http://schemas.openxmlformats.org/officeDocument/2006/relationships" id="271" r:id="Rd79476cf2aa144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55248c76ad45bb" /><Relationship Type="http://schemas.openxmlformats.org/officeDocument/2006/relationships/slideMaster" Target="/ppt/slideMasters/slideMaster1.xml" Id="Rb1c53470cc374c5f" /><Relationship Type="http://schemas.openxmlformats.org/officeDocument/2006/relationships/notesMaster" Target="/ppt/notesMasters/notesMaster1.xml" Id="Rc31ed28100204913" /><Relationship Type="http://schemas.openxmlformats.org/officeDocument/2006/relationships/presProps" Target="/ppt/presProps.xml" Id="Re003905b76c84313" /><Relationship Type="http://schemas.openxmlformats.org/officeDocument/2006/relationships/tableStyles" Target="/ppt/tableStyles.xml" Id="Re8b685425da241ca" /><Relationship Type="http://schemas.openxmlformats.org/officeDocument/2006/relationships/slide" Target="/ppt/slides/slide1.xml" Id="R72341ce1be6f4395" /><Relationship Type="http://schemas.openxmlformats.org/officeDocument/2006/relationships/slide" Target="/ppt/slides/slide2.xml" Id="Rc7fefb0bc7d64be4" /><Relationship Type="http://schemas.openxmlformats.org/officeDocument/2006/relationships/slide" Target="/ppt/slides/slide3.xml" Id="R93effd24a1ca4b08" /><Relationship Type="http://schemas.openxmlformats.org/officeDocument/2006/relationships/slide" Target="/ppt/slides/slide4.xml" Id="Rf50437138aaa44e3" /><Relationship Type="http://schemas.openxmlformats.org/officeDocument/2006/relationships/slide" Target="/ppt/slides/slide5.xml" Id="Rc6d491d26cf54541" /><Relationship Type="http://schemas.openxmlformats.org/officeDocument/2006/relationships/slide" Target="/ppt/slides/slide6.xml" Id="R2f5b16d0f7c44d95" /><Relationship Type="http://schemas.openxmlformats.org/officeDocument/2006/relationships/slide" Target="/ppt/slides/slide7.xml" Id="R5eaeeedd49a843af" /><Relationship Type="http://schemas.openxmlformats.org/officeDocument/2006/relationships/slide" Target="/ppt/slides/slide8.xml" Id="R8166e9cd5e65412e" /><Relationship Type="http://schemas.openxmlformats.org/officeDocument/2006/relationships/slide" Target="/ppt/slides/slide9.xml" Id="R617046c4bc9f4e19" /><Relationship Type="http://schemas.openxmlformats.org/officeDocument/2006/relationships/slide" Target="/ppt/slides/slide10.xml" Id="R7b318ee929f848e8" /><Relationship Type="http://schemas.openxmlformats.org/officeDocument/2006/relationships/slide" Target="/ppt/slides/slide11.xml" Id="Rdf3481edd4b04936" /><Relationship Type="http://schemas.openxmlformats.org/officeDocument/2006/relationships/slide" Target="/ppt/slides/slide12.xml" Id="R7ff3309d76e042ef" /><Relationship Type="http://schemas.openxmlformats.org/officeDocument/2006/relationships/slide" Target="/ppt/slides/slide13.xml" Id="R3e82a009d9d446c5" /><Relationship Type="http://schemas.openxmlformats.org/officeDocument/2006/relationships/slide" Target="/ppt/slides/slide14.xml" Id="R96284b48035742b4" /><Relationship Type="http://schemas.openxmlformats.org/officeDocument/2006/relationships/slide" Target="/ppt/slides/slide15.xml" Id="Rd31e9a36afef4730" /><Relationship Type="http://schemas.openxmlformats.org/officeDocument/2006/relationships/slide" Target="/ppt/slides/slide16.xml" Id="Rd79476cf2aa144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7594940ceb43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d0c6d249bc4e0e" /><Relationship Type="http://schemas.openxmlformats.org/officeDocument/2006/relationships/notesMaster" Target="/ppt/notesMasters/notesMaster1.xml" Id="R32c2cc5d2f414f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857385912f4ad2" /><Relationship Type="http://schemas.openxmlformats.org/officeDocument/2006/relationships/notesMaster" Target="/ppt/notesMasters/notesMaster1.xml" Id="Rda067c9af3e84a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6eb378c530420c" /><Relationship Type="http://schemas.openxmlformats.org/officeDocument/2006/relationships/notesMaster" Target="/ppt/notesMasters/notesMaster1.xml" Id="Rf9d2990371f246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7cef247dfe43d8" /><Relationship Type="http://schemas.openxmlformats.org/officeDocument/2006/relationships/notesMaster" Target="/ppt/notesMasters/notesMaster1.xml" Id="R7d0053f2c7f24f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89c6875ecd4ee6" /><Relationship Type="http://schemas.openxmlformats.org/officeDocument/2006/relationships/notesMaster" Target="/ppt/notesMasters/notesMaster1.xml" Id="R363197581baa47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15b6a877644818" /><Relationship Type="http://schemas.openxmlformats.org/officeDocument/2006/relationships/notesMaster" Target="/ppt/notesMasters/notesMaster1.xml" Id="R289453e290054c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8261d1274140f3" /><Relationship Type="http://schemas.openxmlformats.org/officeDocument/2006/relationships/notesMaster" Target="/ppt/notesMasters/notesMaster1.xml" Id="R4a0d3be460194e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054c555c394c13" /><Relationship Type="http://schemas.openxmlformats.org/officeDocument/2006/relationships/notesMaster" Target="/ppt/notesMasters/notesMaster1.xml" Id="R29f4f7890bf640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22a6fb6c29418b" /><Relationship Type="http://schemas.openxmlformats.org/officeDocument/2006/relationships/notesMaster" Target="/ppt/notesMasters/notesMaster1.xml" Id="R2f0f107e226e4d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f16db970a94aae" /><Relationship Type="http://schemas.openxmlformats.org/officeDocument/2006/relationships/notesMaster" Target="/ppt/notesMasters/notesMaster1.xml" Id="R860e2306572f4a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b96ad2886c4bea" /><Relationship Type="http://schemas.openxmlformats.org/officeDocument/2006/relationships/notesMaster" Target="/ppt/notesMasters/notesMaster1.xml" Id="Re3aa552dc64449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67c19082e54998" /><Relationship Type="http://schemas.openxmlformats.org/officeDocument/2006/relationships/notesMaster" Target="/ppt/notesMasters/notesMaster1.xml" Id="R7f995b8fdf2448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8db29e5c6d4ad6" /><Relationship Type="http://schemas.openxmlformats.org/officeDocument/2006/relationships/notesMaster" Target="/ppt/notesMasters/notesMaster1.xml" Id="R7a2a17dccfcd4f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10d7f0e005492f" /><Relationship Type="http://schemas.openxmlformats.org/officeDocument/2006/relationships/notesMaster" Target="/ppt/notesMasters/notesMaster1.xml" Id="Rec11ad4b593540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025964612d4e74" /><Relationship Type="http://schemas.openxmlformats.org/officeDocument/2006/relationships/notesMaster" Target="/ppt/notesMasters/notesMaster1.xml" Id="R7d9c9b7fddd34c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ebba44a3cb47b0" /><Relationship Type="http://schemas.openxmlformats.org/officeDocument/2006/relationships/notesMaster" Target="/ppt/notesMasters/notesMaster1.xml" Id="R497414304a7043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开场：建议从一期试点开始，评估我们承担赛季主题、章节玩法、任务奖励和活动体验设计的方式。团队履历、人员配置和报价需在对外提交前补充。</a:t>
            </a:r>
          </a:p>
          <a:p xmlns:a="http://schemas.openxmlformats.org/drawingml/2006/main">
            <a:r>
              <a:t>视觉素材：D:/codex/RH/haaland-offline/assets/haaland-stadium.png，为本项目AI生成概念素材，不是官方宣传图。</a:t>
            </a:r>
          </a:p>
          <a:p xmlns:a="http://schemas.openxmlformats.org/drawingml/2006/main">
            <a:r>
              <a:t>用户提供的空白文件画布为12192000×6858000 EMU，沿用16:9尺寸。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本覆盖年度荣誉、真实赛程、节庆和经典赛事四种切入方式，不构成全量历史活动盘点。这里先明确研究范围，后续分别拆解奖励推进与主题玩法，再归纳共性。关于参与理由的表述是设计解读，不是已验证的留存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[A] EA SPORTS，2025.01.26，《年度盛典开启！25年度最佳活动全新上线！》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FC足球世界，2026.02.12，《马年春节活动即将开启！多重新春福利送不停！》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FC足球世界，2024.06.13，《欧陆足坛风云再起，2024欧洲杯®全员上场！》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FC足球世界，2026.04.15，《Next新世代升级，欧冠荣耀活动，巅峰序章队徽开启！首充双倍重置》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事实：活动持续42天，共有年度盛典、提名揭秘、传奇之路、拼图挑战和终极年度最佳五个章节。首期开放其中三个。提名揭秘的登录和章节赛事提供章节代币，用来推进球员之旅。路径节点产出拼图票券，累计完成拼图可解锁球员特惠交换。设计归纳：每日行为通过资源和进度连接整期球员目标，因此应一起考虑比赛产出、进度门槛和球员获取。</a:t>
            </a:r>
          </a:p>
          <a:p xmlns:a="http://schemas.openxmlformats.org/drawingml/2006/main">
            <a:r>
              <a:t>图片来源：</a:t>
            </a:r>
          </a:p>
          <a:p xmlns:a="http://schemas.openxmlformats.org/drawingml/2006/main">
            <a:r>
              <a:t>https://wx3.sinaimg.cn/large/8764b058gy1hxutzr4qwfj212w0howj2.jpg</a:t>
            </a:r>
          </a:p>
          <a:p xmlns:a="http://schemas.openxmlformats.org/drawingml/2006/main">
            <a:r>
              <a:t>https://wx2.sinaimg.cn/large/8764b058gy1hxutzu0bggj212w0hogpp.jpg</a:t>
            </a:r>
          </a:p>
          <a:p xmlns:a="http://schemas.openxmlformats.org/drawingml/2006/main">
            <a:r>
              <a:t>保留官方图片比例和水印。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[A] EA SPORTS，2025.01.26，《年度盛典开启！25年度最佳活动全新上线！》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春节事实：每日首次多人对战和每日挑战积累福气值，用于福袋升级及里程碑。年兽挑战包含节庆主题比赛，鸿运叠彩累计14日任务升级球员。部分章节于2月16日开放。欧冠事实：冠军巡礼让玩家参与多个欧冠决赛赛事，获得球员奖励并解锁特价交换。设计解读：主题不仅决定画面，还可以决定比赛内容和开放节点。本页未声称两类设计具备已验证的运营提升。</a:t>
            </a:r>
          </a:p>
          <a:p xmlns:a="http://schemas.openxmlformats.org/drawingml/2006/main">
            <a:r>
              <a:t>左图是官方机制说明图，并非实机截图。</a:t>
            </a:r>
          </a:p>
          <a:p xmlns:a="http://schemas.openxmlformats.org/drawingml/2006/main">
            <a:r>
              <a:t>左图源：https://img2-tc.tapimg.com/moment/etag/33b06e2300097dcd53b8ce0fcad778e1.png/_tap_ugc.jpg</a:t>
            </a:r>
          </a:p>
          <a:p xmlns:a="http://schemas.openxmlformats.org/drawingml/2006/main">
            <a:r>
              <a:t>右图源：https://img2-tc.tapimg.com/moment/etag/b73d126035e15df9b26d710f11a3220e.jpg/_tap_ugc.jpg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[B] FC足球世界，2026.02.12，《马年春节活动即将开启！多重新春福利送不停！》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FC足球世界，2026.04.15，《Next新世代升级，欧冠荣耀活动，巅峰序章队徽开启！首充双倍重置》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具体案例之后，归纳主题入口、每日参与、可见进度、球员获取和球队成长这几项常见职能。这是样本归纳，各模块可以并行，也存在直接奖励球员等分支，不是每期固定的线性流程。下一页再说明它怎样影响原创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用玩家经历说明共同框架，避免将所有活动归为固定线性流程。官方样本的完整对照与来源见附录。设计重点是本提案的主张，尚需FC团队的系统能力与奖励规则评审，不是对现有活动效果的评价。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图是我们的设计归纳，不是官方架构图或唯一玩家路径。可观察职能包括主题入口、参与、推进、奖励与成长，但具体机制、顺序和分支不同。部分赛事直接奖励球员，不要求先兑换。图鉴和队徽亦可作为平行目标。新增赛季设计应先选择适合的模块，再明确连接关系与规则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完成从资料到设计的推导。左侧是对官方机制的简要归纳，右侧为原创方案选择。以年度最佳的进度关系为参考，用金靴征程展示球员目标。以春节与欧冠的主题比赛为参考，把哈兰德的终结与配合写进训练、路线和冠军挑战。并不意味着官方已采用或认可方案，规则和数值还需正式测算，完整关卡也未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[A] EA SPORTS，2025.01.26，《年度盛典开启！25年度最佳活动全新上线！》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FC足球世界，2026.02.12，《马年春节活动即将开启！多重新春福利送不停！》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FC足球世界，2026.04.15，《Next新世代升级，欧冠荣耀活动，巅峰序章队徽开启！首充双倍重置》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主题方案把哈兰德作为设计线索：训练、创造机会、搭档配合和终章挑战共同构成成长过程。禁区猎手是活动设计的一部分，尚未单独实现到网页原型。网页已有大厅、训练、搭档、征程和冠军五个页面，不能将页面数量等同于完整五个玩法章节。</a:t>
            </a:r>
          </a:p>
          <a:p xmlns:a="http://schemas.openxmlformats.org/drawingml/2006/main">
            <a:r>
              <a:t>视觉素材为本项目AI生成，非官方宣传图片。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路线来自已有原创方案与网页原型。这里为每条路线补充易理解的任务方向，帮助评审球星特色是否落实到比赛体验。正式设计需要进一步确定关卡条件、次数、难度、重复参与规则及产出。当前原型选择路线不会自动加载不同足球比赛，比赛部分采用简化结果结算，不可表述为全部玩法已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本项目早期网页原型，仅截取手机活动画面用于展示。当前还提供独立的单文件离线版。演示中的训练和比赛采用简化交互，不代表完整足球引擎或游戏客户端实现。禁区猎手未单独接入，完整六周内容也尚未制作。</a:t>
            </a:r>
          </a:p>
          <a:p xmlns:a="http://schemas.openxmlformats.org/drawingml/2006/main">
            <a:r>
              <a:t>截图：D:/codex/RH/haaland-season/preview-overview.jpg</a:t>
            </a:r>
          </a:p>
          <a:p xmlns:a="http://schemas.openxmlformats.org/drawingml/2006/main">
            <a:r>
              <a:t>离线演示：D:/codex/RH/haaland-offline/开始演示-手机预览版.html</a:t>
            </a:r>
          </a:p>
          <a:p xmlns:a="http://schemas.openxmlformats.org/drawingml/2006/main">
            <a:r>
              <a:t>在线参考：https://haaland-season-lab-oct14.apt-toast-4281.chatgpt.site ，当前有访问权限限制，不作为对外提交的唯一入口。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整期设计需要独立内容清单，包括训练关卡、周赛场次、路线任务链、奖励节点和日常任务配置。重复日常的次数不等同于新增内容数量。6周指活动运行长度，项目工期另含设计准备、制作接入与复盘。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此页说明活动运行节奏。项目工期还包括前期设计、开发与美术接入和复盘，不能用六周代替项目总工期。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拟承担活动内容设计，从主题提案到完整制作材料，并配合接入与修订。规则和数值必须对齐FC团队经济约束，系统功能和版本发布由FC团队决定。当前不是交付完成声明，也不承诺未经人员产能核实的范围。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我们提出的是设计与制作配合的责任范围。FC团队继续掌握产品方向、球员经济和版本发布的最终决策。进入配置制作或上线执行前，需要确认可用工具、权限、负责人和验收机制。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同时评估交付完整性和线上体验。参与、达成与资源分布等指标需要先确认口径和历史参照，不能把所有波动归因于设计合作。未经真实基线与对照，不承诺留存或收入提升百分比。具体效果评估可以在试点简报中约定，无需在初次pitch中铺陈全部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试点可按系统能力缩小范围，不必一次引入全部新机制。设计验收与线上效果验收分别约定。商业目标和最终范围需双方确认，当前不提供未经人员与产能核实的交付承诺。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请求与FC团队活动策划、产品和开发负责人对齐试点主题、可用活动系统及奖励限制。随后才能给出具体内容清单、排期和报价。团队履历、配置和实际产能必须补充真实资料，当前原型不能代替履约证明。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表是公开公告的选择性摘录，不是完整玩法清单，也不是活动效果比较。欧洲杯的赛事推进来自锦标赛及真实赛况联动，不据此补写代币路径或拼图。春节的球员升级与累计目标可以并行。不同年份的图鉴、徽章或队徽规则也不能视为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我们提出的是设计与制作配合的责任范围。FC团队继续掌握产品方向、球员经济和版本发布的最终决策。进入配置制作或上线执行前，需要确认可用工具、权限、负责人和验收机制。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此索引仅覆盖本次引用样本。页面中的官方截图和机制图均保留原比例，不以AI图替代。哈兰德视觉为本项目AI生成概念图，网页原型为原创样板。公开资料不包含内部运营数据，也不构成全量历史活动审计。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4594d50dc4b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3be51738245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c8aeff6274a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81cd79f4c4b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ea28f0a8541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8616939614d3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336756bfd40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391C39-0C6E-4B18-B83C-B985ACE20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9A1A7D-AC72-4CA1-AA1B-F95DA8CE9F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BFDA8C-A76F-4742-BD28-A743474160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4E828C-D7C9-4E2B-845D-1EB10334C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D99E42-036C-48FC-AF1C-BD6EB6C375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1846A4-A98E-452A-8B35-9EFB41DD4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513967-202F-4E80-9D09-4995DFA850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8118B7-F03D-47ED-BAE5-1FBB02BF8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E6FA9C-1596-449F-975C-C39BDBECA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A127D4-DA65-468A-984F-96FE3413CD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FC season proposal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3c0015751f42f5" /><Relationship Type="http://schemas.openxmlformats.org/officeDocument/2006/relationships/slideLayout" Target="/ppt/slideLayouts/slideLayout1.xml" Id="R602222044c214de7" /><Relationship Type="http://schemas.openxmlformats.org/officeDocument/2006/relationships/slideLayout" Target="/ppt/slideLayouts/slideLayout2.xml" Id="Rbf839714eb96407d" /><Relationship Type="http://schemas.openxmlformats.org/officeDocument/2006/relationships/slideLayout" Target="/ppt/slideLayouts/slideLayout3.xml" Id="R5b13eee20c1e4999" /><Relationship Type="http://schemas.openxmlformats.org/officeDocument/2006/relationships/slideLayout" Target="/ppt/slideLayouts/slideLayout4.xml" Id="Ra17795be776c4a0c" /><Relationship Type="http://schemas.openxmlformats.org/officeDocument/2006/relationships/slideLayout" Target="/ppt/slideLayouts/slideLayout5.xml" Id="Rd9c7089c9ae340ba" /><Relationship Type="http://schemas.openxmlformats.org/officeDocument/2006/relationships/slideLayout" Target="/ppt/slideLayouts/slideLayout6.xml" Id="Rbbf7580181584347" /><Relationship Type="http://schemas.openxmlformats.org/officeDocument/2006/relationships/slideLayout" Target="/ppt/slideLayouts/slideLayout7.xml" Id="R75e4c9a8cc434b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2222044c214de7"/>
    <p:sldLayoutId xmlns:r="http://schemas.openxmlformats.org/officeDocument/2006/relationships" id="2147483650" r:id="Rbf839714eb96407d"/>
    <p:sldLayoutId xmlns:r="http://schemas.openxmlformats.org/officeDocument/2006/relationships" id="2147483651" r:id="R5b13eee20c1e4999"/>
    <p:sldLayoutId xmlns:r="http://schemas.openxmlformats.org/officeDocument/2006/relationships" id="2147483652" r:id="Ra17795be776c4a0c"/>
    <p:sldLayoutId xmlns:r="http://schemas.openxmlformats.org/officeDocument/2006/relationships" id="2147483653" r:id="Rd9c7089c9ae340ba"/>
    <p:sldLayoutId xmlns:r="http://schemas.openxmlformats.org/officeDocument/2006/relationships" id="2147483654" r:id="Rbbf7580181584347"/>
    <p:sldLayoutId xmlns:r="http://schemas.openxmlformats.org/officeDocument/2006/relationships" id="2147483655" r:id="R75e4c9a8cc434b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208502569b4fee" /><Relationship Type="http://schemas.openxmlformats.org/officeDocument/2006/relationships/image" Target="/ppt/media/image.png" Id="R48f50ddbe4194096" /><Relationship Type="http://schemas.openxmlformats.org/officeDocument/2006/relationships/notesSlide" Target="/ppt/notesSlides/notesSlide1.xml" Id="R10f6505dccbc48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58d24423864dfb" /><Relationship Type="http://schemas.openxmlformats.org/officeDocument/2006/relationships/notesSlide" Target="/ppt/notesSlides/notesSlide2.xml" Id="Rccb3e42d15a14d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42c9521ff04b5d" /><Relationship Type="http://schemas.openxmlformats.org/officeDocument/2006/relationships/image" Target="/ppt/media/image.jpeg" Id="Re52f7dd645804268" /><Relationship Type="http://schemas.openxmlformats.org/officeDocument/2006/relationships/image" Target="/ppt/media/image2.jpeg" Id="R035dc57377ba45ab" /><Relationship Type="http://schemas.openxmlformats.org/officeDocument/2006/relationships/notesSlide" Target="/ppt/notesSlides/notesSlide3.xml" Id="Rd38b79a7d1bb4c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fd721e134548ae" /><Relationship Type="http://schemas.openxmlformats.org/officeDocument/2006/relationships/image" Target="/ppt/media/image3.jpeg" Id="R5ea14eb6bee4458d" /><Relationship Type="http://schemas.openxmlformats.org/officeDocument/2006/relationships/image" Target="/ppt/media/image4.jpeg" Id="Rf7b869a68e1e4e28" /><Relationship Type="http://schemas.openxmlformats.org/officeDocument/2006/relationships/notesSlide" Target="/ppt/notesSlides/notesSlide4.xml" Id="R2f9b0a751beb41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c041058d1946d2" /><Relationship Type="http://schemas.openxmlformats.org/officeDocument/2006/relationships/notesSlide" Target="/ppt/notesSlides/notesSlide5.xml" Id="R2f606a6701f247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6700efbfdf49ed" /><Relationship Type="http://schemas.openxmlformats.org/officeDocument/2006/relationships/notesSlide" Target="/ppt/notesSlides/notesSlide6.xml" Id="Rb1ff96da8a9843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1ec7f38e354114" /><Relationship Type="http://schemas.openxmlformats.org/officeDocument/2006/relationships/image" Target="/ppt/media/image2.png" Id="R2769c183e2674f7e" /><Relationship Type="http://schemas.openxmlformats.org/officeDocument/2006/relationships/notesSlide" Target="/ppt/notesSlides/notesSlide7.xml" Id="R5ec86e86b2b844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0768c259a34591" /><Relationship Type="http://schemas.openxmlformats.org/officeDocument/2006/relationships/notesSlide" Target="/ppt/notesSlides/notesSlide8.xml" Id="Ref51a27300434c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c9ddc5ee5141aa" /><Relationship Type="http://schemas.openxmlformats.org/officeDocument/2006/relationships/image" Target="/ppt/media/image5.jpeg" Id="Rfe6d657b758049d4" /><Relationship Type="http://schemas.openxmlformats.org/officeDocument/2006/relationships/notesSlide" Target="/ppt/notesSlides/notesSlide9.xml" Id="Rb6ba98bd65cf4b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8673a9da844694" /><Relationship Type="http://schemas.openxmlformats.org/officeDocument/2006/relationships/notesSlide" Target="/ppt/notesSlides/notesSlide10.xml" Id="Rb36d71bc75e943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2129e24b645c5" /><Relationship Type="http://schemas.openxmlformats.org/officeDocument/2006/relationships/notesSlide" Target="/ppt/notesSlides/notesSlide11.xml" Id="R6f7c1f376c484f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2f428032445ce" /><Relationship Type="http://schemas.openxmlformats.org/officeDocument/2006/relationships/notesSlide" Target="/ppt/notesSlides/notesSlide12.xml" Id="R86797dc79a9043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fae63eef544e9" /><Relationship Type="http://schemas.openxmlformats.org/officeDocument/2006/relationships/notesSlide" Target="/ppt/notesSlides/notesSlide13.xml" Id="R4ebd7f882fb248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6947ffdde46da" /><Relationship Type="http://schemas.openxmlformats.org/officeDocument/2006/relationships/notesSlide" Target="/ppt/notesSlides/notesSlide14.xml" Id="R3d1523efc60c4d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c64b30dcb94646" /><Relationship Type="http://schemas.openxmlformats.org/officeDocument/2006/relationships/notesSlide" Target="/ppt/notesSlides/notesSlide15.xml" Id="Rd3bb7040e11e47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7d78cbccb4aa0" /><Relationship Type="http://schemas.openxmlformats.org/officeDocument/2006/relationships/notesSlide" Target="/ppt/notesSlides/notesSlide16.xml" Id="R09d83bb45cf045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CF04C-FFF8-4CD6-9967-276632E0D1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50ddbe41940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B9218340-1129-4F5E-B378-9B7CB71B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FC 足球世界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7031C9A-61D5-4AA6-A4D0-93F95D1E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5722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赛季活动设计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合作提案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EF8AE3-96B6-4C95-B42F-FE691FA9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从哈兰德主题开始，合作完成一期赛季活动</a:t>
            </a:r>
          </a:p>
        </p:txBody>
      </p:sp>
      <p:sp>
        <p:nvSpPr>
          <p:cNvPr id="5" name="discussion-label">
            <a:extLst xmlns:a="http://schemas.openxmlformats.org/drawingml/2006/main">
              <a:ext uri="{FF2B5EF4-FFF2-40B4-BE49-F238E27FC236}">
                <a16:creationId xmlns:a16="http://schemas.microsoft.com/office/drawing/2014/main" id="{A146037F-71A1-4C1B-9DAE-3E22CF39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合作讨论稿</a:t>
            </a:r>
          </a:p>
        </p:txBody>
      </p:sp>
    </p:spTree>
    <p:extLst>
      <p:ext uri="{BB962C8B-B14F-4D97-AF65-F5344CB8AC3E}">
        <p14:creationId xmlns:p14="http://schemas.microsoft.com/office/powerpoint/2010/main" val="319772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5B0F08-0585-4EA7-BC33-0C53A798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我们选了四类活动来比较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C4FD044D-F3B9-4A28-80F8-51A4D68A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先看玩家做什么，再看进度和奖励怎样串起来。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915322-4778-4699-96C9-70D4E0CF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sample-date-0">
            <a:extLst xmlns:a="http://schemas.openxmlformats.org/drawingml/2006/main">
              <a:ext uri="{FF2B5EF4-FFF2-40B4-BE49-F238E27FC236}">
                <a16:creationId xmlns:a16="http://schemas.microsoft.com/office/drawing/2014/main" id="{5528C481-48F7-436C-B989-AD878EE8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4382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2024.06</a:t>
            </a:r>
          </a:p>
        </p:txBody>
      </p:sp>
      <p:sp>
        <p:nvSpPr>
          <p:cNvPr id="5" name="sample-title-0">
            <a:extLst xmlns:a="http://schemas.openxmlformats.org/drawingml/2006/main">
              <a:ext uri="{FF2B5EF4-FFF2-40B4-BE49-F238E27FC236}">
                <a16:creationId xmlns:a16="http://schemas.microsoft.com/office/drawing/2014/main" id="{185097F3-D39F-44BF-9956-F1C9A625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0980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欧洲杯</a:t>
            </a:r>
          </a:p>
        </p:txBody>
      </p:sp>
      <p:sp>
        <p:nvSpPr>
          <p:cNvPr id="6" name="sample-desc-0">
            <a:extLst xmlns:a="http://schemas.openxmlformats.org/drawingml/2006/main">
              <a:ext uri="{FF2B5EF4-FFF2-40B4-BE49-F238E27FC236}">
                <a16:creationId xmlns:a16="http://schemas.microsoft.com/office/drawing/2014/main" id="{AB58D4DA-81C2-4585-8139-15D98565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5962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真实比赛竞猜，让赛程成为参与理由。</a:t>
            </a:r>
          </a:p>
        </p:txBody>
      </p:sp>
      <p:sp>
        <p:nvSpPr>
          <p:cNvPr id="7" name="sample-date-1">
            <a:extLst xmlns:a="http://schemas.openxmlformats.org/drawingml/2006/main">
              <a:ext uri="{FF2B5EF4-FFF2-40B4-BE49-F238E27FC236}">
                <a16:creationId xmlns:a16="http://schemas.microsoft.com/office/drawing/2014/main" id="{124A25E0-896D-404B-9D7B-BD4F075B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4382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2025.01</a:t>
            </a:r>
          </a:p>
        </p:txBody>
      </p:sp>
      <p:sp>
        <p:nvSpPr>
          <p:cNvPr id="8" name="sample-title-1">
            <a:extLst xmlns:a="http://schemas.openxmlformats.org/drawingml/2006/main">
              <a:ext uri="{FF2B5EF4-FFF2-40B4-BE49-F238E27FC236}">
                <a16:creationId xmlns:a16="http://schemas.microsoft.com/office/drawing/2014/main" id="{77A15ECA-C787-4FF8-92E6-E39E2338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7657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</a:t>
            </a:r>
          </a:p>
        </p:txBody>
      </p:sp>
      <p:sp>
        <p:nvSpPr>
          <p:cNvPr id="9" name="sample-desc-1">
            <a:extLst xmlns:a="http://schemas.openxmlformats.org/drawingml/2006/main">
              <a:ext uri="{FF2B5EF4-FFF2-40B4-BE49-F238E27FC236}">
                <a16:creationId xmlns:a16="http://schemas.microsoft.com/office/drawing/2014/main" id="{0E1811EB-3A58-44E8-B0C3-9E7B42C9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14675"/>
            <a:ext cx="5962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每天推进奖励路径，逐步接近目标球员。</a:t>
            </a:r>
          </a:p>
        </p:txBody>
      </p:sp>
      <p:sp>
        <p:nvSpPr>
          <p:cNvPr id="10" name="sample-date-2">
            <a:extLst xmlns:a="http://schemas.openxmlformats.org/drawingml/2006/main">
              <a:ext uri="{FF2B5EF4-FFF2-40B4-BE49-F238E27FC236}">
                <a16:creationId xmlns:a16="http://schemas.microsoft.com/office/drawing/2014/main" id="{94DEEA80-A77E-4D95-84F7-69CCF1DE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14382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2026.02</a:t>
            </a:r>
          </a:p>
        </p:txBody>
      </p:sp>
      <p:sp>
        <p:nvSpPr>
          <p:cNvPr id="11" name="sample-title-2">
            <a:extLst xmlns:a="http://schemas.openxmlformats.org/drawingml/2006/main">
              <a:ext uri="{FF2B5EF4-FFF2-40B4-BE49-F238E27FC236}">
                <a16:creationId xmlns:a16="http://schemas.microsoft.com/office/drawing/2014/main" id="{E5F9CE7F-2F21-4600-8CC7-40B59C7E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433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</a:t>
            </a:r>
          </a:p>
        </p:txBody>
      </p:sp>
      <p:sp>
        <p:nvSpPr>
          <p:cNvPr id="12" name="sample-desc-2">
            <a:extLst xmlns:a="http://schemas.openxmlformats.org/drawingml/2006/main">
              <a:ext uri="{FF2B5EF4-FFF2-40B4-BE49-F238E27FC236}">
                <a16:creationId xmlns:a16="http://schemas.microsoft.com/office/drawing/2014/main" id="{A2345174-C563-4820-90BF-61CE7230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81450"/>
            <a:ext cx="5962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节日挑战与累计任务，带来福利和球员升级。</a:t>
            </a:r>
          </a:p>
        </p:txBody>
      </p:sp>
      <p:sp>
        <p:nvSpPr>
          <p:cNvPr id="13" name="sample-date-3">
            <a:extLst xmlns:a="http://schemas.openxmlformats.org/drawingml/2006/main">
              <a:ext uri="{FF2B5EF4-FFF2-40B4-BE49-F238E27FC236}">
                <a16:creationId xmlns:a16="http://schemas.microsoft.com/office/drawing/2014/main" id="{B08F7924-2913-46D4-8C41-89DFB768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4382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2026.04</a:t>
            </a:r>
          </a:p>
        </p:txBody>
      </p:sp>
      <p:sp>
        <p:nvSpPr>
          <p:cNvPr id="14" name="sample-title-3">
            <a:extLst xmlns:a="http://schemas.openxmlformats.org/drawingml/2006/main">
              <a:ext uri="{FF2B5EF4-FFF2-40B4-BE49-F238E27FC236}">
                <a16:creationId xmlns:a16="http://schemas.microsoft.com/office/drawing/2014/main" id="{42EFD39B-1E41-4E37-B7BC-5CB34D71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1012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欧冠荣耀</a:t>
            </a:r>
          </a:p>
        </p:txBody>
      </p:sp>
      <p:sp>
        <p:nvSpPr>
          <p:cNvPr id="15" name="sample-desc-3">
            <a:extLst xmlns:a="http://schemas.openxmlformats.org/drawingml/2006/main">
              <a:ext uri="{FF2B5EF4-FFF2-40B4-BE49-F238E27FC236}">
                <a16:creationId xmlns:a16="http://schemas.microsoft.com/office/drawing/2014/main" id="{2EAC671F-BBA1-4F7D-A2E8-F3E80D7E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48225"/>
            <a:ext cx="5962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重踢经典赛事，赢取球员和交换资格。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405BE01-6F49-4D2C-A906-D0B3CDD5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国服官方公告样本，时间为公告月份。完整对照与来源见附录。[A–D]</a:t>
            </a:r>
          </a:p>
        </p:txBody>
      </p:sp>
    </p:spTree>
    <p:extLst>
      <p:ext uri="{BB962C8B-B14F-4D97-AF65-F5344CB8AC3E}">
        <p14:creationId xmlns:p14="http://schemas.microsoft.com/office/powerpoint/2010/main" val="1286296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019C6F-15F0-49BE-B1EA-D10F9B48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年度最佳怎样把日常参与连到球员目标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D19B72DF-6200-4B6A-8338-101F85DD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五个章节分阶段开放，日常赛事推动路径与拼图。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64F521-644B-46F4-9A42-0E2CDD4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A2842-ADC2-4ED7-B5E5-EC95F161C6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f7dd645804268"/>
          <a:stretch xmlns:a="http://schemas.openxmlformats.org/drawingml/2006/main"/>
        </p:blipFill>
        <p:spPr>
          <a:xfrm xmlns:a="http://schemas.openxmlformats.org/drawingml/2006/main">
            <a:off x="685800" y="2058080"/>
            <a:ext cx="5238750" cy="2379889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4664C-651A-4401-8E6B-DED6FA5ACF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dc57377ba45ab"/>
          <a:stretch xmlns:a="http://schemas.openxmlformats.org/drawingml/2006/main"/>
        </p:blipFill>
        <p:spPr>
          <a:xfrm xmlns:a="http://schemas.openxmlformats.org/drawingml/2006/main">
            <a:off x="6267450" y="2058080"/>
            <a:ext cx="5238750" cy="2379889"/>
          </a:xfrm>
          <a:prstGeom xmlns:a="http://schemas.openxmlformats.org/drawingml/2006/main" prst="rect">
            <a:avLst/>
          </a:prstGeom>
        </p:spPr>
      </p:pic>
      <p:sp>
        <p:nvSpPr>
          <p:cNvPr id="6" name="overview-caption">
            <a:extLst xmlns:a="http://schemas.openxmlformats.org/drawingml/2006/main">
              <a:ext uri="{FF2B5EF4-FFF2-40B4-BE49-F238E27FC236}">
                <a16:creationId xmlns:a16="http://schemas.microsoft.com/office/drawing/2014/main" id="{6789B7AD-C49B-4CD0-94F4-76E8B2E4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517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首页把五个章节放在一起</a:t>
            </a:r>
          </a:p>
        </p:txBody>
      </p:sp>
      <p:sp>
        <p:nvSpPr>
          <p:cNvPr id="7" name="path-caption">
            <a:extLst xmlns:a="http://schemas.openxmlformats.org/drawingml/2006/main">
              <a:ext uri="{FF2B5EF4-FFF2-40B4-BE49-F238E27FC236}">
                <a16:creationId xmlns:a16="http://schemas.microsoft.com/office/drawing/2014/main" id="{A3D5E962-5019-44F0-8260-F77318AC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00575"/>
            <a:ext cx="517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路径节点继续产出拼图票券</a:t>
            </a:r>
          </a:p>
        </p:txBody>
      </p:sp>
      <p:sp>
        <p:nvSpPr>
          <p:cNvPr id="8" name="reward-observation">
            <a:extLst xmlns:a="http://schemas.openxmlformats.org/drawingml/2006/main">
              <a:ext uri="{FF2B5EF4-FFF2-40B4-BE49-F238E27FC236}">
                <a16:creationId xmlns:a16="http://schemas.microsoft.com/office/drawing/2014/main" id="{38B60E66-33CB-443B-90DA-BDF37CC2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完成拼图后，再解锁球员特惠交换。</a:t>
            </a:r>
          </a:p>
        </p:txBody>
      </p:sp>
      <p:sp>
        <p:nvSpPr>
          <p:cNvPr id="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9C5863A-49D7-4056-9883-EB7608A7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我们的判断：比赛、进度和交换需要一起设计。官方规则与界面：[A]</a:t>
            </a:r>
          </a:p>
        </p:txBody>
      </p:sp>
    </p:spTree>
    <p:extLst>
      <p:ext uri="{BB962C8B-B14F-4D97-AF65-F5344CB8AC3E}">
        <p14:creationId xmlns:p14="http://schemas.microsoft.com/office/powerpoint/2010/main" val="2073712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4E0370-E2CA-4217-93F5-B70C01D7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题材也改变了玩家参与的方式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AFC5067B-9422-41E2-9275-D6C0AD2A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春节加入节日挑战，欧冠让玩家重踢经典比赛。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67BC49-6977-4EBD-85FE-F459111E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1129C-2E9D-4442-AC67-6942D01428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14eb6bee4458d"/>
          <a:stretch xmlns:a="http://schemas.openxmlformats.org/drawingml/2006/main"/>
        </p:blipFill>
        <p:spPr>
          <a:xfrm xmlns:a="http://schemas.openxmlformats.org/drawingml/2006/main">
            <a:off x="723900" y="2078896"/>
            <a:ext cx="1905000" cy="3490784"/>
          </a:xfrm>
          <a:prstGeom xmlns:a="http://schemas.openxmlformats.org/drawingml/2006/main" prst="rect">
            <a:avLst/>
          </a:prstGeom>
        </p:spPr>
      </p:pic>
      <p:sp>
        <p:nvSpPr>
          <p:cNvPr id="5" name="spring-title">
            <a:extLst xmlns:a="http://schemas.openxmlformats.org/drawingml/2006/main">
              <a:ext uri="{FF2B5EF4-FFF2-40B4-BE49-F238E27FC236}">
                <a16:creationId xmlns:a16="http://schemas.microsoft.com/office/drawing/2014/main" id="{D8D8272D-BAB4-445E-94F0-5DCD6E41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38375"/>
            <a:ext cx="295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春节</a:t>
            </a:r>
          </a:p>
        </p:txBody>
      </p:sp>
      <p:sp>
        <p:nvSpPr>
          <p:cNvPr id="6" name="spring-facts">
            <a:extLst xmlns:a="http://schemas.openxmlformats.org/drawingml/2006/main">
              <a:ext uri="{FF2B5EF4-FFF2-40B4-BE49-F238E27FC236}">
                <a16:creationId xmlns:a16="http://schemas.microsoft.com/office/drawing/2014/main" id="{6F73D4AE-D9A5-444F-8509-C09F576E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81325"/>
            <a:ext cx="295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累积福气、挑战年兽，</a:t>
            </a:r>
          </a:p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完成连续任务升级球员。</a:t>
            </a:r>
          </a:p>
        </p:txBody>
      </p:sp>
      <p:sp>
        <p:nvSpPr>
          <p:cNvPr id="7" name="spring-reading">
            <a:extLst xmlns:a="http://schemas.openxmlformats.org/drawingml/2006/main">
              <a:ext uri="{FF2B5EF4-FFF2-40B4-BE49-F238E27FC236}">
                <a16:creationId xmlns:a16="http://schemas.microsoft.com/office/drawing/2014/main" id="{B4CEC024-4659-4F4B-90AF-5F31CF62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910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参与跟着节日节点展开。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A8348-997C-4905-A666-10B8F81A23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869a68e1e4e28"/>
          <a:stretch xmlns:a="http://schemas.openxmlformats.org/drawingml/2006/main"/>
        </p:blipFill>
        <p:spPr>
          <a:xfrm xmlns:a="http://schemas.openxmlformats.org/drawingml/2006/main">
            <a:off x="6334125" y="2089097"/>
            <a:ext cx="5172075" cy="2317856"/>
          </a:xfrm>
          <a:prstGeom xmlns:a="http://schemas.openxmlformats.org/drawingml/2006/main" prst="rect">
            <a:avLst/>
          </a:prstGeom>
        </p:spPr>
      </p:pic>
      <p:sp>
        <p:nvSpPr>
          <p:cNvPr id="9" name="ucl-title">
            <a:extLst xmlns:a="http://schemas.openxmlformats.org/drawingml/2006/main">
              <a:ext uri="{FF2B5EF4-FFF2-40B4-BE49-F238E27FC236}">
                <a16:creationId xmlns:a16="http://schemas.microsoft.com/office/drawing/2014/main" id="{8E75A075-EFE6-423C-9418-F9290EE9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63867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欧冠荣耀</a:t>
            </a:r>
          </a:p>
        </p:txBody>
      </p:sp>
      <p:sp>
        <p:nvSpPr>
          <p:cNvPr id="10" name="ucl-facts">
            <a:extLst xmlns:a="http://schemas.openxmlformats.org/drawingml/2006/main">
              <a:ext uri="{FF2B5EF4-FFF2-40B4-BE49-F238E27FC236}">
                <a16:creationId xmlns:a16="http://schemas.microsoft.com/office/drawing/2014/main" id="{E8650959-3EE8-4FE2-8EB4-8927CDF9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7207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重踢经典决赛，赢球后</a:t>
            </a:r>
          </a:p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获得奖励并解锁特价交换。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B89613B-F19D-4E85-999F-ED4DC8BE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官方规则与配图：[B] 2026.02.12、[D] 2026.04.15。左图为机制说明。</a:t>
            </a:r>
          </a:p>
        </p:txBody>
      </p:sp>
    </p:spTree>
    <p:extLst>
      <p:ext uri="{BB962C8B-B14F-4D97-AF65-F5344CB8AC3E}">
        <p14:creationId xmlns:p14="http://schemas.microsoft.com/office/powerpoint/2010/main" val="399924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6E20B8-C338-4898-A7EB-0791E934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这些活动的共同线索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4133E9A3-5D1D-4FF7-9E86-EDBA72CD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参与方式各有不同，日常行为都在逐步接近球员与球队目标。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6E51A0-ADC1-43E0-8C3E-03523DC5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525F06BF-8023-4049-B199-3A070944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7CBCE0A4-1859-45DD-9267-2F9D328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990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被主题吸引</a:t>
            </a:r>
          </a:p>
        </p:txBody>
      </p:sp>
      <p:sp>
        <p:nvSpPr>
          <p:cNvPr id="6" name="step-body-0">
            <a:extLst xmlns:a="http://schemas.openxmlformats.org/drawingml/2006/main">
              <a:ext uri="{FF2B5EF4-FFF2-40B4-BE49-F238E27FC236}">
                <a16:creationId xmlns:a16="http://schemas.microsoft.com/office/drawing/2014/main" id="{B8E5317E-AE83-4181-8094-43DC543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球星、荣誉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或现实赛事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917F44CE-3260-47F2-A37B-76432805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050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A7D462D-9920-49B3-8757-2541FF00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14700"/>
            <a:ext cx="1990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每天参与</a:t>
            </a:r>
          </a:p>
        </p:txBody>
      </p:sp>
      <p:sp>
        <p:nvSpPr>
          <p:cNvPr id="9" name="step-body-1">
            <a:extLst xmlns:a="http://schemas.openxmlformats.org/drawingml/2006/main">
              <a:ext uri="{FF2B5EF4-FFF2-40B4-BE49-F238E27FC236}">
                <a16:creationId xmlns:a16="http://schemas.microsoft.com/office/drawing/2014/main" id="{4F04743F-BD5B-44EB-BA5E-69381DF0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0527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比赛与任务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获得活动资源</a:t>
            </a:r>
          </a:p>
        </p:txBody>
      </p:sp>
      <p:sp>
        <p:nvSpPr>
          <p:cNvPr id="10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B6473D52-3920-4924-A67E-78AF7311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DC649A31-8A1A-4E49-8693-C5CE8034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14700"/>
            <a:ext cx="1990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看见进度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7B3CC411-EDA0-4AF9-B451-7401087F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0527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路径、拼图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或累计挑战</a:t>
            </a:r>
          </a:p>
        </p:txBody>
      </p:sp>
      <p:sp>
        <p:nvSpPr>
          <p:cNvPr id="13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FBFA9ED3-D4AE-4A85-9EC4-8F4F8E60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050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E99479C2-B728-4468-8AE7-235B7FE5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14700"/>
            <a:ext cx="1990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拿到球员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3A4FD8F2-77E2-42D4-94D4-C485E94C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10527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领取奖励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兑换或交换</a:t>
            </a:r>
          </a:p>
        </p:txBody>
      </p:sp>
      <p:sp>
        <p:nvSpPr>
          <p:cNvPr id="16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2CF3FDAF-CBAD-40A1-BC01-D8B15E43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A3D9920F-1BCD-47E3-AD2D-9D85679D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1990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补强球队</a:t>
            </a:r>
          </a:p>
        </p:txBody>
      </p:sp>
      <p:sp>
        <p:nvSpPr>
          <p:cNvPr id="18" name="step-body-4">
            <a:extLst xmlns:a="http://schemas.openxmlformats.org/drawingml/2006/main">
              <a:ext uri="{FF2B5EF4-FFF2-40B4-BE49-F238E27FC236}">
                <a16:creationId xmlns:a16="http://schemas.microsoft.com/office/drawing/2014/main" id="{AE01946B-BF31-4488-A78B-FD04BF4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0527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阵容成长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与球员收集</a:t>
            </a:r>
          </a:p>
        </p:txBody>
      </p:sp>
      <p:sp>
        <p:nvSpPr>
          <p:cNvPr id="19" name="design-position">
            <a:extLst xmlns:a="http://schemas.openxmlformats.org/drawingml/2006/main">
              <a:ext uri="{FF2B5EF4-FFF2-40B4-BE49-F238E27FC236}">
                <a16:creationId xmlns:a16="http://schemas.microsoft.com/office/drawing/2014/main" id="{8E17901C-1F76-482D-A066-C576C6CE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日常参与能看见进度，阶段目标最终连接球员获取。</a:t>
            </a:r>
          </a:p>
        </p:txBody>
      </p:sp>
      <p:sp>
        <p:nvSpPr>
          <p:cNvPr id="2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A9EF4EC-4388-4E37-8F87-321CCD3F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基于公开样本的归纳。各模块可以并行，具体玩法和顺序随活动变化。</a:t>
            </a:r>
          </a:p>
        </p:txBody>
      </p:sp>
    </p:spTree>
    <p:extLst>
      <p:ext uri="{BB962C8B-B14F-4D97-AF65-F5344CB8AC3E}">
        <p14:creationId xmlns:p14="http://schemas.microsoft.com/office/powerpoint/2010/main" val="3578493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AA3B1F-0344-488C-A891-F356BBA5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这些观察怎样影响哈兰德方案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7EC2EFD8-E0AD-42F3-A3C5-266AD9BA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保留清楚的参与和领奖进度，把新意放进比赛内容。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7D9D94-BD9E-4633-9ED1-74F39612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observation-label">
            <a:extLst xmlns:a="http://schemas.openxmlformats.org/drawingml/2006/main">
              <a:ext uri="{FF2B5EF4-FFF2-40B4-BE49-F238E27FC236}">
                <a16:creationId xmlns:a16="http://schemas.microsoft.com/office/drawing/2014/main" id="{13CE8FDB-C438-493B-A7FB-4A33976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从案例里看到</a:t>
            </a:r>
          </a:p>
        </p:txBody>
      </p:sp>
      <p:sp>
        <p:nvSpPr>
          <p:cNvPr id="5" name="proposal-label">
            <a:extLst xmlns:a="http://schemas.openxmlformats.org/drawingml/2006/main">
              <a:ext uri="{FF2B5EF4-FFF2-40B4-BE49-F238E27FC236}">
                <a16:creationId xmlns:a16="http://schemas.microsoft.com/office/drawing/2014/main" id="{0E89101A-8036-4538-B30A-287CEBE5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336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在哈兰德方案里</a:t>
            </a:r>
          </a:p>
        </p:txBody>
      </p:sp>
      <p:sp>
        <p:nvSpPr>
          <p:cNvPr id="6" name="observation-one">
            <a:extLst xmlns:a="http://schemas.openxmlformats.org/drawingml/2006/main">
              <a:ext uri="{FF2B5EF4-FFF2-40B4-BE49-F238E27FC236}">
                <a16:creationId xmlns:a16="http://schemas.microsoft.com/office/drawing/2014/main" id="{393DBE8F-A759-46B6-B282-E64A083A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</a:t>
            </a:r>
          </a:p>
        </p:txBody>
      </p:sp>
      <p:sp>
        <p:nvSpPr>
          <p:cNvPr id="7" name="observation-one-body">
            <a:extLst xmlns:a="http://schemas.openxmlformats.org/drawingml/2006/main">
              <a:ext uri="{FF2B5EF4-FFF2-40B4-BE49-F238E27FC236}">
                <a16:creationId xmlns:a16="http://schemas.microsoft.com/office/drawing/2014/main" id="{D99EA7BE-7BA8-4BBE-8C38-687CC70F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5000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日常赛事连接路径、拼图</a:t>
            </a:r>
          </a:p>
          <a:p xmlns:a="http://schemas.openxmlformats.org/drawingml/2006/main">
            <a:pPr algn="l">
              <a:defRPr sz="19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和球员交换。</a:t>
            </a:r>
          </a:p>
        </p:txBody>
      </p:sp>
      <p:sp>
        <p:nvSpPr>
          <p:cNvPr id="8" name="proposal-one">
            <a:extLst xmlns:a="http://schemas.openxmlformats.org/drawingml/2006/main">
              <a:ext uri="{FF2B5EF4-FFF2-40B4-BE49-F238E27FC236}">
                <a16:creationId xmlns:a16="http://schemas.microsoft.com/office/drawing/2014/main" id="{BBCF88D8-BF83-41B8-8A94-E15DC6B9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金靴征程</a:t>
            </a:r>
          </a:p>
        </p:txBody>
      </p:sp>
      <p:sp>
        <p:nvSpPr>
          <p:cNvPr id="9" name="proposal-one-body">
            <a:extLst xmlns:a="http://schemas.openxmlformats.org/drawingml/2006/main">
              <a:ext uri="{FF2B5EF4-FFF2-40B4-BE49-F238E27FC236}">
                <a16:creationId xmlns:a16="http://schemas.microsoft.com/office/drawing/2014/main" id="{4649927D-AD07-4E27-9F18-3B5521E7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86150"/>
            <a:ext cx="5000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每次参与都能看见</a:t>
            </a:r>
          </a:p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距离球员目标的进度。</a:t>
            </a:r>
          </a:p>
        </p:txBody>
      </p:sp>
      <p:sp>
        <p:nvSpPr>
          <p:cNvPr id="10" name="observation-two">
            <a:extLst xmlns:a="http://schemas.openxmlformats.org/drawingml/2006/main">
              <a:ext uri="{FF2B5EF4-FFF2-40B4-BE49-F238E27FC236}">
                <a16:creationId xmlns:a16="http://schemas.microsoft.com/office/drawing/2014/main" id="{9FA615FE-E7C6-4133-A1DD-C64E1903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春节与欧冠</a:t>
            </a:r>
          </a:p>
        </p:txBody>
      </p:sp>
      <p:sp>
        <p:nvSpPr>
          <p:cNvPr id="11" name="observation-two-body">
            <a:extLst xmlns:a="http://schemas.openxmlformats.org/drawingml/2006/main">
              <a:ext uri="{FF2B5EF4-FFF2-40B4-BE49-F238E27FC236}">
                <a16:creationId xmlns:a16="http://schemas.microsoft.com/office/drawing/2014/main" id="{EFEC092B-4F58-4153-9541-0600C5EE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5000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题材直接决定挑战内容。</a:t>
            </a:r>
          </a:p>
        </p:txBody>
      </p:sp>
      <p:sp>
        <p:nvSpPr>
          <p:cNvPr id="12" name="proposal-two">
            <a:extLst xmlns:a="http://schemas.openxmlformats.org/drawingml/2006/main">
              <a:ext uri="{FF2B5EF4-FFF2-40B4-BE49-F238E27FC236}">
                <a16:creationId xmlns:a16="http://schemas.microsoft.com/office/drawing/2014/main" id="{E79BC531-8060-49A9-8078-7A90CBC8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9625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训练、搭档与冠军挑战</a:t>
            </a:r>
          </a:p>
        </p:txBody>
      </p:sp>
      <p:sp>
        <p:nvSpPr>
          <p:cNvPr id="13" name="proposal-two-body">
            <a:extLst xmlns:a="http://schemas.openxmlformats.org/drawingml/2006/main">
              <a:ext uri="{FF2B5EF4-FFF2-40B4-BE49-F238E27FC236}">
                <a16:creationId xmlns:a16="http://schemas.microsoft.com/office/drawing/2014/main" id="{C214BF5B-F3EB-40B1-945E-FF7B8115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248275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围绕创造机会和完成进球设计任务。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AAFBA7F-FE20-4AE5-AE85-0D2233F1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右侧为原创设计选择，具体关卡与奖励数值需与FC团队确认。</a:t>
            </a:r>
          </a:p>
        </p:txBody>
      </p:sp>
    </p:spTree>
    <p:extLst>
      <p:ext uri="{BB962C8B-B14F-4D97-AF65-F5344CB8AC3E}">
        <p14:creationId xmlns:p14="http://schemas.microsoft.com/office/powerpoint/2010/main" val="1232042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73D82-3024-47F6-9E5F-CF7A6183FD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9c183e2674f7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05C39DD8-E164-4A91-8113-EC773BB0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原创赛季提案</a:t>
            </a:r>
          </a:p>
        </p:txBody>
      </p:sp>
      <p:sp>
        <p:nvSpPr>
          <p:cNvPr id="3" name="case-title">
            <a:extLst xmlns:a="http://schemas.openxmlformats.org/drawingml/2006/main">
              <a:ext uri="{FF2B5EF4-FFF2-40B4-BE49-F238E27FC236}">
                <a16:creationId xmlns:a16="http://schemas.microsoft.com/office/drawing/2014/main" id="{3F12693E-50AB-43BF-A44E-A4AAD016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哈兰德的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锋线征程</a:t>
            </a:r>
          </a:p>
        </p:txBody>
      </p:sp>
      <p:sp>
        <p:nvSpPr>
          <p:cNvPr id="4" name="case-promise">
            <a:extLst xmlns:a="http://schemas.openxmlformats.org/drawingml/2006/main">
              <a:ext uri="{FF2B5EF4-FFF2-40B4-BE49-F238E27FC236}">
                <a16:creationId xmlns:a16="http://schemas.microsoft.com/office/drawing/2014/main" id="{A8C067EF-793B-45DE-9842-3C593654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跟随一名中锋，从训练走到冠军决战。</a:t>
            </a:r>
          </a:p>
        </p:txBody>
      </p:sp>
      <p:sp>
        <p:nvSpPr>
          <p:cNvPr id="5" name="case-chapters">
            <a:extLst xmlns:a="http://schemas.openxmlformats.org/drawingml/2006/main">
              <a:ext uri="{FF2B5EF4-FFF2-40B4-BE49-F238E27FC236}">
                <a16:creationId xmlns:a16="http://schemas.microsoft.com/office/drawing/2014/main" id="{FF3D09FB-8D04-4A51-AC44-3632E14F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191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练习终结，寻找搭档。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在每周挑战中推进金靴征程，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最终赢得赛季版哈兰德。</a:t>
            </a:r>
          </a:p>
        </p:txBody>
      </p:sp>
      <p:sp>
        <p:nvSpPr>
          <p:cNvPr id="6" name="case-caveat">
            <a:extLst xmlns:a="http://schemas.openxmlformats.org/drawingml/2006/main">
              <a:ext uri="{FF2B5EF4-FFF2-40B4-BE49-F238E27FC236}">
                <a16:creationId xmlns:a16="http://schemas.microsoft.com/office/drawing/2014/main" id="{B03B8F15-C49D-49D0-AE76-9FF32B4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原创概念，按六周活动设想。主题视觉为AI生成。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85A922-5264-48A5-9B39-99C5DEB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36670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56DD5-CCA4-4CCB-9024-8DB3143A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最佳搭档：怎样为哈兰德创造机会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EE13085-C12A-4DEF-98BA-B01A61DB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玩家选择进攻路线，完成对应的主题任务。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3D4F1B-D17D-432D-A72A-2D1E1D9E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route-title-0">
            <a:extLst xmlns:a="http://schemas.openxmlformats.org/drawingml/2006/main">
              <a:ext uri="{FF2B5EF4-FFF2-40B4-BE49-F238E27FC236}">
                <a16:creationId xmlns:a16="http://schemas.microsoft.com/office/drawing/2014/main" id="{282352EE-A741-4F09-A94B-A697AFBE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地面直塞</a:t>
            </a:r>
          </a:p>
        </p:txBody>
      </p:sp>
      <p:sp>
        <p:nvSpPr>
          <p:cNvPr id="5" name="route-task-0">
            <a:extLst xmlns:a="http://schemas.openxmlformats.org/drawingml/2006/main">
              <a:ext uri="{FF2B5EF4-FFF2-40B4-BE49-F238E27FC236}">
                <a16:creationId xmlns:a16="http://schemas.microsoft.com/office/drawing/2014/main" id="{96774985-5226-4C10-8526-EEDEB5A3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33432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接应队友的穿透传球，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完成单刀破门。</a:t>
            </a:r>
          </a:p>
        </p:txBody>
      </p:sp>
      <p:sp>
        <p:nvSpPr>
          <p:cNvPr id="6" name="route-title-1">
            <a:extLst xmlns:a="http://schemas.openxmlformats.org/drawingml/2006/main">
              <a:ext uri="{FF2B5EF4-FFF2-40B4-BE49-F238E27FC236}">
                <a16:creationId xmlns:a16="http://schemas.microsoft.com/office/drawing/2014/main" id="{13B91A31-47AB-41E2-A287-4B09798D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43175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边路传中</a:t>
            </a:r>
          </a:p>
        </p:txBody>
      </p:sp>
      <p:sp>
        <p:nvSpPr>
          <p:cNvPr id="7" name="route-task-1">
            <a:extLst xmlns:a="http://schemas.openxmlformats.org/drawingml/2006/main">
              <a:ext uri="{FF2B5EF4-FFF2-40B4-BE49-F238E27FC236}">
                <a16:creationId xmlns:a16="http://schemas.microsoft.com/office/drawing/2014/main" id="{5FAB24BC-93E0-461F-AA00-10DDA0B5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57575"/>
            <a:ext cx="33432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从边路创造机会，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在禁区完成抢点。</a:t>
            </a:r>
          </a:p>
        </p:txBody>
      </p:sp>
      <p:sp>
        <p:nvSpPr>
          <p:cNvPr id="8" name="route-title-2">
            <a:extLst xmlns:a="http://schemas.openxmlformats.org/drawingml/2006/main">
              <a:ext uri="{FF2B5EF4-FFF2-40B4-BE49-F238E27FC236}">
                <a16:creationId xmlns:a16="http://schemas.microsoft.com/office/drawing/2014/main" id="{A3958FAC-4F44-4C24-B68B-F270E9DA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前场压迫</a:t>
            </a:r>
          </a:p>
        </p:txBody>
      </p:sp>
      <p:sp>
        <p:nvSpPr>
          <p:cNvPr id="9" name="route-task-2">
            <a:extLst xmlns:a="http://schemas.openxmlformats.org/drawingml/2006/main">
              <a:ext uri="{FF2B5EF4-FFF2-40B4-BE49-F238E27FC236}">
                <a16:creationId xmlns:a16="http://schemas.microsoft.com/office/drawing/2014/main" id="{1AAFDE6A-2B1C-419B-BF85-CEA337ED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57575"/>
            <a:ext cx="33432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夺回球权，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在对方重组防线前射门。</a:t>
            </a:r>
          </a:p>
        </p:txBody>
      </p:sp>
      <p:sp>
        <p:nvSpPr>
          <p:cNvPr id="10" name="reward-link">
            <a:extLst xmlns:a="http://schemas.openxmlformats.org/drawingml/2006/main">
              <a:ext uri="{FF2B5EF4-FFF2-40B4-BE49-F238E27FC236}">
                <a16:creationId xmlns:a16="http://schemas.microsoft.com/office/drawing/2014/main" id="{C0D1C211-D579-47A1-9C4C-18B47167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比赛所得推动金靴征程，逐步解锁球员奖励。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A6C1146-E230-4A9F-AE31-95544346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玩法提案。当前网页原型展示路线选择与奖励结算，具体比赛任务仍需制作。</a:t>
            </a:r>
          </a:p>
        </p:txBody>
      </p:sp>
    </p:spTree>
    <p:extLst>
      <p:ext uri="{BB962C8B-B14F-4D97-AF65-F5344CB8AC3E}">
        <p14:creationId xmlns:p14="http://schemas.microsoft.com/office/powerpoint/2010/main" val="17396987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D2CAE9-6FAA-43F1-A78E-38481DC1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核心流程已有可试玩样板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664DC0CF-B476-498B-A782-5F432A74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可以现场走一遍训练、路线选择和领奖。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97A515-0AC3-485E-8AA5-845B0BED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D5C5D-A583-48ED-8DEB-476758FEA9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d657b758049d4"/>
          <a:srcRect xmlns:a="http://schemas.openxmlformats.org/drawingml/2006/main" l="3600" t="20100" r="2600" b="28700"/>
          <a:stretch xmlns:a="http://schemas.openxmlformats.org/drawingml/2006/main"/>
        </p:blipFill>
        <p:spPr>
          <a:xfrm xmlns:a="http://schemas.openxmlformats.org/drawingml/2006/main">
            <a:off x="685800" y="1905000"/>
            <a:ext cx="10820400" cy="3952875"/>
          </a:xfrm>
          <a:prstGeom xmlns:a="http://schemas.openxmlformats.org/drawingml/2006/main" prst="rect">
            <a:avLst/>
          </a:prstGeom>
        </p:spPr>
      </p:pic>
      <p:sp>
        <p:nvSpPr>
          <p:cNvPr id="5" name="prototype-caveat">
            <a:extLst xmlns:a="http://schemas.openxmlformats.org/drawingml/2006/main">
              <a:ext uri="{FF2B5EF4-FFF2-40B4-BE49-F238E27FC236}">
                <a16:creationId xmlns:a16="http://schemas.microsoft.com/office/drawing/2014/main" id="{BE22CC9F-00EC-4717-A0A7-79635123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离线原型为简化演示，完整比赛与六周内容仍需制作。</a:t>
            </a:r>
          </a:p>
        </p:txBody>
      </p:sp>
    </p:spTree>
    <p:extLst>
      <p:ext uri="{BB962C8B-B14F-4D97-AF65-F5344CB8AC3E}">
        <p14:creationId xmlns:p14="http://schemas.microsoft.com/office/powerpoint/2010/main" val="10684092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F96101-B222-4B19-B8C7-085F9B95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六周活动，逐步走向冠军之夜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A0CE7D10-3D77-4A09-9DB2-267E2ACD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每个阶段都有新的比赛目标，最后留出完成奖励的时间。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3B6A57-10E2-4BC2-9094-722A9784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calendar-message">
            <a:extLst xmlns:a="http://schemas.openxmlformats.org/drawingml/2006/main">
              <a:ext uri="{FF2B5EF4-FFF2-40B4-BE49-F238E27FC236}">
                <a16:creationId xmlns:a16="http://schemas.microsoft.com/office/drawing/2014/main" id="{84067D5A-2D47-40D8-A0BB-3950883A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4905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从日常训练，</a:t>
            </a:r>
          </a:p>
          <a:p xmlns:a="http://schemas.openxmlformats.org/drawingml/2006/main">
            <a:pPr algn="l">
              <a:buNone/>
              <a:def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走到冠军决战。</a:t>
            </a:r>
          </a:p>
        </p:txBody>
      </p:sp>
      <p:sp>
        <p:nvSpPr>
          <p:cNvPr id="5" name="calendar-context">
            <a:extLst xmlns:a="http://schemas.openxmlformats.org/drawingml/2006/main">
              <a:ext uri="{FF2B5EF4-FFF2-40B4-BE49-F238E27FC236}">
                <a16:creationId xmlns:a16="http://schemas.microsoft.com/office/drawing/2014/main" id="{FC7F3325-D2E0-4FEA-A331-170A5002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481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整期围绕同一名球星展开，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逐步增加配合与比赛挑战。</a:t>
            </a:r>
          </a:p>
        </p:txBody>
      </p:sp>
      <p:sp>
        <p:nvSpPr>
          <p:cNvPr id="6" name="week-0">
            <a:extLst xmlns:a="http://schemas.openxmlformats.org/drawingml/2006/main">
              <a:ext uri="{FF2B5EF4-FFF2-40B4-BE49-F238E27FC236}">
                <a16:creationId xmlns:a16="http://schemas.microsoft.com/office/drawing/2014/main" id="{F2997434-68A1-4361-A985-22EF82AC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9075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第1至2周</a:t>
            </a:r>
          </a:p>
        </p:txBody>
      </p:sp>
      <p:sp>
        <p:nvSpPr>
          <p:cNvPr id="7" name="week-goal-0">
            <a:extLst xmlns:a="http://schemas.openxmlformats.org/drawingml/2006/main">
              <a:ext uri="{FF2B5EF4-FFF2-40B4-BE49-F238E27FC236}">
                <a16:creationId xmlns:a16="http://schemas.microsoft.com/office/drawing/2014/main" id="{8BEA60C7-9CC4-43BE-BF17-BAA3E6A9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0985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练习终结，熟悉主题比赛</a:t>
            </a:r>
          </a:p>
        </p:txBody>
      </p:sp>
      <p:sp>
        <p:nvSpPr>
          <p:cNvPr id="8" name="week-1">
            <a:extLst xmlns:a="http://schemas.openxmlformats.org/drawingml/2006/main">
              <a:ext uri="{FF2B5EF4-FFF2-40B4-BE49-F238E27FC236}">
                <a16:creationId xmlns:a16="http://schemas.microsoft.com/office/drawing/2014/main" id="{24E657E9-17A1-4774-B87C-B514191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2420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第3至4周</a:t>
            </a:r>
          </a:p>
        </p:txBody>
      </p:sp>
      <p:sp>
        <p:nvSpPr>
          <p:cNvPr id="9" name="week-goal-1">
            <a:extLst xmlns:a="http://schemas.openxmlformats.org/drawingml/2006/main">
              <a:ext uri="{FF2B5EF4-FFF2-40B4-BE49-F238E27FC236}">
                <a16:creationId xmlns:a16="http://schemas.microsoft.com/office/drawing/2014/main" id="{FE59F0DE-5216-412C-A594-B58830BA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433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选择搭档，迎接进阶挑战</a:t>
            </a:r>
          </a:p>
        </p:txBody>
      </p:sp>
      <p:sp>
        <p:nvSpPr>
          <p:cNvPr id="10" name="week-2">
            <a:extLst xmlns:a="http://schemas.openxmlformats.org/drawingml/2006/main">
              <a:ext uri="{FF2B5EF4-FFF2-40B4-BE49-F238E27FC236}">
                <a16:creationId xmlns:a16="http://schemas.microsoft.com/office/drawing/2014/main" id="{50A4DA45-B752-4E66-9510-559FECC4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5765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第5周</a:t>
            </a:r>
          </a:p>
        </p:txBody>
      </p:sp>
      <p:sp>
        <p:nvSpPr>
          <p:cNvPr id="11" name="week-goal-2">
            <a:extLst xmlns:a="http://schemas.openxmlformats.org/drawingml/2006/main">
              <a:ext uri="{FF2B5EF4-FFF2-40B4-BE49-F238E27FC236}">
                <a16:creationId xmlns:a16="http://schemas.microsoft.com/office/drawing/2014/main" id="{D4CB370A-2112-450A-B85F-4826475E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7675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参加冠军之夜，冲击核心球员</a:t>
            </a:r>
          </a:p>
        </p:txBody>
      </p:sp>
      <p:sp>
        <p:nvSpPr>
          <p:cNvPr id="12" name="week-3">
            <a:extLst xmlns:a="http://schemas.openxmlformats.org/drawingml/2006/main">
              <a:ext uri="{FF2B5EF4-FFF2-40B4-BE49-F238E27FC236}">
                <a16:creationId xmlns:a16="http://schemas.microsoft.com/office/drawing/2014/main" id="{A58D4B4D-E284-404A-8077-3FDCDFF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9110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第6周</a:t>
            </a:r>
          </a:p>
        </p:txBody>
      </p:sp>
      <p:sp>
        <p:nvSpPr>
          <p:cNvPr id="13" name="week-goal-3">
            <a:extLst xmlns:a="http://schemas.openxmlformats.org/drawingml/2006/main">
              <a:ext uri="{FF2B5EF4-FFF2-40B4-BE49-F238E27FC236}">
                <a16:creationId xmlns:a16="http://schemas.microsoft.com/office/drawing/2014/main" id="{C999FB65-BD17-4AB1-A0F6-A6667DF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4102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完成剩余目标与收藏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ECF0FF1-FE45-4048-80BD-9A31417E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六周为方案假设，开放时间与奖励进度需结合制作安排及投放确认。</a:t>
            </a:r>
          </a:p>
        </p:txBody>
      </p:sp>
    </p:spTree>
    <p:extLst>
      <p:ext uri="{BB962C8B-B14F-4D97-AF65-F5344CB8AC3E}">
        <p14:creationId xmlns:p14="http://schemas.microsoft.com/office/powerpoint/2010/main" val="10669293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CE6EE0-A13C-4AF9-B3B3-D240F40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我们希望承担的工作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5E762B-5892-4D9B-BE35-A2066A98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scope-statement">
            <a:extLst xmlns:a="http://schemas.openxmlformats.org/drawingml/2006/main">
              <a:ext uri="{FF2B5EF4-FFF2-40B4-BE49-F238E27FC236}">
                <a16:creationId xmlns:a16="http://schemas.microsoft.com/office/drawing/2014/main" id="{F56D0E59-891B-4316-940F-97FEC8A9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5143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把一个赛季主题，</a:t>
            </a:r>
          </a:p>
          <a:p xmlns:a="http://schemas.openxmlformats.org/drawingml/2006/main">
            <a:pPr algn="l">
              <a:buNone/>
              <a:def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做成完整的活动设计。</a:t>
            </a:r>
          </a:p>
        </p:txBody>
      </p:sp>
      <p:sp>
        <p:nvSpPr>
          <p:cNvPr id="4" name="scope-intro">
            <a:extLst xmlns:a="http://schemas.openxmlformats.org/drawingml/2006/main">
              <a:ext uri="{FF2B5EF4-FFF2-40B4-BE49-F238E27FC236}">
                <a16:creationId xmlns:a16="http://schemas.microsoft.com/office/drawing/2014/main" id="{2318C997-80EC-4CFE-B93B-8DFF9FDF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5048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交到制作团队手中时，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玩法和实现要求都足够清楚。</a:t>
            </a:r>
          </a:p>
        </p:txBody>
      </p:sp>
      <p:sp>
        <p:nvSpPr>
          <p:cNvPr id="5" name="scope-title-0">
            <a:extLst xmlns:a="http://schemas.openxmlformats.org/drawingml/2006/main">
              <a:ext uri="{FF2B5EF4-FFF2-40B4-BE49-F238E27FC236}">
                <a16:creationId xmlns:a16="http://schemas.microsoft.com/office/drawing/2014/main" id="{A5CBDD3A-8CA4-48E7-9839-421800EE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玩法内容</a:t>
            </a:r>
          </a:p>
        </p:txBody>
      </p:sp>
      <p:sp>
        <p:nvSpPr>
          <p:cNvPr id="6" name="scope-desc-0">
            <a:extLst xmlns:a="http://schemas.openxmlformats.org/drawingml/2006/main">
              <a:ext uri="{FF2B5EF4-FFF2-40B4-BE49-F238E27FC236}">
                <a16:creationId xmlns:a16="http://schemas.microsoft.com/office/drawing/2014/main" id="{C142D78F-2DE2-4801-83B5-E270FE82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527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章节、关卡与每日任务</a:t>
            </a:r>
          </a:p>
        </p:txBody>
      </p:sp>
      <p:sp>
        <p:nvSpPr>
          <p:cNvPr id="7" name="scope-title-1">
            <a:extLst xmlns:a="http://schemas.openxmlformats.org/drawingml/2006/main">
              <a:ext uri="{FF2B5EF4-FFF2-40B4-BE49-F238E27FC236}">
                <a16:creationId xmlns:a16="http://schemas.microsoft.com/office/drawing/2014/main" id="{939F06C0-C5DC-4C7F-9CDE-633EA178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57525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奖励设计</a:t>
            </a:r>
          </a:p>
        </p:txBody>
      </p:sp>
      <p:sp>
        <p:nvSpPr>
          <p:cNvPr id="8" name="scope-desc-1">
            <a:extLst xmlns:a="http://schemas.openxmlformats.org/drawingml/2006/main">
              <a:ext uri="{FF2B5EF4-FFF2-40B4-BE49-F238E27FC236}">
                <a16:creationId xmlns:a16="http://schemas.microsoft.com/office/drawing/2014/main" id="{0C8CCE33-6E2B-44FE-A1C0-73199C4A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956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产出、消耗与球员获取进度</a:t>
            </a:r>
          </a:p>
        </p:txBody>
      </p:sp>
      <p:sp>
        <p:nvSpPr>
          <p:cNvPr id="9" name="scope-title-2">
            <a:extLst xmlns:a="http://schemas.openxmlformats.org/drawingml/2006/main">
              <a:ext uri="{FF2B5EF4-FFF2-40B4-BE49-F238E27FC236}">
                <a16:creationId xmlns:a16="http://schemas.microsoft.com/office/drawing/2014/main" id="{88720747-4690-4807-83C4-98D590A0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活动页面</a:t>
            </a:r>
          </a:p>
        </p:txBody>
      </p:sp>
      <p:sp>
        <p:nvSpPr>
          <p:cNvPr id="10" name="scope-desc-2">
            <a:extLst xmlns:a="http://schemas.openxmlformats.org/drawingml/2006/main">
              <a:ext uri="{FF2B5EF4-FFF2-40B4-BE49-F238E27FC236}">
                <a16:creationId xmlns:a16="http://schemas.microsoft.com/office/drawing/2014/main" id="{4F6FDF54-73DD-4CBF-99A6-748E04CD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3865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操作流程、原型与文案</a:t>
            </a:r>
          </a:p>
        </p:txBody>
      </p:sp>
      <p:sp>
        <p:nvSpPr>
          <p:cNvPr id="11" name="scope-title-3">
            <a:extLst xmlns:a="http://schemas.openxmlformats.org/drawingml/2006/main">
              <a:ext uri="{FF2B5EF4-FFF2-40B4-BE49-F238E27FC236}">
                <a16:creationId xmlns:a16="http://schemas.microsoft.com/office/drawing/2014/main" id="{FEDAC632-FF3B-4BAA-9B15-E6461D97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43475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更新安排</a:t>
            </a:r>
          </a:p>
        </p:txBody>
      </p:sp>
      <p:sp>
        <p:nvSpPr>
          <p:cNvPr id="12" name="scope-desc-3">
            <a:extLst xmlns:a="http://schemas.openxmlformats.org/drawingml/2006/main">
              <a:ext uri="{FF2B5EF4-FFF2-40B4-BE49-F238E27FC236}">
                <a16:creationId xmlns:a16="http://schemas.microsoft.com/office/drawing/2014/main" id="{16A4F5F9-7E9E-4AB0-BAA7-FD9EACAE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8162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开放日历、素材与制作需求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4B99EED-F28C-4E0F-894E-8CB4451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FC团队确认球员投放、系统改动与上线安排。具体分工见附录。</a:t>
            </a:r>
          </a:p>
        </p:txBody>
      </p:sp>
    </p:spTree>
    <p:extLst>
      <p:ext uri="{BB962C8B-B14F-4D97-AF65-F5344CB8AC3E}">
        <p14:creationId xmlns:p14="http://schemas.microsoft.com/office/powerpoint/2010/main" val="7581470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319697-2C84-47C4-A8CD-6CA58D49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先合作一期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7E02F99D-9B99-4FC7-9E21-8B9E642A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用一次完整交付，确认设计方向和合作方式是否合适。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4B3E09-728B-4B41-A09A-81A81F21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design-check">
            <a:extLst xmlns:a="http://schemas.openxmlformats.org/drawingml/2006/main">
              <a:ext uri="{FF2B5EF4-FFF2-40B4-BE49-F238E27FC236}">
                <a16:creationId xmlns:a16="http://schemas.microsoft.com/office/drawing/2014/main" id="{0F4BF563-EEC6-403B-90D0-D5AF52D1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制作方能否照着做</a:t>
            </a:r>
          </a:p>
        </p:txBody>
      </p:sp>
      <p:sp>
        <p:nvSpPr>
          <p:cNvPr id="5" name="design-body">
            <a:extLst xmlns:a="http://schemas.openxmlformats.org/drawingml/2006/main">
              <a:ext uri="{FF2B5EF4-FFF2-40B4-BE49-F238E27FC236}">
                <a16:creationId xmlns:a16="http://schemas.microsoft.com/office/drawing/2014/main" id="{742CEE42-D781-4C83-8998-C1F921C1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规则、配置和界面状态讲清楚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开发与美术的工作量提前确认</a:t>
            </a:r>
          </a:p>
        </p:txBody>
      </p:sp>
      <p:sp>
        <p:nvSpPr>
          <p:cNvPr id="6" name="play-check">
            <a:extLst xmlns:a="http://schemas.openxmlformats.org/drawingml/2006/main">
              <a:ext uri="{FF2B5EF4-FFF2-40B4-BE49-F238E27FC236}">
                <a16:creationId xmlns:a16="http://schemas.microsoft.com/office/drawing/2014/main" id="{5F2F9E50-5F78-4BD7-AE31-4B46131B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玩家能否顺畅地玩</a:t>
            </a:r>
          </a:p>
        </p:txBody>
      </p:sp>
      <p:sp>
        <p:nvSpPr>
          <p:cNvPr id="7" name="play-body">
            <a:extLst xmlns:a="http://schemas.openxmlformats.org/drawingml/2006/main">
              <a:ext uri="{FF2B5EF4-FFF2-40B4-BE49-F238E27FC236}">
                <a16:creationId xmlns:a16="http://schemas.microsoft.com/office/drawing/2014/main" id="{A500B9E0-AB59-4FD4-B2A3-FB60B335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6712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检查参与、领奖与目标达成情况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结合历史同类活动完成复盘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7C682CF-7F61-42F8-83BB-5A6CB4CA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试点范围、排期与验收标准，双方在启动前约定。</a:t>
            </a:r>
          </a:p>
        </p:txBody>
      </p:sp>
    </p:spTree>
    <p:extLst>
      <p:ext uri="{BB962C8B-B14F-4D97-AF65-F5344CB8AC3E}">
        <p14:creationId xmlns:p14="http://schemas.microsoft.com/office/powerpoint/2010/main" val="12933731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1AF699-3D97-4A31-88BD-34022EDC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下一步：选定一个赛季主题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08B7D7-97F8-4339-9E70-326B317F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395A7DA9-1FA5-4151-A086-647AEFC1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6680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1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以哈兰德方案为起点，</a:t>
            </a:r>
          </a:p>
          <a:p xmlns:a="http://schemas.openxmlformats.org/drawingml/2006/main">
            <a:pPr algn="l">
              <a:buNone/>
              <a:defRPr sz="41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一起确定首期合作范围。</a:t>
            </a:r>
          </a:p>
        </p:txBody>
      </p:sp>
      <p:sp>
        <p:nvSpPr>
          <p:cNvPr id="4" name="closing-action">
            <a:extLst xmlns:a="http://schemas.openxmlformats.org/drawingml/2006/main">
              <a:ext uri="{FF2B5EF4-FFF2-40B4-BE49-F238E27FC236}">
                <a16:creationId xmlns:a16="http://schemas.microsoft.com/office/drawing/2014/main" id="{120C868B-AE48-4B00-8EC6-ED979CD2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477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确认可用系统与奖励边界后，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提交内容清单、排期和报价。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9F6CB4F-142F-4C9F-AECC-094732DA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合作讨论稿。团队履历与人员配置需在正式提交前补齐。</a:t>
            </a:r>
          </a:p>
        </p:txBody>
      </p:sp>
    </p:spTree>
    <p:extLst>
      <p:ext uri="{BB962C8B-B14F-4D97-AF65-F5344CB8AC3E}">
        <p14:creationId xmlns:p14="http://schemas.microsoft.com/office/powerpoint/2010/main" val="11444214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1A78A1-D2BE-4A02-8251-758083F5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附录：四个活动的对照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D355722-488B-4FE3-9715-BA301A87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供需要进一步了解研究依据的读者查阅。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2E2317-0C4D-4AFD-90B7-C1140C56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C8382-16A5-4F6D-9896-9418FCF561C9}"/>
              </a:ext>
            </a:extLst>
          </p:cNvPr>
          <p:cNvGraphicFramePr/>
          <p:nvPr/>
        </p:nvGraphicFramePr>
        <p:xfrm>
          <a:off xmlns:a="http://schemas.openxmlformats.org/drawingml/2006/main" x="685800" y="2038350"/>
          <a:ext xmlns:a="http://schemas.openxmlformats.org/drawingml/2006/main" cx="108204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62100"/>
                <a:gridCol w="2314575"/>
                <a:gridCol w="2314575"/>
                <a:gridCol w="2314575"/>
                <a:gridCol w="2314575"/>
              </a:tblGrid>
              <a:tr h="777240"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年度最佳 [A]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春节 [B]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欧洲杯 [C]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欧冠荣耀 [D]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77240"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参与行为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登录、赛事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每周任务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对战、挑战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节日登录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锦标赛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比赛竞猜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对战、问答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主题赛事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40"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推进机制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代币路径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票券拼图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福气里程碑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累计升级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赛程联动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赛事推进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问答里程碑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赛事与任务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40"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奖励衔接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球员奖励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交换资格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福利、球员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升级交换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球员与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竞猜奖励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球员、票券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特价交换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40"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节奏依据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分阶段开放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日常与每周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节日节点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14日累计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真实赛程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赛况更新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日常问答</a:t>
                      </a:r>
                    </a:p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分章节挑战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A0EBF39-719C-47F0-AD83-6ED42C04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按公告可确认机制摘录。“未列出”不代表活动中不存在。来源：[A–D]</a:t>
            </a:r>
          </a:p>
        </p:txBody>
      </p:sp>
    </p:spTree>
    <p:extLst>
      <p:ext uri="{BB962C8B-B14F-4D97-AF65-F5344CB8AC3E}">
        <p14:creationId xmlns:p14="http://schemas.microsoft.com/office/powerpoint/2010/main" val="2574159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67EB3-E53E-4423-8244-84E08A7C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附录：合作分工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1ABA7653-BA87-4702-B871-6174B9F6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具体分工随首期项目范围确认。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C05774-B422-4E94-A928-5B41C71F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F3D6C-9942-4D74-A6B3-12A68715BAE0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781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419600"/>
                <a:gridCol w="4495800"/>
              </a:tblGrid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我们拟承担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FC团队确认或决策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主题与玩法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概念、章节及内容清单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方向、档期与系统限制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任务与奖励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规则、配置建议及测算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经济、评级与投放审批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 UI/UX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流程、原型及素材需求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设计规范与制作标准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制作与验收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配置映射、修订与内容验收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客户端、服务端及版本接入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上线与复盘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观察结果、分析及调整建议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发布审批与线上变更权限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847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6EC5A3-A9EE-492B-A778-A57B78B3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附录：资料来源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A400963-BEA4-45B4-8D09-BFE6A6DE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官方事实与图片来源。原创提案和样本归纳在相关页面注明。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117BC9-9808-4E3A-AADB-23ED3BDC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A3</a:t>
            </a:r>
          </a:p>
        </p:txBody>
      </p:sp>
      <p:sp>
        <p:nvSpPr>
          <p:cNvPr id="4" name="ref-label-0">
            <a:extLst xmlns:a="http://schemas.openxmlformats.org/drawingml/2006/main">
              <a:ext uri="{FF2B5EF4-FFF2-40B4-BE49-F238E27FC236}">
                <a16:creationId xmlns:a16="http://schemas.microsoft.com/office/drawing/2014/main" id="{FD085AEC-3768-4691-9882-0E821F0F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[A] 年度最佳</a:t>
            </a:r>
          </a:p>
        </p:txBody>
      </p:sp>
      <p:sp>
        <p:nvSpPr>
          <p:cNvPr id="5" name="ref-date-0">
            <a:extLst xmlns:a="http://schemas.openxmlformats.org/drawingml/2006/main">
              <a:ext uri="{FF2B5EF4-FFF2-40B4-BE49-F238E27FC236}">
                <a16:creationId xmlns:a16="http://schemas.microsoft.com/office/drawing/2014/main" id="{B0AB8B82-8D56-42F5-8543-955AF4E9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EA SPORTS，2025.01.26</a:t>
            </a:r>
          </a:p>
        </p:txBody>
      </p:sp>
      <p:sp>
        <p:nvSpPr>
          <p:cNvPr id="6" name="ref-url-0">
            <a:extLst xmlns:a="http://schemas.openxmlformats.org/drawingml/2006/main">
              <a:ext uri="{FF2B5EF4-FFF2-40B4-BE49-F238E27FC236}">
                <a16:creationId xmlns:a16="http://schemas.microsoft.com/office/drawing/2014/main" id="{FFB681B1-61C3-406E-8628-BEAEEF7F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https://www.weibo.com/ttarticle/p/show?id=2309405127089513955762</a:t>
            </a:r>
          </a:p>
        </p:txBody>
      </p:sp>
      <p:sp>
        <p:nvSpPr>
          <p:cNvPr id="7" name="ref-label-1">
            <a:extLst xmlns:a="http://schemas.openxmlformats.org/drawingml/2006/main">
              <a:ext uri="{FF2B5EF4-FFF2-40B4-BE49-F238E27FC236}">
                <a16:creationId xmlns:a16="http://schemas.microsoft.com/office/drawing/2014/main" id="{0BE7480C-0ECD-41D8-B90A-45E98BB3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[B] 马上过足瘾</a:t>
            </a:r>
          </a:p>
        </p:txBody>
      </p:sp>
      <p:sp>
        <p:nvSpPr>
          <p:cNvPr id="8" name="ref-date-1">
            <a:extLst xmlns:a="http://schemas.openxmlformats.org/drawingml/2006/main">
              <a:ext uri="{FF2B5EF4-FFF2-40B4-BE49-F238E27FC236}">
                <a16:creationId xmlns:a16="http://schemas.microsoft.com/office/drawing/2014/main" id="{049F47B9-9985-418B-A214-DF547609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FC足球世界，2026.02.12</a:t>
            </a:r>
          </a:p>
        </p:txBody>
      </p:sp>
      <p:sp>
        <p:nvSpPr>
          <p:cNvPr id="9" name="ref-url-1">
            <a:extLst xmlns:a="http://schemas.openxmlformats.org/drawingml/2006/main">
              <a:ext uri="{FF2B5EF4-FFF2-40B4-BE49-F238E27FC236}">
                <a16:creationId xmlns:a16="http://schemas.microsoft.com/office/drawing/2014/main" id="{FB72A80F-3E94-423F-94DA-D40E41B9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https://www.taptap.cn/moment/771064711469861731</a:t>
            </a:r>
          </a:p>
        </p:txBody>
      </p:sp>
      <p:sp>
        <p:nvSpPr>
          <p:cNvPr id="10" name="ref-label-2">
            <a:extLst xmlns:a="http://schemas.openxmlformats.org/drawingml/2006/main">
              <a:ext uri="{FF2B5EF4-FFF2-40B4-BE49-F238E27FC236}">
                <a16:creationId xmlns:a16="http://schemas.microsoft.com/office/drawing/2014/main" id="{E0075DE1-E622-4FE1-9A30-F30093A6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[C] 欧洲杯</a:t>
            </a:r>
          </a:p>
        </p:txBody>
      </p:sp>
      <p:sp>
        <p:nvSpPr>
          <p:cNvPr id="11" name="ref-date-2">
            <a:extLst xmlns:a="http://schemas.openxmlformats.org/drawingml/2006/main">
              <a:ext uri="{FF2B5EF4-FFF2-40B4-BE49-F238E27FC236}">
                <a16:creationId xmlns:a16="http://schemas.microsoft.com/office/drawing/2014/main" id="{586F9BC5-7DB5-4658-9482-608DBDCF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FC足球世界，2024.06.13</a:t>
            </a:r>
          </a:p>
        </p:txBody>
      </p:sp>
      <p:sp>
        <p:nvSpPr>
          <p:cNvPr id="12" name="ref-url-2">
            <a:extLst xmlns:a="http://schemas.openxmlformats.org/drawingml/2006/main">
              <a:ext uri="{FF2B5EF4-FFF2-40B4-BE49-F238E27FC236}">
                <a16:creationId xmlns:a16="http://schemas.microsoft.com/office/drawing/2014/main" id="{437DA156-1DC6-47D4-9DB8-ECB8BE1A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https://www.taptap.cn/moment/550263876587881597</a:t>
            </a:r>
          </a:p>
        </p:txBody>
      </p:sp>
      <p:sp>
        <p:nvSpPr>
          <p:cNvPr id="13" name="ref-label-3">
            <a:extLst xmlns:a="http://schemas.openxmlformats.org/drawingml/2006/main">
              <a:ext uri="{FF2B5EF4-FFF2-40B4-BE49-F238E27FC236}">
                <a16:creationId xmlns:a16="http://schemas.microsoft.com/office/drawing/2014/main" id="{9EE49B29-0B97-440D-9AFC-72F55767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[D] 欧冠荣耀</a:t>
            </a:r>
          </a:p>
        </p:txBody>
      </p:sp>
      <p:sp>
        <p:nvSpPr>
          <p:cNvPr id="14" name="ref-date-3">
            <a:extLst xmlns:a="http://schemas.openxmlformats.org/drawingml/2006/main">
              <a:ext uri="{FF2B5EF4-FFF2-40B4-BE49-F238E27FC236}">
                <a16:creationId xmlns:a16="http://schemas.microsoft.com/office/drawing/2014/main" id="{DCC64767-8473-4DBE-AE63-53D0E59E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434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FC足球世界，2026.04.15</a:t>
            </a:r>
          </a:p>
        </p:txBody>
      </p:sp>
      <p:sp>
        <p:nvSpPr>
          <p:cNvPr id="15" name="ref-url-3">
            <a:extLst xmlns:a="http://schemas.openxmlformats.org/drawingml/2006/main">
              <a:ext uri="{FF2B5EF4-FFF2-40B4-BE49-F238E27FC236}">
                <a16:creationId xmlns:a16="http://schemas.microsoft.com/office/drawing/2014/main" id="{24527903-4604-466D-9843-50F7AC4D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https://www.taptap.cn/moment/793578209911245431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C43F090-4388-406B-91DF-AFB9C21D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资料核对：2026.10.15。详细出处与图片来源亦记录在相关页面备注中。</a:t>
            </a:r>
          </a:p>
        </p:txBody>
      </p:sp>
    </p:spTree>
    <p:extLst>
      <p:ext uri="{BB962C8B-B14F-4D97-AF65-F5344CB8AC3E}">
        <p14:creationId xmlns:p14="http://schemas.microsoft.com/office/powerpoint/2010/main" val="549339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2026-10-15T15:23:10.3930000Z</dcterms:created>
  <dcterms:modified xsi:type="dcterms:W3CDTF">2026-10-15T15:23:10.3930000Z</dcterms:modified>
</coreProperties>
</file>