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2d2574260f4443" /><Relationship Type="http://schemas.openxmlformats.org/officeDocument/2006/relationships/extended-properties" Target="/docProps/app.xml" Id="Rd3bb8599b8a14479" /><Relationship Type="http://schemas.openxmlformats.org/officeDocument/2006/relationships/officeDocument" Target="/ppt/presentation.xml" Id="Reac6f10c8854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494c1f0b74692"/>
    <p:sldMasterId xmlns:r="http://schemas.openxmlformats.org/officeDocument/2006/relationships" id="2147483651" r:id="Rcc448eaeb04f45d8"/>
    <p:sldMasterId xmlns:r="http://schemas.openxmlformats.org/officeDocument/2006/relationships" id="2147483653" r:id="R259a9ff211144f64"/>
    <p:sldMasterId xmlns:r="http://schemas.openxmlformats.org/officeDocument/2006/relationships" id="2147483654" r:id="R99fe0654dbdc4149"/>
    <p:sldMasterId xmlns:r="http://schemas.openxmlformats.org/officeDocument/2006/relationships" id="2147483655" r:id="R6bd11463f23e4103"/>
    <p:sldMasterId xmlns:r="http://schemas.openxmlformats.org/officeDocument/2006/relationships" id="2147483656" r:id="R6836617c3a1f485a"/>
    <p:sldMasterId xmlns:r="http://schemas.openxmlformats.org/officeDocument/2006/relationships" id="2147483657" r:id="R8a7d0cb94b464df3"/>
  </p:sldMasterIdLst>
  <p:notesMasterIdLst>
    <p:notesMasterId xmlns:r="http://schemas.openxmlformats.org/officeDocument/2006/relationships" r:id="R172951dcbac343dc"/>
  </p:notesMasterIdLst>
  <p:sldIdLst>
    <p:sldId xmlns:r="http://schemas.openxmlformats.org/officeDocument/2006/relationships" id="256" r:id="Rd1d36d30aedb444d"/>
    <p:sldId xmlns:r="http://schemas.openxmlformats.org/officeDocument/2006/relationships" id="257" r:id="Rf30a6998d9f745b1"/>
    <p:sldId xmlns:r="http://schemas.openxmlformats.org/officeDocument/2006/relationships" id="258" r:id="Ref2828605d4d436d"/>
    <p:sldId xmlns:r="http://schemas.openxmlformats.org/officeDocument/2006/relationships" id="259" r:id="R8da3d5ee338a412f"/>
    <p:sldId xmlns:r="http://schemas.openxmlformats.org/officeDocument/2006/relationships" id="260" r:id="R2141516fd66941fa"/>
    <p:sldId xmlns:r="http://schemas.openxmlformats.org/officeDocument/2006/relationships" id="261" r:id="R0a1196db42574f37"/>
    <p:sldId xmlns:r="http://schemas.openxmlformats.org/officeDocument/2006/relationships" id="262" r:id="R490e9ba0fdec4e99"/>
    <p:sldId xmlns:r="http://schemas.openxmlformats.org/officeDocument/2006/relationships" id="263" r:id="R8ffb016393914c97"/>
    <p:sldId xmlns:r="http://schemas.openxmlformats.org/officeDocument/2006/relationships" id="264" r:id="R455ae2d288604a13"/>
    <p:sldId xmlns:r="http://schemas.openxmlformats.org/officeDocument/2006/relationships" id="265" r:id="R9bcee2a924a940ed"/>
    <p:sldId xmlns:r="http://schemas.openxmlformats.org/officeDocument/2006/relationships" id="266" r:id="R52eb11d1087e4383"/>
    <p:sldId xmlns:r="http://schemas.openxmlformats.org/officeDocument/2006/relationships" id="267" r:id="R9955f41d192b4fd1"/>
    <p:sldId xmlns:r="http://schemas.openxmlformats.org/officeDocument/2006/relationships" id="268" r:id="R1105d930f9d440e0"/>
    <p:sldId xmlns:r="http://schemas.openxmlformats.org/officeDocument/2006/relationships" id="269" r:id="R89a481acca834b34"/>
    <p:sldId xmlns:r="http://schemas.openxmlformats.org/officeDocument/2006/relationships" id="270" r:id="R44078ce5fa47448c"/>
    <p:sldId xmlns:r="http://schemas.openxmlformats.org/officeDocument/2006/relationships" id="271" r:id="R34da35c3d7324ffb"/>
    <p:sldId xmlns:r="http://schemas.openxmlformats.org/officeDocument/2006/relationships" id="272" r:id="R4ac404c6b9e2478f"/>
    <p:sldId xmlns:r="http://schemas.openxmlformats.org/officeDocument/2006/relationships" id="273" r:id="R937b0b06820641e1"/>
    <p:sldId xmlns:r="http://schemas.openxmlformats.org/officeDocument/2006/relationships" id="274" r:id="R675e493ee8f349ff"/>
    <p:sldId xmlns:r="http://schemas.openxmlformats.org/officeDocument/2006/relationships" id="275" r:id="R3b2368a1c69f409a"/>
    <p:sldId xmlns:r="http://schemas.openxmlformats.org/officeDocument/2006/relationships" id="276" r:id="R00a06560ffa24560"/>
    <p:sldId xmlns:r="http://schemas.openxmlformats.org/officeDocument/2006/relationships" id="277" r:id="R97fd06521d654f58"/>
    <p:sldId xmlns:r="http://schemas.openxmlformats.org/officeDocument/2006/relationships" id="278" r:id="Rc87e59fcbd32456d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EF232EF9-F07A-4621-806C-EAF72860AC76}">
  <a:tblStyle styleId="{EF232EF9-F07A-4621-806C-EAF72860AC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6a29b1381443d" /><Relationship Type="http://schemas.openxmlformats.org/officeDocument/2006/relationships/slideMaster" Target="/ppt/slideMasters/slideMaster1.xml" Id="R6a6494c1f0b74692" /><Relationship Type="http://schemas.openxmlformats.org/officeDocument/2006/relationships/slideMaster" Target="/ppt/slideMasters/slideMaster2.xml" Id="Rcc448eaeb04f45d8" /><Relationship Type="http://schemas.openxmlformats.org/officeDocument/2006/relationships/slideMaster" Target="/ppt/slideMasters/slideMaster3.xml" Id="R259a9ff211144f64" /><Relationship Type="http://schemas.openxmlformats.org/officeDocument/2006/relationships/slideMaster" Target="/ppt/slideMasters/slideMaster4.xml" Id="R99fe0654dbdc4149" /><Relationship Type="http://schemas.openxmlformats.org/officeDocument/2006/relationships/slideMaster" Target="/ppt/slideMasters/slideMaster5.xml" Id="R6bd11463f23e4103" /><Relationship Type="http://schemas.openxmlformats.org/officeDocument/2006/relationships/slideMaster" Target="/ppt/slideMasters/slideMaster6.xml" Id="R6836617c3a1f485a" /><Relationship Type="http://schemas.openxmlformats.org/officeDocument/2006/relationships/slideMaster" Target="/ppt/slideMasters/slideMaster7.xml" Id="R8a7d0cb94b464df3" /><Relationship Type="http://schemas.openxmlformats.org/officeDocument/2006/relationships/notesMaster" Target="/ppt/notesMasters/notesMaster1.xml" Id="R172951dcbac343dc" /><Relationship Type="http://schemas.openxmlformats.org/officeDocument/2006/relationships/presProps" Target="/ppt/presProps.xml" Id="R73c13050a73e4550" /><Relationship Type="http://schemas.openxmlformats.org/officeDocument/2006/relationships/tableStyles" Target="/ppt/tableStyles.xml" Id="Rce01ebda022c476b" /><Relationship Type="http://schemas.openxmlformats.org/officeDocument/2006/relationships/slide" Target="/ppt/slides/slide1.xml" Id="Rd1d36d30aedb444d" /><Relationship Type="http://schemas.openxmlformats.org/officeDocument/2006/relationships/slide" Target="/ppt/slides/slide2.xml" Id="Rf30a6998d9f745b1" /><Relationship Type="http://schemas.openxmlformats.org/officeDocument/2006/relationships/slide" Target="/ppt/slides/slide3.xml" Id="Ref2828605d4d436d" /><Relationship Type="http://schemas.openxmlformats.org/officeDocument/2006/relationships/slide" Target="/ppt/slides/slide4.xml" Id="R8da3d5ee338a412f" /><Relationship Type="http://schemas.openxmlformats.org/officeDocument/2006/relationships/slide" Target="/ppt/slides/slide5.xml" Id="R2141516fd66941fa" /><Relationship Type="http://schemas.openxmlformats.org/officeDocument/2006/relationships/slide" Target="/ppt/slides/slide6.xml" Id="R0a1196db42574f37" /><Relationship Type="http://schemas.openxmlformats.org/officeDocument/2006/relationships/slide" Target="/ppt/slides/slide7.xml" Id="R490e9ba0fdec4e99" /><Relationship Type="http://schemas.openxmlformats.org/officeDocument/2006/relationships/slide" Target="/ppt/slides/slide8.xml" Id="R8ffb016393914c97" /><Relationship Type="http://schemas.openxmlformats.org/officeDocument/2006/relationships/slide" Target="/ppt/slides/slide9.xml" Id="R455ae2d288604a13" /><Relationship Type="http://schemas.openxmlformats.org/officeDocument/2006/relationships/slide" Target="/ppt/slides/slide10.xml" Id="R9bcee2a924a940ed" /><Relationship Type="http://schemas.openxmlformats.org/officeDocument/2006/relationships/slide" Target="/ppt/slides/slide11.xml" Id="R52eb11d1087e4383" /><Relationship Type="http://schemas.openxmlformats.org/officeDocument/2006/relationships/slide" Target="/ppt/slides/slide12.xml" Id="R9955f41d192b4fd1" /><Relationship Type="http://schemas.openxmlformats.org/officeDocument/2006/relationships/slide" Target="/ppt/slides/slide13.xml" Id="R1105d930f9d440e0" /><Relationship Type="http://schemas.openxmlformats.org/officeDocument/2006/relationships/slide" Target="/ppt/slides/slide14.xml" Id="R89a481acca834b34" /><Relationship Type="http://schemas.openxmlformats.org/officeDocument/2006/relationships/slide" Target="/ppt/slides/slide15.xml" Id="R44078ce5fa47448c" /><Relationship Type="http://schemas.openxmlformats.org/officeDocument/2006/relationships/slide" Target="/ppt/slides/slide16.xml" Id="R34da35c3d7324ffb" /><Relationship Type="http://schemas.openxmlformats.org/officeDocument/2006/relationships/slide" Target="/ppt/slides/slide17.xml" Id="R4ac404c6b9e2478f" /><Relationship Type="http://schemas.openxmlformats.org/officeDocument/2006/relationships/slide" Target="/ppt/slides/slide18.xml" Id="R937b0b06820641e1" /><Relationship Type="http://schemas.openxmlformats.org/officeDocument/2006/relationships/slide" Target="/ppt/slides/slide19.xml" Id="R675e493ee8f349ff" /><Relationship Type="http://schemas.openxmlformats.org/officeDocument/2006/relationships/slide" Target="/ppt/slides/slide20.xml" Id="R3b2368a1c69f409a" /><Relationship Type="http://schemas.openxmlformats.org/officeDocument/2006/relationships/slide" Target="/ppt/slides/slide21.xml" Id="R00a06560ffa24560" /><Relationship Type="http://schemas.openxmlformats.org/officeDocument/2006/relationships/slide" Target="/ppt/slides/slide22.xml" Id="R97fd06521d654f58" /><Relationship Type="http://schemas.openxmlformats.org/officeDocument/2006/relationships/slide" Target="/ppt/slides/slide23.xml" Id="Rc87e59fcbd32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6c5eb42ce55148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2ec45b75c74498" /><Relationship Type="http://schemas.openxmlformats.org/officeDocument/2006/relationships/notesMaster" Target="/ppt/notesMasters/notesMaster1.xml" Id="R9f3e60bee067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ae343483b140cc" /><Relationship Type="http://schemas.openxmlformats.org/officeDocument/2006/relationships/notesMaster" Target="/ppt/notesMasters/notesMaster1.xml" Id="R39bdbf04719149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7f3d0900924bc0" /><Relationship Type="http://schemas.openxmlformats.org/officeDocument/2006/relationships/notesMaster" Target="/ppt/notesMasters/notesMaster1.xml" Id="R5e755ddcdaf2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954f32e234c9f" /><Relationship Type="http://schemas.openxmlformats.org/officeDocument/2006/relationships/notesMaster" Target="/ppt/notesMasters/notesMaster1.xml" Id="Rfd62ca70746c44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582536bff640c6" /><Relationship Type="http://schemas.openxmlformats.org/officeDocument/2006/relationships/notesMaster" Target="/ppt/notesMasters/notesMaster1.xml" Id="R06ae9880fd9e41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d59a4d8fb84a44" /><Relationship Type="http://schemas.openxmlformats.org/officeDocument/2006/relationships/notesMaster" Target="/ppt/notesMasters/notesMaster1.xml" Id="Rb5fc0cbf62f142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169c8cc96408a" /><Relationship Type="http://schemas.openxmlformats.org/officeDocument/2006/relationships/notesMaster" Target="/ppt/notesMasters/notesMaster1.xml" Id="R888f4ca7678d46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6b755fb1a14e80" /><Relationship Type="http://schemas.openxmlformats.org/officeDocument/2006/relationships/notesMaster" Target="/ppt/notesMasters/notesMaster1.xml" Id="Rb7aab741106e4a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94825e40b8403c" /><Relationship Type="http://schemas.openxmlformats.org/officeDocument/2006/relationships/notesMaster" Target="/ppt/notesMasters/notesMaster1.xml" Id="Rcf100cabb65346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318f6023584c69" /><Relationship Type="http://schemas.openxmlformats.org/officeDocument/2006/relationships/notesMaster" Target="/ppt/notesMasters/notesMaster1.xml" Id="R744743510e0d45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745e777c7b40e3" /><Relationship Type="http://schemas.openxmlformats.org/officeDocument/2006/relationships/notesMaster" Target="/ppt/notesMasters/notesMaster1.xml" Id="R2c3b4206fadb43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1facd07bcf4ccb" /><Relationship Type="http://schemas.openxmlformats.org/officeDocument/2006/relationships/notesMaster" Target="/ppt/notesMasters/notesMaster1.xml" Id="R9356ae58b10443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4a12a6b4174145" /><Relationship Type="http://schemas.openxmlformats.org/officeDocument/2006/relationships/notesMaster" Target="/ppt/notesMasters/notesMaster1.xml" Id="R05f76073daf744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5848b53e5d4981" /><Relationship Type="http://schemas.openxmlformats.org/officeDocument/2006/relationships/notesMaster" Target="/ppt/notesMasters/notesMaster1.xml" Id="R1d6efab7bef349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f3683d46e04204" /><Relationship Type="http://schemas.openxmlformats.org/officeDocument/2006/relationships/notesMaster" Target="/ppt/notesMasters/notesMaster1.xml" Id="Ra521acb9611d47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ae5ee186b74c66" /><Relationship Type="http://schemas.openxmlformats.org/officeDocument/2006/relationships/notesMaster" Target="/ppt/notesMasters/notesMaster1.xml" Id="Rdeb7f3587f4c45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4575a05a9a41a7" /><Relationship Type="http://schemas.openxmlformats.org/officeDocument/2006/relationships/notesMaster" Target="/ppt/notesMasters/notesMaster1.xml" Id="Ra9b4adfcb42c4b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08b0ca0b5a410d" /><Relationship Type="http://schemas.openxmlformats.org/officeDocument/2006/relationships/notesMaster" Target="/ppt/notesMasters/notesMaster1.xml" Id="R9bcd2ea32cf142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cde0fb1b84dc5" /><Relationship Type="http://schemas.openxmlformats.org/officeDocument/2006/relationships/notesMaster" Target="/ppt/notesMasters/notesMaster1.xml" Id="Rbf53d3e0d22345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65b500d57b4e31" /><Relationship Type="http://schemas.openxmlformats.org/officeDocument/2006/relationships/notesMaster" Target="/ppt/notesMasters/notesMaster1.xml" Id="R77037810ebce4c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ebc8ab14ac468b" /><Relationship Type="http://schemas.openxmlformats.org/officeDocument/2006/relationships/notesMaster" Target="/ppt/notesMasters/notesMaster1.xml" Id="R4787c912b95f43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d900a60e944e4a" /><Relationship Type="http://schemas.openxmlformats.org/officeDocument/2006/relationships/notesMaster" Target="/ppt/notesMasters/notesMaster1.xml" Id="R5d278cdc51a746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c9ea501a6c4ec2" /><Relationship Type="http://schemas.openxmlformats.org/officeDocument/2006/relationships/notesMaster" Target="/ppt/notesMasters/notesMaster1.xml" Id="R2b090295f5ee44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主题配图取自用户提供的《羊名立万_春节活动策划案.docx》活动首页。封面提案内容与合作定位沿用原稿。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四个样本按差异化机制选择，覆盖2024至2026年。时间为公告发布时间，不等同于整期活动起止。只使用国服《FC足球世界》资料，不把国际服FC Mobile或主机版FC的机制混入。公开资料可以确认规则和呈现方式，不能证明留存、收入或制作成本表现。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活动持续42天，五章节中三个先开放。提名揭秘的登录和章节赛事提供章节代币，代币用于球员之旅。路径节点提供拼图票券，拼图完成可解锁特惠球员交换。设计解读：资源在章节之间衔接，设计时需要同时检查产出、推进和解锁门槛。不能仅以界面数量估计活动内容量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图片原址：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https://wx3.sinaimg.cn/large/8764b058gy1hxutzr4qwfj212w0howj2.jpg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https://wx2.sinaimg.cn/large/8764b058gy1hxutzu0bggj212w0hogpp.jpg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图为官方文章原图，保留原比例及水印。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春节登录福利先上线，福气临门、年兽挑战和鸿运叠彩后续开放。福气累积、年兽挑战与叠彩升级存在关联和并行关系，不是所有玩家必须依次通过的单一路径。鸿运升级球员加入骐骥图鉴并保留原养成等级。设计解读：节庆活动可以用每日累积支撑阶段目标，同时让球员自身成长。左侧是官方机制说明配图，不是游戏实机截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图源：https://img2-tc.tapimg.com/moment/etag/33b06e2300097dcd53b8ce0fcad778e1.png/_tap_ugc.jpg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欧洲杯事实：公告包含使用24支参赛队的锦标赛、活动点数参与比赛竞猜，以及甄选球员卡面随实际登场逐步更新。不可由此推断所有欧洲杯活动均采用同一玩法。欧冠荣耀事实：荣耀时刻、冠军巡礼、精彩时刻三章节分别包含对战与问答、决赛赛事、精彩瞬间赛事。冠军巡礼直接奖励球员并解锁特价交换，构成可观察的机制差异。解读：题材可以改变内容生成依据，而不只是改变背景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右图源：https://img2-tc.tapimg.com/moment/etag/b73d126035e15df9b26d710f11a3220e.jpg/_tap_ugc.jpg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对照表是公开公告的选择性摘录，不是完整玩法清单，也不是活动效果比较。欧洲杯的赛事推进来自锦标赛及真实赛况联动，不据此补写代币路径或拼图。春节的球员升级与累计目标可以并行。不同年份的图鉴、徽章或队徽规则也不能视为完全相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本图是我们的设计归纳，不是官方架构图或唯一玩家路径。可观察职能包括主题入口、参与、推进、奖励与成长，但具体机制、顺序和分支不同。部分赛事直接奖励球员，不要求先兑换。图鉴和队徽亦可作为平行目标。新增赛季设计应先选择适合的模块，再明确连接关系与规则边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左列为跨样本的结构观察，中列和右列是我们的设计判断与拟议交付，不是官方自述或已验证结果。资源衔接见[A]，节庆累计及分期见[B]，主题参与方式见[C][D]。所有设计选择都要经过FC团队的系统能力、奖励经济和制作排期评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这里列的是合作希望实现的目标，不是已有业绩，也没有承诺具体留存或收入增幅。需要在试点前与FC团队确认优先目标，并在复盘时验证。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交付物按FC团队实际配置结构和评审习惯映射。此页是拟议交付目录，不表示这些材料已经全部制作完毕。试点前应准备一份完整配置样表，让制作方验证字段和状态是否足够。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此页对应前文保留的活动模块框架，说明新方案如何组合模块，不改写前面的历史研究结论。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新春见面礼</a:t>
            </a:r>
          </a:p>
          <a:p xmlns:a="http://schemas.openxmlformats.org/drawingml/2006/main">
            <a:r>
              <a:t>板块作用</a:t>
            </a:r>
          </a:p>
          <a:p xmlns:a="http://schemas.openxmlformats.org/drawingml/2006/main">
            <a:r>
              <a:t>让玩家每天进入活动后，都能先领到一份福利。日期限定礼让春节期间的不同日子有各自内容。</a:t>
            </a:r>
          </a:p>
          <a:p xmlns:a="http://schemas.openxmlformats.org/drawingml/2006/main">
            <a:r>
              <a:t>除夕的奖励版面更宽，卡片分行排列，用来突出这一节日。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首屏左侧是活动介绍，右侧是独立的每日登录礼面板。点击领取后，向右浏览日期奖励。</a:t>
            </a:r>
          </a:p>
          <a:p xmlns:a="http://schemas.openxmlformats.org/drawingml/2006/main">
            <a:r>
              <a:t>普通日期的占位卡并排展示，除夕分行排列。每张卡下都有独立领取入口，点击卡面也能查看详情和状态。</a:t>
            </a:r>
          </a:p>
          <a:p xmlns:a="http://schemas.openxmlformats.org/drawingml/2006/main">
            <a:r>
              <a:t>活动首屏领取前领取后</a:t>
            </a:r>
          </a:p>
          <a:p xmlns:a="http://schemas.openxmlformats.org/drawingml/2006/main">
            <a:r>
              <a:t>图1 每日登录礼</a:t>
            </a:r>
          </a:p>
          <a:p xmlns:a="http://schemas.openxmlformats.org/drawingml/2006/main">
            <a:r>
              <a:t>领取规则  </a:t>
            </a:r>
          </a:p>
          <a:p xmlns:a="http://schemas.openxmlformats.org/drawingml/2006/main">
            <a:r>
              <a:t>每日登录礼和日期限定礼分别领取、分别记录。领取其中一类，不会代领另一类。</a:t>
            </a:r>
          </a:p>
          <a:p xmlns:a="http://schemas.openxmlformats.org/drawingml/2006/main">
            <a:r>
              <a:t>每天刷新后，可以领取新一天的登录礼。之前未领取的每日礼不累积。</a:t>
            </a:r>
          </a:p>
          <a:p xmlns:a="http://schemas.openxmlformats.org/drawingml/2006/main">
            <a:r>
              <a:t>日期状态  </a:t>
            </a:r>
          </a:p>
          <a:p xmlns:a="http://schemas.openxmlformats.org/drawingml/2006/main">
            <a:r>
              <a:t>未来日期显示“未开放”，可查看开放日期。当天开放后，由玩家主动领取，领取后保留完成标记。</a:t>
            </a:r>
          </a:p>
          <a:p xmlns:a="http://schemas.openxmlformats.org/drawingml/2006/main">
            <a:r>
              <a:t>过去日期中未领的奖励显示“已过期”，不可补领。已经领过的奖励仍显示“已领取”。</a:t>
            </a:r>
          </a:p>
          <a:p xmlns:a="http://schemas.openxmlformats.org/drawingml/2006/main">
            <a:r>
              <a:t>日期版面一直排到正月十四。前后翻一翻，就能查看领取记录和后续奖励。未来奖励可以提前看，但要等到对应日期才能领。</a:t>
            </a:r>
          </a:p>
          <a:p xmlns:a="http://schemas.openxmlformats.org/drawingml/2006/main">
            <a:r>
              <a:t>除夕排布已领取与已过期未来日期</a:t>
            </a:r>
          </a:p>
          <a:p xmlns:a="http://schemas.openxmlformats.org/drawingml/2006/main">
            <a:r>
              <a:t>图2 不同日期的排布和状态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四、踢出开门红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让玩家领完每日红包后，继续到游戏内比赛。玩家通过比赛攒红包，达到条件后领累计卡奖励。红包外观也会随进度变化。</a:t>
            </a:r>
          </a:p>
          <a:p xmlns:a="http://schemas.openxmlformats.org/drawingml/2006/main">
            <a:r>
              <a:t>打完比赛回来，玩家能看到哪些奖励已经可领，哪些还需要继续推进。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页面先展示活动介绍和每日红包，再展示累计奖励卡轨道。玩家在活动页领红包，到游戏内比赛，有效结算后返回查看进度。</a:t>
            </a:r>
          </a:p>
          <a:p xmlns:a="http://schemas.openxmlformats.org/drawingml/2006/main">
            <a:r>
              <a:t>最后是成长累计与红包领奖面板，两部分放在同一块底板内。左侧看累计和成长进度，右侧看红包外观并领奖。</a:t>
            </a:r>
          </a:p>
          <a:p xmlns:a="http://schemas.openxmlformats.org/drawingml/2006/main">
            <a:r>
              <a:t>累计卡奖励每日红包待领每日红包已领</a:t>
            </a:r>
          </a:p>
          <a:p xmlns:a="http://schemas.openxmlformats.org/drawingml/2006/main">
            <a:r>
              <a:t>图3 累计卡和每日红包分别领取</a:t>
            </a:r>
          </a:p>
          <a:p xmlns:a="http://schemas.openxmlformats.org/drawingml/2006/main">
            <a:r>
              <a:t>比赛与刷新  </a:t>
            </a:r>
          </a:p>
          <a:p xmlns:a="http://schemas.openxmlformats.org/drawingml/2006/main">
            <a:r>
              <a:t>进攻对战、实时对战、经理人模式，分别计算各自的每日首场。首场不再叠加常规场次收益，后续有效比赛继续积累。</a:t>
            </a:r>
          </a:p>
          <a:p xmlns:a="http://schemas.openxmlformats.org/drawingml/2006/main">
            <a:r>
              <a:t>完成比赛即可，不要求获胜。每天刷新每日领取资格和各模式首场资格，已有累计和领奖记录保留。</a:t>
            </a:r>
          </a:p>
          <a:p xmlns:a="http://schemas.openxmlformats.org/drawingml/2006/main">
            <a:r>
              <a:t>累计与领取  </a:t>
            </a:r>
          </a:p>
          <a:p xmlns:a="http://schemas.openxmlformats.org/drawingml/2006/main">
            <a:r>
              <a:t>同一份累计同时用于判断卡牌奖励和红包成长，领奖不扣累计。卡奖励达到条件后，逐项主动领取。</a:t>
            </a:r>
          </a:p>
          <a:p xmlns:a="http://schemas.openxmlformats.org/drawingml/2006/main">
            <a:r>
              <a:t>红包成长后会换外观，继续使用同一个领奖入口。点击后，可一并补领已经解锁、尚未领取的成长奖励。</a:t>
            </a:r>
          </a:p>
          <a:p xmlns:a="http://schemas.openxmlformats.org/drawingml/2006/main">
            <a:r>
              <a:t>成长是否满级、卡奖励是否全部达成、奖励是否已领，需要分开显示。满级不等于全部领完。</a:t>
            </a:r>
          </a:p>
          <a:p xmlns:a="http://schemas.openxmlformats.org/drawingml/2006/main">
            <a:r>
              <a:t>后加入的玩家仍可通过比赛追赶进度。活动结束后能否补领，以正式规则为准；当前原型在结束后默认关闭领取。</a:t>
            </a:r>
          </a:p>
          <a:p xmlns:a="http://schemas.openxmlformats.org/drawingml/2006/main">
            <a:r>
              <a:t>成长面板领取后</a:t>
            </a:r>
          </a:p>
          <a:p xmlns:a="http://schemas.openxmlformats.org/drawingml/2006/main">
            <a:r>
              <a:t>图4 红包成长与领取反馈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五、拜年有名堂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玩家直接看球衣和故事猜球星。答对后领球员，再参加比赛、兑换个人升级。群像既是人物入口，也展示完成情况。</a:t>
            </a:r>
          </a:p>
          <a:p xmlns:a="http://schemas.openxmlformats.org/drawingml/2006/main">
            <a:r>
              <a:t>人物点亮后，玩家能看清哪些已经完成，还有谁没做完。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总览左侧是活动介绍，中间是群像，右侧是收集目标和奖励。</a:t>
            </a:r>
          </a:p>
          <a:p xmlns:a="http://schemas.openxmlformats.org/drawingml/2006/main">
            <a:r>
              <a:t>进入个人页，左侧上方领神秘奖励，下方兑换个人升级。中间是球衣或揭晓后的球员卡，右侧是故事和答题按钮。</a:t>
            </a:r>
          </a:p>
          <a:p xmlns:a="http://schemas.openxmlformats.org/drawingml/2006/main">
            <a:r>
              <a:t>已开放的个人页直接展示背面球衣和故事。点击“猜猜他是谁”，就能打开答题弹窗。</a:t>
            </a:r>
          </a:p>
          <a:p xmlns:a="http://schemas.openxmlformats.org/drawingml/2006/main">
            <a:r>
              <a:t>球衣与故事答错可重选答对后揭晓</a:t>
            </a:r>
          </a:p>
          <a:p xmlns:a="http://schemas.openxmlformats.org/drawingml/2006/main">
            <a:r>
              <a:t>图5 看球衣和故事答题，答对后再领卡</a:t>
            </a:r>
          </a:p>
          <a:p xmlns:a="http://schemas.openxmlformats.org/drawingml/2006/main">
            <a:r>
              <a:t>猜人与领卡  </a:t>
            </a:r>
          </a:p>
          <a:p xmlns:a="http://schemas.openxmlformats.org/drawingml/2006/main">
            <a:r>
              <a:t>人物开放后即可答题。答错可以立即重选，不扣次数，也不用等待。</a:t>
            </a:r>
          </a:p>
          <a:p xmlns:a="http://schemas.openxmlformats.org/drawingml/2006/main">
            <a:r>
              <a:t>答对后，主动领取神秘奖励中的球员占位卡，再带对应球员参加比赛。还没领卡时，不能提前完成上场任务。</a:t>
            </a:r>
          </a:p>
          <a:p xmlns:a="http://schemas.openxmlformats.org/drawingml/2006/main">
            <a:r>
              <a:t>比赛与兑换升级  </a:t>
            </a:r>
          </a:p>
          <a:p xmlns:a="http://schemas.openxmlformats.org/drawingml/2006/main">
            <a:r>
              <a:t>参加比赛时，不要求对应球员首发、获胜或进球。同一场比赛，可以满足多名已领取活动球员的参赛要求。</a:t>
            </a:r>
          </a:p>
          <a:p xmlns:a="http://schemas.openxmlformats.org/drawingml/2006/main">
            <a:r>
              <a:t>球员和个人升级同一天开放，不另设等待日。比赛完成后，返回个人页主动兑换个人升级。</a:t>
            </a:r>
          </a:p>
          <a:p xmlns:a="http://schemas.openxmlformats.org/drawingml/2006/main">
            <a:r>
              <a:t>点亮与自选  </a:t>
            </a:r>
          </a:p>
          <a:p xmlns:a="http://schemas.openxmlformats.org/drawingml/2006/main">
            <a:r>
              <a:t>兑换完个人升级，还要回到总览，点一下对应人物。这样才算点亮，每名球员只计入一次。</a:t>
            </a:r>
          </a:p>
          <a:p xmlns:a="http://schemas.openxmlformats.org/drawingml/2006/main">
            <a:r>
              <a:t>各个收集目标分别记录领取状态。达到目标后，可以从已兑换个人升级的球员中选择，领取自选升级。领取自选升级不扣点亮进度。</a:t>
            </a:r>
          </a:p>
          <a:p xmlns:a="http://schemas.openxmlformats.org/drawingml/2006/main">
            <a:r>
              <a:t>打开或关闭选人弹窗，都不消耗机会。确认选择后，才使用这次自选机会。</a:t>
            </a:r>
          </a:p>
          <a:p xmlns:a="http://schemas.openxmlformats.org/drawingml/2006/main">
            <a:r>
              <a:t>已开放的人物任务可补做到正月十四，不要求按人物顺序完成。自选能否重复用于同一名球员，仍待确认。</a:t>
            </a:r>
          </a:p>
          <a:p xmlns:a="http://schemas.openxmlformats.org/drawingml/2006/main">
            <a:r>
              <a:t>页面区分“未揭晓、已领卡待参赛、可兑换升级、已兑换待点亮、已点亮”。玩家能看清做到哪一步，避免漏掉后续操作。</a:t>
            </a:r>
          </a:p>
          <a:p xmlns:a="http://schemas.openxmlformats.org/drawingml/2006/main">
            <a:r>
              <a:t>未点亮部分点亮可兑换已兑换</a:t>
            </a:r>
          </a:p>
          <a:p xmlns:a="http://schemas.openxmlformats.org/drawingml/2006/main">
            <a:r>
              <a:t>图6 兑换个人升级后，还要回群像点亮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六、三羊开泰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用贝利、马拉多纳和梅西的经典战役，给玩家提供后续挑战。三条路线并列展示，方便按自己关注的球员选择。</a:t>
            </a:r>
          </a:p>
          <a:p xmlns:a="http://schemas.openxmlformats.org/drawingml/2006/main">
            <a:r>
              <a:t>先看故事了解比赛背景，再参加挑战。赢下比赛后兑换升级，让玩家拿到球员后还有内容可玩。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领取页在同一块底板上并列展示三位球员，支持横向浏览。每位保留姓名、简短介绍、纯占位卡和获取按钮。</a:t>
            </a:r>
          </a:p>
          <a:p xmlns:a="http://schemas.openxmlformats.org/drawingml/2006/main">
            <a:r>
              <a:t>贝利、马拉多纳分别免费领取。梅西使用 FC 币购买，购买前需要确认。</a:t>
            </a:r>
          </a:p>
          <a:p xmlns:a="http://schemas.openxmlformats.org/drawingml/2006/main">
            <a:r>
              <a:t>点击对应卡面进入战役。左侧看历史图片，中间看故事并点击足球图标挑战，右侧展示升级占位卡和兑换入口。</a:t>
            </a:r>
          </a:p>
          <a:p xmlns:a="http://schemas.openxmlformats.org/drawingml/2006/main">
            <a:r>
              <a:t>获取页免费领取后购买前确认</a:t>
            </a:r>
          </a:p>
          <a:p xmlns:a="http://schemas.openxmlformats.org/drawingml/2006/main">
            <a:r>
              <a:t>图7 免费领取与购买确认</a:t>
            </a:r>
          </a:p>
          <a:p xmlns:a="http://schemas.openxmlformats.org/drawingml/2006/main">
            <a:r>
              <a:t>获胜与兑换  </a:t>
            </a:r>
          </a:p>
          <a:p xmlns:a="http://schemas.openxmlformats.org/drawingml/2006/main">
            <a:r>
              <a:t>获取球员、挑战获胜和兑换升级分别记录。领取或购买球员，不会直接完成挑战。</a:t>
            </a:r>
          </a:p>
          <a:p xmlns:a="http://schemas.openxmlformats.org/drawingml/2006/main">
            <a:r>
              <a:t>挑战获胜后，仍需主动点击兑换。挑战成功和兑换完成各有标记，方便玩家看清自己做到哪一步。</a:t>
            </a:r>
          </a:p>
          <a:p xmlns:a="http://schemas.openxmlformats.org/drawingml/2006/main">
            <a:r>
              <a:t>阶段与状态  </a:t>
            </a:r>
          </a:p>
          <a:p xmlns:a="http://schemas.openxmlformats.org/drawingml/2006/main">
            <a:r>
              <a:t>三条路线按同一阶段开放。进入新阶段后，之前的挑战和兑换记录继续保留。</a:t>
            </a:r>
          </a:p>
          <a:p xmlns:a="http://schemas.openxmlformats.org/drawingml/2006/main">
            <a:r>
              <a:t>当前演示中，阶段未开放，或尚未获取初始卡时，兑换入口显示“锁定”。</a:t>
            </a:r>
          </a:p>
          <a:p xmlns:a="http://schemas.openxmlformats.org/drawingml/2006/main">
            <a:r>
              <a:t>已经持卡、但尚未获胜时，显示“等待”。满足条件后可主动兑换，兑换完成后显示勾选。</a:t>
            </a:r>
          </a:p>
          <a:p xmlns:a="http://schemas.openxmlformats.org/drawingml/2006/main">
            <a:r>
              <a:t>Tips：正式起止日期、阶段数量、持卡和前一阶段要求，尚未确定。比赛难度、补做方式和旧卡处理，也需要进一步确认。</a:t>
            </a:r>
          </a:p>
          <a:p xmlns:a="http://schemas.openxmlformats.org/drawingml/2006/main">
            <a:r>
              <a:t>原型中的操作顺序用于演示，不能直接当作正式参与条件。本板块不另设共同终奖。</a:t>
            </a:r>
          </a:p>
          <a:p xmlns:a="http://schemas.openxmlformats.org/drawingml/2006/main">
            <a:r>
              <a:t>经典战役获胜待兑换已兑换未开放</a:t>
            </a:r>
          </a:p>
          <a:p xmlns:a="http://schemas.openxmlformats.org/drawingml/2006/main">
            <a:r>
              <a:t>图8 挑战和兑换分别记录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二、开放节奏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开放安排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这样安排的理由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腊月廿四至正月十四，每天开放对应日期版面。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让玩家每天回来领取。除夕用不同排布突出节日节点。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踢出开门红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除夕至正月十四。每日资格刷新，累计进度保留。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让玩家持续参加比赛，后加入的玩家也能继续追赶。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初一同时开放两位，此后每两天新增一位。十三全部开放，已开放任务可补做到十四。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持续提供新线索。已开放任务保留，不必赶在开放当天完成。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三羊开泰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三条路线按相同阶段推进，正式起止日期待确认。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玩家按球员兴趣选路线，后续阶段继续提供挑战。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这里按当前农历演示日期说明开放顺序。正式开放、每日刷新和结束时刻，另行确认。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日期限定礼只在当天领取。已开放任务是否保留补做机会，按各板块规则执行。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索引仅覆盖本次引用样本。页面中的官方截图和机制图均保留原比例，不以AI图替代。羊名立万案例与界面来自用户提供的春节活动策划案，奖励卡为占位示意。公开资料不包含内部运营数据，也不构成全量历史活动审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顺序覆盖活动简报、概念评审、内容锁定、配置交付、联调验收和上线复盘。交付日程应以现有系统和资源可用性为前提，避免把需要新增开发的机制混入常规配置工作。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试点需要先确认埋点和历史基线。若没有实验或合适的比较对象，不能将指标变化全部归因于设计合作。球员强度、同期投放、渠道流量和版本变化均可能影响结果。本提案没有虚构项目业绩或提升百分比。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束时提出具体请求：与活动策划、产品及开发负责人对齐一次，确认试点主题、系统能力和验收标准。对外发送前需要补充真实的团队履历、岗位配置、产能样表和商务信息，不以当前设计原型替代履约能力证据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f5fba520249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8e1af4bae4c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425bbcee254229" /></Relationships>
</file>

<file path=ppt/slideLayouts/slideLayout1.xml><?xml version="1.0" encoding="utf-8"?>
<p:sldLayout xmlns:p="http://schemas.openxmlformats.org/presentationml/2006/main" matchingName="FC season proposal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9958E807-B1D1-467E-B7F6-67D877D36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AF8277DF-1FE5-492A-BBE8-DE406CBEBE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FC season proposal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885ec65dc444a0" /><Relationship Type="http://schemas.openxmlformats.org/officeDocument/2006/relationships/slideLayout" Target="/ppt/slideLayouts/slideLayout1.xml" Id="Rf99a53fbf37f48c7" /><Relationship Type="http://schemas.openxmlformats.org/officeDocument/2006/relationships/slideLayout" Target="/ppt/slideLayouts/slideLayout2.xml" Id="Re557c755d3d9441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fddfed4d7694a29" /><Relationship Type="http://schemas.openxmlformats.org/officeDocument/2006/relationships/slideLayout" Target="/ppt/slideLayouts/slideLayout3.xml" Id="Rcbeea25c5e99455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7bbc5fc8bea4c8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ecc9f396919d4da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6efb59c7e624403e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2db102edfd7e4392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150052788379467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B60076F4-A629-4DBC-A6E9-E0AEF39BF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1651D025-D854-4409-AB87-58BC36A791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9a53fbf37f48c7"/>
    <p:sldLayoutId xmlns:r="http://schemas.openxmlformats.org/officeDocument/2006/relationships" id="2147483650" r:id="Re557c755d3d9441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65A144D-37F2-4C24-B174-296507C49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C1EEE1C-7B06-42C0-8353-FEB6E254C9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cbeea25c5e99455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6">
            <a:extLst xmlns:a="http://schemas.openxmlformats.org/drawingml/2006/main">
              <a:ext uri="{FF2B5EF4-FFF2-40B4-BE49-F238E27FC236}">
                <a16:creationId xmlns:a16="http://schemas.microsoft.com/office/drawing/2014/main" id="{34BF380C-D5CA-4ABB-83CD-6E7C6F070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2" name="Google Shape;22;p6">
            <a:extLst xmlns:a="http://schemas.openxmlformats.org/drawingml/2006/main">
              <a:ext uri="{FF2B5EF4-FFF2-40B4-BE49-F238E27FC236}">
                <a16:creationId xmlns:a16="http://schemas.microsoft.com/office/drawing/2014/main" id="{083FBC58-1633-48B4-8380-4BBE51F8F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7">
            <a:extLst xmlns:a="http://schemas.openxmlformats.org/drawingml/2006/main">
              <a:ext uri="{FF2B5EF4-FFF2-40B4-BE49-F238E27FC236}">
                <a16:creationId xmlns:a16="http://schemas.microsoft.com/office/drawing/2014/main" id="{80EE5381-BAD5-498B-AEA5-87B0BE0C2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6A95AE19-4A5D-41A2-BCB0-C48420514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2B716E7F-02ED-43B2-9182-B8B4142E2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4CBBDFCB-2F6C-4568-9987-3287A8AD42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D1C9AF83-FF77-44DC-908A-469CAA69C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5B7843D4-45C3-4E2A-A980-79B6F3EBDF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6A3DC454-8608-4476-805B-6E491445B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f499fa49d42f9" /><Relationship Type="http://schemas.openxmlformats.org/officeDocument/2006/relationships/image" Target="/ppt/media/image.png" Id="R0950f936142a4290" /><Relationship Type="http://schemas.openxmlformats.org/officeDocument/2006/relationships/notesSlide" Target="/ppt/notesSlides/notesSlide1.xml" Id="Rc42504e525244f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3e63aecb7b4fa1" /><Relationship Type="http://schemas.openxmlformats.org/officeDocument/2006/relationships/notesSlide" Target="/ppt/notesSlides/notesSlide2.xml" Id="Ra79f918f429d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48872556284048" /><Relationship Type="http://schemas.openxmlformats.org/officeDocument/2006/relationships/image" Target="/ppt/media/image.jpeg" Id="R505aa417d65c42a8" /><Relationship Type="http://schemas.openxmlformats.org/officeDocument/2006/relationships/image" Target="/ppt/media/image2.jpeg" Id="R4c58582a9f0948be" /><Relationship Type="http://schemas.openxmlformats.org/officeDocument/2006/relationships/notesSlide" Target="/ppt/notesSlides/notesSlide3.xml" Id="R02fbecdb3fad44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eb33764e6c4db0" /><Relationship Type="http://schemas.openxmlformats.org/officeDocument/2006/relationships/image" Target="/ppt/media/image3.jpeg" Id="R2a64d08794f94bef" /><Relationship Type="http://schemas.openxmlformats.org/officeDocument/2006/relationships/notesSlide" Target="/ppt/notesSlides/notesSlide4.xml" Id="R3c045786fbda44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ae20bf70ce41bc" /><Relationship Type="http://schemas.openxmlformats.org/officeDocument/2006/relationships/image" Target="/ppt/media/image4.jpeg" Id="R84b94520075e4a08" /><Relationship Type="http://schemas.openxmlformats.org/officeDocument/2006/relationships/notesSlide" Target="/ppt/notesSlides/notesSlide5.xml" Id="Rd9dd6def97c843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c719467fb3408a" /><Relationship Type="http://schemas.openxmlformats.org/officeDocument/2006/relationships/notesSlide" Target="/ppt/notesSlides/notesSlide6.xml" Id="R3de3bd71b7ec49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e4a68fe5b24d82" /><Relationship Type="http://schemas.openxmlformats.org/officeDocument/2006/relationships/notesSlide" Target="/ppt/notesSlides/notesSlide7.xml" Id="R73acbcc9a67b43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6a4728396d409b" /><Relationship Type="http://schemas.openxmlformats.org/officeDocument/2006/relationships/notesSlide" Target="/ppt/notesSlides/notesSlide8.xml" Id="Rf904b32e21c140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2af00cd774fb8" /><Relationship Type="http://schemas.openxmlformats.org/officeDocument/2006/relationships/notesSlide" Target="/ppt/notesSlides/notesSlide9.xml" Id="Rb2b8921017cb4e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6ec0c8fa694574" /><Relationship Type="http://schemas.openxmlformats.org/officeDocument/2006/relationships/notesSlide" Target="/ppt/notesSlides/notesSlide10.xml" Id="Rf6b0207836274a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893e972bd48be" /><Relationship Type="http://schemas.openxmlformats.org/officeDocument/2006/relationships/notesSlide" Target="/ppt/notesSlides/notesSlide11.xml" Id="R900adbf015ff40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6180d99284b69" /><Relationship Type="http://schemas.openxmlformats.org/officeDocument/2006/relationships/image" Target="/ppt/media/image2.png" Id="Re654ed07ffb5489b" /><Relationship Type="http://schemas.openxmlformats.org/officeDocument/2006/relationships/notesSlide" Target="/ppt/notesSlides/notesSlide12.xml" Id="Rc01eab20e6ac41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7fef0297fd4146" /><Relationship Type="http://schemas.openxmlformats.org/officeDocument/2006/relationships/notesSlide" Target="/ppt/notesSlides/notesSlide13.xml" Id="R9d157cadc97f4d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a0e590fb041c7" /><Relationship Type="http://schemas.openxmlformats.org/officeDocument/2006/relationships/image" Target="/ppt/media/image3.png" Id="R40e5761469a645d5" /><Relationship Type="http://schemas.openxmlformats.org/officeDocument/2006/relationships/image" Target="/ppt/media/image4.png" Id="Rc775ad0cca5e406e" /><Relationship Type="http://schemas.openxmlformats.org/officeDocument/2006/relationships/notesSlide" Target="/ppt/notesSlides/notesSlide14.xml" Id="Rf8046f838f3947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af88d3d97949a6" /><Relationship Type="http://schemas.openxmlformats.org/officeDocument/2006/relationships/image" Target="/ppt/media/image5.png" Id="R6549d9669d924056" /><Relationship Type="http://schemas.openxmlformats.org/officeDocument/2006/relationships/image" Target="/ppt/media/image6.png" Id="R583fcc25a2a24e7b" /><Relationship Type="http://schemas.openxmlformats.org/officeDocument/2006/relationships/notesSlide" Target="/ppt/notesSlides/notesSlide15.xml" Id="Race1a79f21904e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00ce17a0d64578" /><Relationship Type="http://schemas.openxmlformats.org/officeDocument/2006/relationships/image" Target="/ppt/media/image7.png" Id="R0032614d93f54934" /><Relationship Type="http://schemas.openxmlformats.org/officeDocument/2006/relationships/image" Target="/ppt/media/image8.png" Id="Refe27dfa86f44159" /><Relationship Type="http://schemas.openxmlformats.org/officeDocument/2006/relationships/notesSlide" Target="/ppt/notesSlides/notesSlide16.xml" Id="Rb428c55fd4d049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79c78a87640fc" /><Relationship Type="http://schemas.openxmlformats.org/officeDocument/2006/relationships/image" Target="/ppt/media/image9.png" Id="Rde494914e74a424f" /><Relationship Type="http://schemas.openxmlformats.org/officeDocument/2006/relationships/image" Target="/ppt/media/image10.png" Id="R85a86be1bb9c4f11" /><Relationship Type="http://schemas.openxmlformats.org/officeDocument/2006/relationships/notesSlide" Target="/ppt/notesSlides/notesSlide17.xml" Id="R3adc058c26134d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b35bda7ec41ee" /><Relationship Type="http://schemas.openxmlformats.org/officeDocument/2006/relationships/notesSlide" Target="/ppt/notesSlides/notesSlide18.xml" Id="R703865bf14af4c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fb1bd253644bfa" /><Relationship Type="http://schemas.openxmlformats.org/officeDocument/2006/relationships/notesSlide" Target="/ppt/notesSlides/notesSlide19.xml" Id="R5a9e4f7c4c8e4f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55d501fc044e2" /><Relationship Type="http://schemas.openxmlformats.org/officeDocument/2006/relationships/notesSlide" Target="/ppt/notesSlides/notesSlide20.xml" Id="Rcf2722c0746143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73c0cd05c4ceb" /><Relationship Type="http://schemas.openxmlformats.org/officeDocument/2006/relationships/notesSlide" Target="/ppt/notesSlides/notesSlide21.xml" Id="R2379d6c47b1549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baefc97c344f6" /><Relationship Type="http://schemas.openxmlformats.org/officeDocument/2006/relationships/notesSlide" Target="/ppt/notesSlides/notesSlide22.xml" Id="R23b9152ba38449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f26b99e393486d" /><Relationship Type="http://schemas.openxmlformats.org/officeDocument/2006/relationships/notesSlide" Target="/ppt/notesSlides/notesSlide23.xml" Id="R2f04abcf49fd4f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D828A138-7AFA-4F0A-A322-2A0E8751E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50f936142a4290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391400" y="2133600"/>
            <a:ext cx="4114800" cy="2343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Google Shape;40;p11">
            <a:extLst xmlns:a="http://schemas.openxmlformats.org/drawingml/2006/main">
              <a:ext uri="{FF2B5EF4-FFF2-40B4-BE49-F238E27FC236}">
                <a16:creationId xmlns:a16="http://schemas.microsoft.com/office/drawing/2014/main" id="{FA141547-3DBD-4A5B-ADA1-1B84D883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80"/>
            <a:ext cx="590508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E4A9092F-D16A-490C-A2D7-B93379F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200"/>
            <a:ext cx="6571800" cy="192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44B83AD2-DFD7-4C61-B53E-B4D27D5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29280"/>
            <a:ext cx="638136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通过一期试点，建立持续的活动内容交付合作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11">
            <a:extLst xmlns:a="http://schemas.openxmlformats.org/drawingml/2006/main">
              <a:ext uri="{FF2B5EF4-FFF2-40B4-BE49-F238E27FC236}">
                <a16:creationId xmlns:a16="http://schemas.microsoft.com/office/drawing/2014/main" id="{460D25D0-D1E4-4CF7-B3E6-C105572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62680"/>
            <a:ext cx="33332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3104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6C05AA9-2487-4F96-9AB1-AF2E3DA9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历史FC赛季活动研究样本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DF15AA09-58D2-429B-8E10-68C86FA1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选取较典型的四种主题与机制组合，比较参与、推进、奖励和开放节奏。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Google Shape;51;p12">
            <a:extLst xmlns:a="http://schemas.openxmlformats.org/drawingml/2006/main">
              <a:ext uri="{FF2B5EF4-FFF2-40B4-BE49-F238E27FC236}">
                <a16:creationId xmlns:a16="http://schemas.microsoft.com/office/drawing/2014/main" id="{D097A7E7-52C9-41DF-81B0-73A23E8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Google Shape;52;p12">
            <a:extLst xmlns:a="http://schemas.openxmlformats.org/drawingml/2006/main">
              <a:ext uri="{FF2B5EF4-FFF2-40B4-BE49-F238E27FC236}">
                <a16:creationId xmlns:a16="http://schemas.microsoft.com/office/drawing/2014/main" id="{1B640F4E-87C7-4DB7-84A3-161D769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2194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2024.06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3F7F08E0-5E59-4F8E-BDEE-633B28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219060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欧洲杯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2">
            <a:extLst xmlns:a="http://schemas.openxmlformats.org/drawingml/2006/main">
              <a:ext uri="{FF2B5EF4-FFF2-40B4-BE49-F238E27FC236}">
                <a16:creationId xmlns:a16="http://schemas.microsoft.com/office/drawing/2014/main" id="{DE2EF5EF-EB71-4601-97D1-66FCACF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22003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真实赛事联动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01FF5C29-082E-4A93-B529-B053B0E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22194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锦标赛、竞猜与主题球员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A1E56F1D-C9EE-4E3A-8D6F-AA8E19A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862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2025.01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BB1322F1-51C0-44B4-93C5-0184997A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05748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5BDCC1DF-3411-4128-9678-6370FD7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0672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年度荣誉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20B9393D-AFBE-4ABB-A848-438A233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0862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章节、奖励路径与拼图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Google Shape;60;p12">
            <a:extLst xmlns:a="http://schemas.openxmlformats.org/drawingml/2006/main">
              <a:ext uri="{FF2B5EF4-FFF2-40B4-BE49-F238E27FC236}">
                <a16:creationId xmlns:a16="http://schemas.microsoft.com/office/drawing/2014/main" id="{C0C9CEC7-8965-4384-8EBC-4D7A3EF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528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2026.02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10E82228-0563-4512-AF07-CF4503E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92436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马上过足瘾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920DB596-B0FB-4FFB-A08E-1CD455BA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9337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春节庆典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oogle Shape;63;p12">
            <a:extLst xmlns:a="http://schemas.openxmlformats.org/drawingml/2006/main">
              <a:ext uri="{FF2B5EF4-FFF2-40B4-BE49-F238E27FC236}">
                <a16:creationId xmlns:a16="http://schemas.microsoft.com/office/drawing/2014/main" id="{31F1EDC1-42FB-43CF-81BA-2B350C1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9528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福气累积、年兽挑战与球员升级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12">
            <a:extLst xmlns:a="http://schemas.openxmlformats.org/drawingml/2006/main">
              <a:ext uri="{FF2B5EF4-FFF2-40B4-BE49-F238E27FC236}">
                <a16:creationId xmlns:a16="http://schemas.microsoft.com/office/drawing/2014/main" id="{78CF8AA3-58B6-4677-B172-558FB2C7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196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2026.04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12">
            <a:extLst xmlns:a="http://schemas.openxmlformats.org/drawingml/2006/main">
              <a:ext uri="{FF2B5EF4-FFF2-40B4-BE49-F238E27FC236}">
                <a16:creationId xmlns:a16="http://schemas.microsoft.com/office/drawing/2014/main" id="{AEA49010-9A7E-4D03-886D-8EC7B40E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479124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Google Shape;66;p12">
            <a:extLst xmlns:a="http://schemas.openxmlformats.org/drawingml/2006/main">
              <a:ext uri="{FF2B5EF4-FFF2-40B4-BE49-F238E27FC236}">
                <a16:creationId xmlns:a16="http://schemas.microsoft.com/office/drawing/2014/main" id="{3BA7620D-1B36-4616-A7E1-FA6436E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48006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赛事回顾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12">
            <a:extLst xmlns:a="http://schemas.openxmlformats.org/drawingml/2006/main">
              <a:ext uri="{FF2B5EF4-FFF2-40B4-BE49-F238E27FC236}">
                <a16:creationId xmlns:a16="http://schemas.microsoft.com/office/drawing/2014/main" id="{A55D33D7-055A-4D4E-B03B-CD1AAF4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48196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问答、决赛重现与票券兑换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oogle Shape;68;p12">
            <a:extLst xmlns:a="http://schemas.openxmlformats.org/drawingml/2006/main">
              <a:ext uri="{FF2B5EF4-FFF2-40B4-BE49-F238E27FC236}">
                <a16:creationId xmlns:a16="http://schemas.microsoft.com/office/drawing/2014/main" id="{3799EFA8-1E1C-4F1A-A5D3-2C60A82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研究范围：国服《FC足球世界》官方公告与配图，非全量历史活动盘点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9814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B639DD8A-9C7C-4FE3-85B9-38598B6E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年度最佳：章节之间存在资源衔接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0846FB08-7E39-4F87-B472-4656A64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42天活动分阶段开放，奖励路径产生的票券继续用于拼图。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5B054892-7E67-460E-8A89-D48AF1B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38550750-C35B-4E42-A6BD-6822C2971C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5aa417d65c42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B9464F8C-1267-409A-8575-10347199A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58582a9f0948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676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8132AAB1-6854-4E67-A339-E3B3D2CE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657680"/>
            <a:ext cx="51908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入口组织五个章节，首期开放其中三个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A23D1C13-7B11-49B3-93DE-8F315A77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00" y="4657680"/>
            <a:ext cx="523836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登录和赛事产出代币，用于推进球员之旅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2AC5E833-DAF3-44A8-ABF9-76FC5BF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334120"/>
            <a:ext cx="106675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路径节点产出票券，拼图累计完成后解锁特惠交换。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8526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9206BB24-49E0-4FB6-B28A-4DA16DE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春节：累计进度与球员升级并行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14">
            <a:extLst xmlns:a="http://schemas.openxmlformats.org/drawingml/2006/main">
              <a:ext uri="{FF2B5EF4-FFF2-40B4-BE49-F238E27FC236}">
                <a16:creationId xmlns:a16="http://schemas.microsoft.com/office/drawing/2014/main" id="{951065CF-FE09-439F-8C9D-6E8F838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节庆主题落实到挑战形式、开放日历和奖励成长。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14">
            <a:extLst xmlns:a="http://schemas.openxmlformats.org/drawingml/2006/main">
              <a:ext uri="{FF2B5EF4-FFF2-40B4-BE49-F238E27FC236}">
                <a16:creationId xmlns:a16="http://schemas.microsoft.com/office/drawing/2014/main" id="{5BDC6DCC-6CF1-49EE-8CCD-EC37FA3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Google Shape;90;p14">
            <a:extLst xmlns:a="http://schemas.openxmlformats.org/drawingml/2006/main">
              <a:ext uri="{FF2B5EF4-FFF2-40B4-BE49-F238E27FC236}">
                <a16:creationId xmlns:a16="http://schemas.microsoft.com/office/drawing/2014/main" id="{A382CE20-4453-4386-9C7D-8DF473A89C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64d08794f94b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80" y="1971720"/>
            <a:ext cx="2141280" cy="39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4">
            <a:extLst xmlns:a="http://schemas.openxmlformats.org/drawingml/2006/main">
              <a:ext uri="{FF2B5EF4-FFF2-40B4-BE49-F238E27FC236}">
                <a16:creationId xmlns:a16="http://schemas.microsoft.com/office/drawing/2014/main" id="{10EDC111-8079-4EA6-80D1-F97A7EA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1906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14">
            <a:extLst xmlns:a="http://schemas.openxmlformats.org/drawingml/2006/main">
              <a:ext uri="{FF2B5EF4-FFF2-40B4-BE49-F238E27FC236}">
                <a16:creationId xmlns:a16="http://schemas.microsoft.com/office/drawing/2014/main" id="{3B3857EA-CCFF-4C45-A9B5-AF9B3BFE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69568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首场多人对战与每日挑战积累福气值。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393ABF92-F15C-4A38-BC4E-33676F85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3624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阶段目标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C680AA77-8210-4AE3-861E-4BC2C195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86712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升级福袋、领取里程碑，完成年兽挑战。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1F571CC1-A6A4-48AD-813A-33727A5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453384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持续成长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ED5CCC18-EC7E-4A2A-B8F8-B0F20A5E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503856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鸿运叠彩累计14日任务，交换升级球员。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14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5">
            <a:extLst xmlns:a="http://schemas.openxmlformats.org/drawingml/2006/main">
              <a:ext uri="{FF2B5EF4-FFF2-40B4-BE49-F238E27FC236}">
                <a16:creationId xmlns:a16="http://schemas.microsoft.com/office/drawing/2014/main" id="{38510F16-EF92-4E2D-A93A-B26645F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赛事主题：现实进程与经典比赛两种组织方式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8E8BC47A-D443-4DF6-9950-1BAA7A6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欧洲杯连接当下赛况，欧冠荣耀重现比赛内容。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1A420126-6841-41EE-8FFB-3A136A53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AF85D090-F740-4F85-A624-FA7BDECD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143080"/>
            <a:ext cx="419076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2024 欧洲杯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005B345A-B081-4105-AFAA-1219665B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857680"/>
            <a:ext cx="4285800" cy="159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24支参赛队的锦标赛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点数参与真实比赛竞猜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球员卡面随登场情况更新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886D9937-27C8-4ECE-9237-0DF4F3F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962600"/>
            <a:ext cx="4428720" cy="79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解读：赛事进程可以成为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回访理由和内容更新依据。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0A4393FC-D8D9-460A-AD46-848A786161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b94520075e4a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120" y="2174400"/>
            <a:ext cx="6171840" cy="2765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15">
            <a:extLst xmlns:a="http://schemas.openxmlformats.org/drawingml/2006/main">
              <a:ext uri="{FF2B5EF4-FFF2-40B4-BE49-F238E27FC236}">
                <a16:creationId xmlns:a16="http://schemas.microsoft.com/office/drawing/2014/main" id="{3CD6B3E5-EE68-4306-80C4-5B210281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200" y="5124600"/>
            <a:ext cx="615276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2026 欧冠荣耀：完成决赛赛事，获得奖励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并解锁球员特价交换。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388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CCD63689-333F-4072-9E0A-D693DF2E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四个样本的机制对照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16">
            <a:extLst xmlns:a="http://schemas.openxmlformats.org/drawingml/2006/main">
              <a:ext uri="{FF2B5EF4-FFF2-40B4-BE49-F238E27FC236}">
                <a16:creationId xmlns:a16="http://schemas.microsoft.com/office/drawing/2014/main" id="{C3446657-7632-4E58-B1D4-F1DB7F7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相同的参与与奖励职能，可以由不同的规则承担。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16">
            <a:extLst xmlns:a="http://schemas.openxmlformats.org/drawingml/2006/main">
              <a:ext uri="{FF2B5EF4-FFF2-40B4-BE49-F238E27FC236}">
                <a16:creationId xmlns:a16="http://schemas.microsoft.com/office/drawing/2014/main" id="{459F8DAA-AC2E-46B1-BAD0-22B79C0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8" name="Google Shape;118;p16">
            <a:extLst xmlns:a="http://schemas.openxmlformats.org/drawingml/2006/main">
              <a:ext uri="{FF2B5EF4-FFF2-40B4-BE49-F238E27FC236}">
                <a16:creationId xmlns:a16="http://schemas.microsoft.com/office/drawing/2014/main" id="{0284ACB6-77B1-4603-B74C-63331EA64A9F}"/>
              </a:ext>
            </a:extLst>
          </p:cNvPr>
          <p:cNvGraphicFramePr/>
          <p:nvPr/>
        </p:nvGraphicFramePr>
        <p:xfrm>
          <a:off xmlns:a="http://schemas.openxmlformats.org/drawingml/2006/main" x="685800" y="20383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562050"/>
                <a:gridCol w="2314450"/>
                <a:gridCol w="2314450"/>
                <a:gridCol w="2314450"/>
                <a:gridCol w="2314450"/>
              </a:tblGrid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年度最佳 [A]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 [B]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欧洲杯 [C]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欧冠荣耀 [D]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参与行为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节日登录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锦标赛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比赛竞猜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推进机制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代币路径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票券拼图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累计升级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赛程联动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赛事与任务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奖励衔接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交换资格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福利、球员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竞猜奖励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球员、票券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特价交换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节奏依据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日常与每周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节日节点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14日累计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真实赛程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赛况更新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分章节挑战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832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7">
            <a:extLst xmlns:a="http://schemas.openxmlformats.org/drawingml/2006/main">
              <a:ext uri="{FF2B5EF4-FFF2-40B4-BE49-F238E27FC236}">
                <a16:creationId xmlns:a16="http://schemas.microsoft.com/office/drawing/2014/main" id="{8976DD58-8B25-4FD3-B18E-33E86E19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活动框架：共同职能与可变模块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17">
            <a:extLst xmlns:a="http://schemas.openxmlformats.org/drawingml/2006/main">
              <a:ext uri="{FF2B5EF4-FFF2-40B4-BE49-F238E27FC236}">
                <a16:creationId xmlns:a16="http://schemas.microsoft.com/office/drawing/2014/main" id="{1A473FB3-C392-4493-AFCF-8A2F581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以下是对历史样本的归纳，各模块可以并行，并非每期固定的线性流程。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17">
            <a:extLst xmlns:a="http://schemas.openxmlformats.org/drawingml/2006/main">
              <a:ext uri="{FF2B5EF4-FFF2-40B4-BE49-F238E27FC236}">
                <a16:creationId xmlns:a16="http://schemas.microsoft.com/office/drawing/2014/main" id="{E5E622C3-4B59-423A-809E-FD47A66D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17">
            <a:extLst xmlns:a="http://schemas.openxmlformats.org/drawingml/2006/main">
              <a:ext uri="{FF2B5EF4-FFF2-40B4-BE49-F238E27FC236}">
                <a16:creationId xmlns:a16="http://schemas.microsoft.com/office/drawing/2014/main" id="{9EE6BAFD-B9BB-4A95-A1C4-6F3E82FF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676680"/>
            <a:ext cx="180936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</a:t>
            </a:r>
            <a:endParaRPr sz="25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8" name="Google Shape;128;p17">
            <a:extLst xmlns:a="http://schemas.openxmlformats.org/drawingml/2006/main">
              <a:ext uri="{FF2B5EF4-FFF2-40B4-BE49-F238E27FC236}">
                <a16:creationId xmlns:a16="http://schemas.microsoft.com/office/drawing/2014/main" id="{3772AA00-C3B9-4178-8510-0B9068D34D9B}"/>
              </a:ext>
            </a:extLst>
          </p:cNvPr>
          <p:cNvCxnSpPr/>
          <p:nvPr/>
        </p:nvCxnSpPr>
        <p:spPr>
          <a:xfrm xmlns:a="http://schemas.openxmlformats.org/drawingml/2006/main">
            <a:off x="2323800" y="3895560"/>
            <a:ext cx="5526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7">
            <a:extLst xmlns:a="http://schemas.openxmlformats.org/drawingml/2006/main">
              <a:ext uri="{FF2B5EF4-FFF2-40B4-BE49-F238E27FC236}">
                <a16:creationId xmlns:a16="http://schemas.microsoft.com/office/drawing/2014/main" id="{F4A58AAC-7838-4601-9E22-E24F4B569694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60" cy="312408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17">
            <a:extLst xmlns:a="http://schemas.openxmlformats.org/drawingml/2006/main">
              <a:ext uri="{FF2B5EF4-FFF2-40B4-BE49-F238E27FC236}">
                <a16:creationId xmlns:a16="http://schemas.microsoft.com/office/drawing/2014/main" id="{25A26781-2351-4089-A25C-AA423CF54341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17">
            <a:extLst xmlns:a="http://schemas.openxmlformats.org/drawingml/2006/main">
              <a:ext uri="{FF2B5EF4-FFF2-40B4-BE49-F238E27FC236}">
                <a16:creationId xmlns:a16="http://schemas.microsoft.com/office/drawing/2014/main" id="{21A6E332-EBAA-412D-A34A-C3B576E2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15280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主题与入口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17">
            <a:extLst xmlns:a="http://schemas.openxmlformats.org/drawingml/2006/main">
              <a:ext uri="{FF2B5EF4-FFF2-40B4-BE49-F238E27FC236}">
                <a16:creationId xmlns:a16="http://schemas.microsoft.com/office/drawing/2014/main" id="{746E7710-E9B7-454B-8AB5-C9F4F7E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1812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荣誉、赛事或节庆，组织章节导览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" name="Google Shape;133;p17">
            <a:extLst xmlns:a="http://schemas.openxmlformats.org/drawingml/2006/main">
              <a:ext uri="{FF2B5EF4-FFF2-40B4-BE49-F238E27FC236}">
                <a16:creationId xmlns:a16="http://schemas.microsoft.com/office/drawing/2014/main" id="{EB61EEC0-2DB2-4EE3-9773-33FC8A218538}"/>
              </a:ext>
            </a:extLst>
          </p:cNvPr>
          <p:cNvCxnSpPr/>
          <p:nvPr/>
        </p:nvCxnSpPr>
        <p:spPr>
          <a:xfrm xmlns:a="http://schemas.openxmlformats.org/drawingml/2006/main">
            <a:off x="2876400" y="31143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17">
            <a:extLst xmlns:a="http://schemas.openxmlformats.org/drawingml/2006/main">
              <a:ext uri="{FF2B5EF4-FFF2-40B4-BE49-F238E27FC236}">
                <a16:creationId xmlns:a16="http://schemas.microsoft.com/office/drawing/2014/main" id="{BE072E68-6A5C-44D2-8106-3F39D83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9336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Google Shape;135;p17">
            <a:extLst xmlns:a="http://schemas.openxmlformats.org/drawingml/2006/main">
              <a:ext uri="{FF2B5EF4-FFF2-40B4-BE49-F238E27FC236}">
                <a16:creationId xmlns:a16="http://schemas.microsoft.com/office/drawing/2014/main" id="{A37C44C8-FAAF-481B-8F49-67D4C4D3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9624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登录、对战、问答与任务，形成资源产出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A6749CE2-323B-466D-87C7-A4930C1C5C61}"/>
              </a:ext>
            </a:extLst>
          </p:cNvPr>
          <p:cNvCxnSpPr/>
          <p:nvPr/>
        </p:nvCxnSpPr>
        <p:spPr>
          <a:xfrm xmlns:a="http://schemas.openxmlformats.org/drawingml/2006/main">
            <a:off x="2876400" y="38955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17">
            <a:extLst xmlns:a="http://schemas.openxmlformats.org/drawingml/2006/main">
              <a:ext uri="{FF2B5EF4-FFF2-40B4-BE49-F238E27FC236}">
                <a16:creationId xmlns:a16="http://schemas.microsoft.com/office/drawing/2014/main" id="{7C616DB8-06C2-4183-8E26-2412157A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37148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推进与目标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17">
            <a:extLst xmlns:a="http://schemas.openxmlformats.org/drawingml/2006/main">
              <a:ext uri="{FF2B5EF4-FFF2-40B4-BE49-F238E27FC236}">
                <a16:creationId xmlns:a16="http://schemas.microsoft.com/office/drawing/2014/main" id="{22EAFAE0-0364-4758-8F42-C2E88761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37432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路径、拼图、累计或挑战，支持不同进度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8BED49B5-E8D8-4FAC-9DE6-8BC18DDF5EE5}"/>
              </a:ext>
            </a:extLst>
          </p:cNvPr>
          <p:cNvCxnSpPr/>
          <p:nvPr/>
        </p:nvCxnSpPr>
        <p:spPr>
          <a:xfrm xmlns:a="http://schemas.openxmlformats.org/drawingml/2006/main">
            <a:off x="2876400" y="46767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17">
            <a:extLst xmlns:a="http://schemas.openxmlformats.org/drawingml/2006/main">
              <a:ext uri="{FF2B5EF4-FFF2-40B4-BE49-F238E27FC236}">
                <a16:creationId xmlns:a16="http://schemas.microsoft.com/office/drawing/2014/main" id="{66F901F6-7881-4B5C-8741-17524C22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44956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奖励与交换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Google Shape;141;p17">
            <a:extLst xmlns:a="http://schemas.openxmlformats.org/drawingml/2006/main">
              <a:ext uri="{FF2B5EF4-FFF2-40B4-BE49-F238E27FC236}">
                <a16:creationId xmlns:a16="http://schemas.microsoft.com/office/drawing/2014/main" id="{F0C3DCFE-2EF8-470A-AFB9-BC741550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45244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直接奖励、代币兑换或解锁交换资格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2" name="Google Shape;142;p17">
            <a:extLst xmlns:a="http://schemas.openxmlformats.org/drawingml/2006/main">
              <a:ext uri="{FF2B5EF4-FFF2-40B4-BE49-F238E27FC236}">
                <a16:creationId xmlns:a16="http://schemas.microsoft.com/office/drawing/2014/main" id="{87B1EB44-4CF0-4EE8-A77E-90CD6D70F720}"/>
              </a:ext>
            </a:extLst>
          </p:cNvPr>
          <p:cNvCxnSpPr/>
          <p:nvPr/>
        </p:nvCxnSpPr>
        <p:spPr>
          <a:xfrm xmlns:a="http://schemas.openxmlformats.org/drawingml/2006/main">
            <a:off x="2876400" y="545760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17">
            <a:extLst xmlns:a="http://schemas.openxmlformats.org/drawingml/2006/main">
              <a:ext uri="{FF2B5EF4-FFF2-40B4-BE49-F238E27FC236}">
                <a16:creationId xmlns:a16="http://schemas.microsoft.com/office/drawing/2014/main" id="{5D1D545B-8A3D-4646-B899-4B5C355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52768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成长与收集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17">
            <a:extLst xmlns:a="http://schemas.openxmlformats.org/drawingml/2006/main">
              <a:ext uri="{FF2B5EF4-FFF2-40B4-BE49-F238E27FC236}">
                <a16:creationId xmlns:a16="http://schemas.microsoft.com/office/drawing/2014/main" id="{64953A7C-EB02-43A4-8CAD-4733C21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530532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球员入队，衔接图鉴、徽章或队徽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17">
            <a:extLst xmlns:a="http://schemas.openxmlformats.org/drawingml/2006/main">
              <a:ext uri="{FF2B5EF4-FFF2-40B4-BE49-F238E27FC236}">
                <a16:creationId xmlns:a16="http://schemas.microsoft.com/office/drawing/2014/main" id="{B93DCD54-9E2C-4160-9C4D-60D96DC6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开放节奏贯穿各模块，收集与成长规则随版本变化。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01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18">
            <a:extLst xmlns:a="http://schemas.openxmlformats.org/drawingml/2006/main">
              <a:ext uri="{FF2B5EF4-FFF2-40B4-BE49-F238E27FC236}">
                <a16:creationId xmlns:a16="http://schemas.microsoft.com/office/drawing/2014/main" id="{46541D1C-8014-469A-A273-227F0C4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研究对新赛季设计的启示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p18">
            <a:extLst xmlns:a="http://schemas.openxmlformats.org/drawingml/2006/main">
              <a:ext uri="{FF2B5EF4-FFF2-40B4-BE49-F238E27FC236}">
                <a16:creationId xmlns:a16="http://schemas.microsoft.com/office/drawing/2014/main" id="{478F0772-9F5E-4061-A9AD-12859DE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将样本数据转化为可评审的设计选择和判断，指导在试点中的设计。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p18">
            <a:extLst xmlns:a="http://schemas.openxmlformats.org/drawingml/2006/main">
              <a:ext uri="{FF2B5EF4-FFF2-40B4-BE49-F238E27FC236}">
                <a16:creationId xmlns:a16="http://schemas.microsoft.com/office/drawing/2014/main" id="{F493F9B4-0205-46CB-8CF5-B09F363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4" name="Google Shape;154;p18">
            <a:extLst xmlns:a="http://schemas.openxmlformats.org/drawingml/2006/main">
              <a:ext uri="{FF2B5EF4-FFF2-40B4-BE49-F238E27FC236}">
                <a16:creationId xmlns:a16="http://schemas.microsoft.com/office/drawing/2014/main" id="{2A800898-F247-4FED-B7A5-6067D7CEAE5C}"/>
              </a:ext>
            </a:extLst>
          </p:cNvPr>
          <p:cNvGraphicFramePr/>
          <p:nvPr/>
        </p:nvGraphicFramePr>
        <p:xfrm>
          <a:off xmlns:a="http://schemas.openxmlformats.org/drawingml/2006/main" x="685800" y="21337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466800"/>
                <a:gridCol w="3904925"/>
                <a:gridCol w="3447725"/>
              </a:tblGrid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样本观察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我们的设计判断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对应交付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路径、拼图和里程碑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承担不同推进职能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选择适合主题的推进方式，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明确每个资源的用途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章节关系、资源流向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与门槛测算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主题能改变比赛内容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或现实赛事联动方式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让球星特征进入挑战规则，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形成具体参与体验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关卡目标、比赛条件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与交互原型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分阶段开放与日常累计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共同组织活动节奏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分别设计每日目标、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阶段目标与补领安排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内容日历、目标清单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与异常状态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8">
            <a:extLst xmlns:a="http://schemas.openxmlformats.org/drawingml/2006/main">
              <a:ext uri="{FF2B5EF4-FFF2-40B4-BE49-F238E27FC236}">
                <a16:creationId xmlns:a16="http://schemas.microsoft.com/office/drawing/2014/main" id="{CEEA57DE-80A3-4897-BA0A-814694C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本页为基于历史样本的设计提议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825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19">
            <a:extLst xmlns:a="http://schemas.openxmlformats.org/drawingml/2006/main">
              <a:ext uri="{FF2B5EF4-FFF2-40B4-BE49-F238E27FC236}">
                <a16:creationId xmlns:a16="http://schemas.microsoft.com/office/drawing/2014/main" id="{AF0C63A4-81DD-4C8A-8F71-207BC235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合作目标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19">
            <a:extLst xmlns:a="http://schemas.openxmlformats.org/drawingml/2006/main">
              <a:ext uri="{FF2B5EF4-FFF2-40B4-BE49-F238E27FC236}">
                <a16:creationId xmlns:a16="http://schemas.microsoft.com/office/drawing/2014/main" id="{ADF7F1DC-F887-4C1F-AF49-6F7D720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基于上述研究，拟将活动设计落实为可排期、可制作、可验收的持续交付。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19">
            <a:extLst xmlns:a="http://schemas.openxmlformats.org/drawingml/2006/main">
              <a:ext uri="{FF2B5EF4-FFF2-40B4-BE49-F238E27FC236}">
                <a16:creationId xmlns:a16="http://schemas.microsoft.com/office/drawing/2014/main" id="{6BE8D244-4269-492C-9924-2D515558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9">
            <a:extLst xmlns:a="http://schemas.openxmlformats.org/drawingml/2006/main">
              <a:ext uri="{FF2B5EF4-FFF2-40B4-BE49-F238E27FC236}">
                <a16:creationId xmlns:a16="http://schemas.microsoft.com/office/drawing/2014/main" id="{7386EE6B-E44D-412A-9996-4A06C6A0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主题表达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19">
            <a:extLst xmlns:a="http://schemas.openxmlformats.org/drawingml/2006/main">
              <a:ext uri="{FF2B5EF4-FFF2-40B4-BE49-F238E27FC236}">
                <a16:creationId xmlns:a16="http://schemas.microsoft.com/office/drawing/2014/main" id="{35D0BC54-8C9A-49F2-90FF-D9141BC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将主题落实到章节目标与玩家选择，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让球星特色影响参与方式。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19">
            <a:extLst xmlns:a="http://schemas.openxmlformats.org/drawingml/2006/main">
              <a:ext uri="{FF2B5EF4-FFF2-40B4-BE49-F238E27FC236}">
                <a16:creationId xmlns:a16="http://schemas.microsoft.com/office/drawing/2014/main" id="{0C2A7F42-D006-48F8-B28C-C7CEBEC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制作明确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19">
            <a:extLst xmlns:a="http://schemas.openxmlformats.org/drawingml/2006/main">
              <a:ext uri="{FF2B5EF4-FFF2-40B4-BE49-F238E27FC236}">
                <a16:creationId xmlns:a16="http://schemas.microsoft.com/office/drawing/2014/main" id="{881D423E-49D9-481A-852D-4B72767C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同步交付规则、字段、界面状态与素材需求，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提前识别制作依赖。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9">
            <a:extLst xmlns:a="http://schemas.openxmlformats.org/drawingml/2006/main">
              <a:ext uri="{FF2B5EF4-FFF2-40B4-BE49-F238E27FC236}">
                <a16:creationId xmlns:a16="http://schemas.microsoft.com/office/drawing/2014/main" id="{945ACD23-9731-471D-AEE7-55892C2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持续更新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19">
            <a:extLst xmlns:a="http://schemas.openxmlformats.org/drawingml/2006/main">
              <a:ext uri="{FF2B5EF4-FFF2-40B4-BE49-F238E27FC236}">
                <a16:creationId xmlns:a16="http://schemas.microsoft.com/office/drawing/2014/main" id="{88393D9D-E757-4D4B-8C02-51E0658E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将整期目标拆到每周内容与每日循环，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保持奖励路径清晰。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Google Shape;170;p19">
            <a:extLst xmlns:a="http://schemas.openxmlformats.org/drawingml/2006/main">
              <a:ext uri="{FF2B5EF4-FFF2-40B4-BE49-F238E27FC236}">
                <a16:creationId xmlns:a16="http://schemas.microsoft.com/office/drawing/2014/main" id="{6E0C791F-AAB4-4595-9373-8BBFDCE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结果复盘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Google Shape;171;p19">
            <a:extLst xmlns:a="http://schemas.openxmlformats.org/drawingml/2006/main">
              <a:ext uri="{FF2B5EF4-FFF2-40B4-BE49-F238E27FC236}">
                <a16:creationId xmlns:a16="http://schemas.microsoft.com/office/drawing/2014/main" id="{764799F3-2FA2-4ADB-BE08-861CC87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通过参与、完成和交付记录，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提出下一期的具体调整。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950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20">
            <a:extLst xmlns:a="http://schemas.openxmlformats.org/drawingml/2006/main">
              <a:ext uri="{FF2B5EF4-FFF2-40B4-BE49-F238E27FC236}">
                <a16:creationId xmlns:a16="http://schemas.microsoft.com/office/drawing/2014/main" id="{4BD3D144-E08A-4524-9EBC-29835EE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合作范围与决策分工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Google Shape;178;p20">
            <a:extLst xmlns:a="http://schemas.openxmlformats.org/drawingml/2006/main">
              <a:ext uri="{FF2B5EF4-FFF2-40B4-BE49-F238E27FC236}">
                <a16:creationId xmlns:a16="http://schemas.microsoft.com/office/drawing/2014/main" id="{CCA29330-B18B-4E71-846C-F09F002E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首期以活动内容设计为主，配置制作与上线执行按工具、权限和人员逐步扩大。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Google Shape;179;p20">
            <a:extLst xmlns:a="http://schemas.openxmlformats.org/drawingml/2006/main">
              <a:ext uri="{FF2B5EF4-FFF2-40B4-BE49-F238E27FC236}">
                <a16:creationId xmlns:a16="http://schemas.microsoft.com/office/drawing/2014/main" id="{88DA330C-36E3-482E-ACEA-FB384805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80" name="Google Shape;180;p20">
            <a:extLst xmlns:a="http://schemas.openxmlformats.org/drawingml/2006/main">
              <a:ext uri="{FF2B5EF4-FFF2-40B4-BE49-F238E27FC236}">
                <a16:creationId xmlns:a16="http://schemas.microsoft.com/office/drawing/2014/main" id="{C3359B79-E256-4C22-99DB-A511A1B6129E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904750"/>
                <a:gridCol w="4419350"/>
                <a:gridCol w="4495675"/>
              </a:tblGrid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979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21">
            <a:extLst xmlns:a="http://schemas.openxmlformats.org/drawingml/2006/main">
              <a:ext uri="{FF2B5EF4-FFF2-40B4-BE49-F238E27FC236}">
                <a16:creationId xmlns:a16="http://schemas.microsoft.com/office/drawing/2014/main" id="{2E6D697D-0907-4175-BFF3-A37C585B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每期的交付清单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Google Shape;187;p21">
            <a:extLst xmlns:a="http://schemas.openxmlformats.org/drawingml/2006/main">
              <a:ext uri="{FF2B5EF4-FFF2-40B4-BE49-F238E27FC236}">
                <a16:creationId xmlns:a16="http://schemas.microsoft.com/office/drawing/2014/main" id="{9C24332A-8372-4CBC-9268-53A98E68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Google Shape;188;p21">
            <a:extLst xmlns:a="http://schemas.openxmlformats.org/drawingml/2006/main">
              <a:ext uri="{FF2B5EF4-FFF2-40B4-BE49-F238E27FC236}">
                <a16:creationId xmlns:a16="http://schemas.microsoft.com/office/drawing/2014/main" id="{8F9B0C9B-BCAE-4576-95D5-C318D3D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95560"/>
            <a:ext cx="4428720" cy="14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一套可以进入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制作评审的设计包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Google Shape;189;p21">
            <a:extLst xmlns:a="http://schemas.openxmlformats.org/drawingml/2006/main">
              <a:ext uri="{FF2B5EF4-FFF2-40B4-BE49-F238E27FC236}">
                <a16:creationId xmlns:a16="http://schemas.microsoft.com/office/drawing/2014/main" id="{F07D8A4B-F4C8-46C6-8A9E-8BFA821A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000680"/>
            <a:ext cx="4428720" cy="104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交付颗粒度与对方模板对齐。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新增系统能力单独提出需求。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21">
            <a:extLst xmlns:a="http://schemas.openxmlformats.org/drawingml/2006/main">
              <a:ext uri="{FF2B5EF4-FFF2-40B4-BE49-F238E27FC236}">
                <a16:creationId xmlns:a16="http://schemas.microsoft.com/office/drawing/2014/main" id="{20B9632A-8F5F-4120-8334-546464B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000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赛季总案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Google Shape;191;p21">
            <a:extLst xmlns:a="http://schemas.openxmlformats.org/drawingml/2006/main">
              <a:ext uri="{FF2B5EF4-FFF2-40B4-BE49-F238E27FC236}">
                <a16:creationId xmlns:a16="http://schemas.microsoft.com/office/drawing/2014/main" id="{09560FF0-D703-43D6-B84F-8FA7ECED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333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主题、目标玩家、章节关系和日历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Google Shape;192;p21">
            <a:extLst xmlns:a="http://schemas.openxmlformats.org/drawingml/2006/main">
              <a:ext uri="{FF2B5EF4-FFF2-40B4-BE49-F238E27FC236}">
                <a16:creationId xmlns:a16="http://schemas.microsoft.com/office/drawing/2014/main" id="{95FC3DEA-8F36-4208-BB30-4DAD9FC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6859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完整内容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Google Shape;193;p21">
            <a:extLst xmlns:a="http://schemas.openxmlformats.org/drawingml/2006/main">
              <a:ext uri="{FF2B5EF4-FFF2-40B4-BE49-F238E27FC236}">
                <a16:creationId xmlns:a16="http://schemas.microsoft.com/office/drawing/2014/main" id="{BEBF3C91-4403-46A2-9A3E-346ED29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0193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关卡、任务、奖励节点与获取方式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Google Shape;194;p21">
            <a:extLst xmlns:a="http://schemas.openxmlformats.org/drawingml/2006/main">
              <a:ext uri="{FF2B5EF4-FFF2-40B4-BE49-F238E27FC236}">
                <a16:creationId xmlns:a16="http://schemas.microsoft.com/office/drawing/2014/main" id="{601FC80C-20D1-41E1-BD85-031D6A5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3717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规则与数值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Google Shape;195;p21">
            <a:extLst xmlns:a="http://schemas.openxmlformats.org/drawingml/2006/main">
              <a:ext uri="{FF2B5EF4-FFF2-40B4-BE49-F238E27FC236}">
                <a16:creationId xmlns:a16="http://schemas.microsoft.com/office/drawing/2014/main" id="{58C22B1A-F7E0-4951-8C29-40500198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7051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产出、消耗、门槛与异常状态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Google Shape;196;p21">
            <a:extLst xmlns:a="http://schemas.openxmlformats.org/drawingml/2006/main">
              <a:ext uri="{FF2B5EF4-FFF2-40B4-BE49-F238E27FC236}">
                <a16:creationId xmlns:a16="http://schemas.microsoft.com/office/drawing/2014/main" id="{8FE6A939-8EBE-4571-9654-15301F09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0575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UI/UX材料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21">
            <a:extLst xmlns:a="http://schemas.openxmlformats.org/drawingml/2006/main">
              <a:ext uri="{FF2B5EF4-FFF2-40B4-BE49-F238E27FC236}">
                <a16:creationId xmlns:a16="http://schemas.microsoft.com/office/drawing/2014/main" id="{6B60597A-B77D-4ED4-A327-A512987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3909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流程、线框、交互原型和文案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Google Shape;198;p21">
            <a:extLst xmlns:a="http://schemas.openxmlformats.org/drawingml/2006/main">
              <a:ext uri="{FF2B5EF4-FFF2-40B4-BE49-F238E27FC236}">
                <a16:creationId xmlns:a16="http://schemas.microsoft.com/office/drawing/2014/main" id="{27CA5F3D-1927-4DC0-9EB8-BA84CF84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7433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Google Shape;199;p21">
            <a:extLst xmlns:a="http://schemas.openxmlformats.org/drawingml/2006/main">
              <a:ext uri="{FF2B5EF4-FFF2-40B4-BE49-F238E27FC236}">
                <a16:creationId xmlns:a16="http://schemas.microsoft.com/office/drawing/2014/main" id="{4865CB2C-D497-436F-9DE8-06B8C5F6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0767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素材清单、字段映射和开发需求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Google Shape;200;p21">
            <a:extLst xmlns:a="http://schemas.openxmlformats.org/drawingml/2006/main">
              <a:ext uri="{FF2B5EF4-FFF2-40B4-BE49-F238E27FC236}">
                <a16:creationId xmlns:a16="http://schemas.microsoft.com/office/drawing/2014/main" id="{9E8E3F49-B6D2-4123-B5D8-1B13554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429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运营材料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Google Shape;201;p21">
            <a:extLst xmlns:a="http://schemas.openxmlformats.org/drawingml/2006/main">
              <a:ext uri="{FF2B5EF4-FFF2-40B4-BE49-F238E27FC236}">
                <a16:creationId xmlns:a16="http://schemas.microsoft.com/office/drawing/2014/main" id="{8F50FEF6-6969-4242-821E-17D0F32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762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验收、埋点需求和复盘报告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1262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7" name="Google Shape;207;p22">
            <a:extLst xmlns:a="http://schemas.openxmlformats.org/drawingml/2006/main">
              <a:ext uri="{FF2B5EF4-FFF2-40B4-BE49-F238E27FC236}">
                <a16:creationId xmlns:a16="http://schemas.microsoft.com/office/drawing/2014/main" id="{A8F73440-49F0-4B68-AA11-825B84C42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54ed07ffb5489b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143750" y="1866900"/>
            <a:ext cx="4362450" cy="2676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8" name="Google Shape;208;p22">
            <a:extLst xmlns:a="http://schemas.openxmlformats.org/drawingml/2006/main">
              <a:ext uri="{FF2B5EF4-FFF2-40B4-BE49-F238E27FC236}">
                <a16:creationId xmlns:a16="http://schemas.microsoft.com/office/drawing/2014/main" id="{543700C0-EA1E-4299-8486-3CDF6A98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00"/>
            <a:ext cx="4762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基于以上总结尝试的设计案例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Google Shape;209;p22">
            <a:extLst xmlns:a="http://schemas.openxmlformats.org/drawingml/2006/main">
              <a:ext uri="{FF2B5EF4-FFF2-40B4-BE49-F238E27FC236}">
                <a16:creationId xmlns:a16="http://schemas.microsoft.com/office/drawing/2014/main" id="{23C5C218-FA2E-44F9-8807-BC39AF0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6190920" cy="144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Google Shape;210;p22">
            <a:extLst xmlns:a="http://schemas.openxmlformats.org/drawingml/2006/main">
              <a:ext uri="{FF2B5EF4-FFF2-40B4-BE49-F238E27FC236}">
                <a16:creationId xmlns:a16="http://schemas.microsoft.com/office/drawing/2014/main" id="{6DC99FF2-0D3E-433A-9F09-271318F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48120"/>
            <a:ext cx="6571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四个板块并行，福利与比赛各有目标。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Google Shape;211;p22">
            <a:extLst xmlns:a="http://schemas.openxmlformats.org/drawingml/2006/main">
              <a:ext uri="{FF2B5EF4-FFF2-40B4-BE49-F238E27FC236}">
                <a16:creationId xmlns:a16="http://schemas.microsoft.com/office/drawing/2014/main" id="{2768EE16-318D-4ABB-AA61-4DE80C44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772080"/>
            <a:ext cx="6190920" cy="215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    每日福利与日期限定礼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    比赛累计与红包成长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    猜球星、领卡与升级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        经典战役与球员升级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22">
            <a:extLst xmlns:a="http://schemas.openxmlformats.org/drawingml/2006/main">
              <a:ext uri="{FF2B5EF4-FFF2-40B4-BE49-F238E27FC236}">
                <a16:creationId xmlns:a16="http://schemas.microsoft.com/office/drawing/2014/main" id="{9D4619E8-5DBE-47EA-8398-A8E717A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6286680"/>
            <a:ext cx="10286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春节活动设计案例，界面与规则依据所提供策划案</a:t>
            </a:r>
            <a:endParaRPr sz="12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495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Google Shape;218;p23">
            <a:extLst xmlns:a="http://schemas.openxmlformats.org/drawingml/2006/main">
              <a:ext uri="{FF2B5EF4-FFF2-40B4-BE49-F238E27FC236}">
                <a16:creationId xmlns:a16="http://schemas.microsoft.com/office/drawing/2014/main" id="{B1D6A402-3202-4DC4-BFE3-B02A3F0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羊名立万：活动框架的应用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23">
            <a:extLst xmlns:a="http://schemas.openxmlformats.org/drawingml/2006/main">
              <a:ext uri="{FF2B5EF4-FFF2-40B4-BE49-F238E27FC236}">
                <a16:creationId xmlns:a16="http://schemas.microsoft.com/office/drawing/2014/main" id="{F3AC4B03-2CDF-48A3-B3BC-044231D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沿用主题、参与、推进与成长职能，四个板块分别组织玩家目标。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Google Shape;220;p23">
            <a:extLst xmlns:a="http://schemas.openxmlformats.org/drawingml/2006/main">
              <a:ext uri="{FF2B5EF4-FFF2-40B4-BE49-F238E27FC236}">
                <a16:creationId xmlns:a16="http://schemas.microsoft.com/office/drawing/2014/main" id="{C6108113-9D92-4B9F-9EA8-3094F93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1" name="Google Shape;221;p23">
            <a:extLst xmlns:a="http://schemas.openxmlformats.org/drawingml/2006/main">
              <a:ext uri="{FF2B5EF4-FFF2-40B4-BE49-F238E27FC236}">
                <a16:creationId xmlns:a16="http://schemas.microsoft.com/office/drawing/2014/main" id="{721FA12A-A44B-43A3-8D13-EF753AB1AA13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143150"/>
                <a:gridCol w="4419350"/>
                <a:gridCol w="3257275"/>
              </a:tblGrid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框架模块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春节方案的选择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主题与入口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四板块顶部导航，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各自保留进度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按兴趣切换，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不必依次完成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日常参与与推进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每日礼、比赛红包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与球星竞猜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当天领取福利，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持续完成累计目标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奖励与成长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领卡、参赛、升级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与群像点亮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获得球员后，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继续升级与收集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开放节奏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日期限定、人物加开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与战役分期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按节点回访，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补做范围分别明确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3">
            <a:extLst xmlns:a="http://schemas.openxmlformats.org/drawingml/2006/main">
              <a:ext uri="{FF2B5EF4-FFF2-40B4-BE49-F238E27FC236}">
                <a16:creationId xmlns:a16="http://schemas.microsoft.com/office/drawing/2014/main" id="{D2390BA3-0EDE-4F2C-9953-4A13004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同场比赛符合条件时，可同时推进红包累计与拜年任务。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0345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4C7256-17A9-42EC-8671-82A3BE5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新春见面礼：每天先领一份福利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C4A3B30-E875-4A84-8F59-8296003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每日登录礼与日期限定礼并行，除夕用不同版面突出节日节点。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7A4317-4EFC-46D3-8D76-3CD47640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C5DDF-5639-41D0-BB98-8B556B020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5761469a645d5"/>
          <a:stretch xmlns:a="http://schemas.openxmlformats.org/drawingml/2006/main"/>
        </p:blipFill>
        <p:spPr>
          <a:xfrm xmlns:a="http://schemas.openxmlformats.org/drawingml/2006/main">
            <a:off x="685800" y="2086729"/>
            <a:ext cx="6191250" cy="220829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E8F4D-C33F-4B45-9121-88B681947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5ad0cca5e406e"/>
          <a:stretch xmlns:a="http://schemas.openxmlformats.org/drawingml/2006/main"/>
        </p:blipFill>
        <p:spPr>
          <a:xfrm xmlns:a="http://schemas.openxmlformats.org/drawingml/2006/main">
            <a:off x="689326" y="4429125"/>
            <a:ext cx="6184198" cy="162877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5DF4D179-C9D8-4E3D-8B52-825456B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两类奖励分别领取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D301DA2D-0FE6-47B0-AEC7-B285C7D4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登录礼与日期限定礼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分别记录，不会互相代领。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E8030F21-FD98-4AE1-923D-3445541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当天资格当天使用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4A3A0E2C-0D9F-4591-B856-A51AA72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每日礼不累积。日期限定礼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只在对应日期领取。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BA98791D-E31F-4647-A62B-5690AAD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日期与状态清楚呈现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CC41C0A8-F44E-44AB-984B-A7FF7756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未来奖励可预览，过去未领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显示已过期，领取后留标记。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E84D49DC-B194-4729-8DA0-E7514C1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除夕保留特别版面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D3D9BAE7-1241-448A-8902-8D3AC26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普通日期并排展示，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除夕奖励卡分行排列。</a:t>
            </a:r>
          </a:p>
        </p:txBody>
      </p:sp>
    </p:spTree>
    <p:extLst>
      <p:ext uri="{BB962C8B-B14F-4D97-AF65-F5344CB8AC3E}">
        <p14:creationId xmlns:p14="http://schemas.microsoft.com/office/powerpoint/2010/main" val="17768087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0F9ECE-C0DD-427C-B4DF-52D0B9D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踢出开门红：比赛推进两类奖励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15B8524-EB56-4737-A7CE-9A128AD6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比赛攒红包，同一份累计同时用于卡牌奖励与红包成长。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632E36-B164-46D5-B5A8-0F39FA1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3AF6A-BA50-4031-B8A8-480A7EAF1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9d9669d924056"/>
          <a:stretch xmlns:a="http://schemas.openxmlformats.org/drawingml/2006/main"/>
        </p:blipFill>
        <p:spPr>
          <a:xfrm xmlns:a="http://schemas.openxmlformats.org/drawingml/2006/main">
            <a:off x="685800" y="2097188"/>
            <a:ext cx="6191250" cy="1663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54DCF-2DBF-4485-9836-1DAAA5405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fcc25a2a24e7b"/>
          <a:stretch xmlns:a="http://schemas.openxmlformats.org/drawingml/2006/main"/>
        </p:blipFill>
        <p:spPr>
          <a:xfrm xmlns:a="http://schemas.openxmlformats.org/drawingml/2006/main">
            <a:off x="689777" y="3886200"/>
            <a:ext cx="6183296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4A76B43D-47FA-4855-91D1-223B16D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比赛完成即可累计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D4366ABB-B793-4275-8B40-5BBD7B9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进攻对战、实时对战、经理人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模式均可参与，不要求获胜。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C5CAE450-EDC1-455F-A6C6-CE0832ED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各模式分别计算首场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1A4B92F9-6220-4595-9086-BD5C64BC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首场不再叠加常规场次收益。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每日资格刷新，累计保留。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1086BAD9-A271-43A7-87F2-08B73D2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领奖不扣累计进度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24749489-22B9-4422-B066-3EBD7CC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卡奖励达标后逐项主动领取。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红包成长沿用同一领奖入口。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C86D64A7-66C6-46FD-B0C8-1326481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满级与领完分别显示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0EF27D16-6F10-4A0A-B934-83FBC9B4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已解锁的成长奖励可一并补领。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满级不代表所有奖励已领。</a:t>
            </a:r>
          </a:p>
        </p:txBody>
      </p:sp>
    </p:spTree>
    <p:extLst>
      <p:ext uri="{BB962C8B-B14F-4D97-AF65-F5344CB8AC3E}">
        <p14:creationId xmlns:p14="http://schemas.microsoft.com/office/powerpoint/2010/main" val="17104201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FA14F-886C-48C5-9D9D-1B0488BB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拜年有名堂：从猜球星到升级收集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F2333D1-B590-42E0-830E-30A462FD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球衣与故事提供线索，个人任务完成后回到群像点亮人物。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90FA30-0A34-4DD8-A903-F20D9304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0F6A1-7CED-429E-A0DD-4DA95CE7D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2614d93f54934"/>
          <a:stretch xmlns:a="http://schemas.openxmlformats.org/drawingml/2006/main"/>
        </p:blipFill>
        <p:spPr>
          <a:xfrm xmlns:a="http://schemas.openxmlformats.org/drawingml/2006/main">
            <a:off x="685800" y="2097224"/>
            <a:ext cx="6191250" cy="168247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CE4AA-CF61-40FD-BC53-667E299B19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27dfa86f44159"/>
          <a:stretch xmlns:a="http://schemas.openxmlformats.org/drawingml/2006/main"/>
        </p:blipFill>
        <p:spPr>
          <a:xfrm xmlns:a="http://schemas.openxmlformats.org/drawingml/2006/main">
            <a:off x="685800" y="4222750"/>
            <a:ext cx="6191250" cy="1031875"/>
          </a:xfrm>
          <a:prstGeom xmlns:a="http://schemas.openxmlformats.org/drawingml/2006/main" prst="rect">
            <a:avLst/>
          </a:prstGeom>
        </p:spPr>
      </p:pic>
      <p:sp>
        <p:nvSpPr>
          <p:cNvPr id="6" name="state-detail">
            <a:extLst xmlns:a="http://schemas.openxmlformats.org/drawingml/2006/main">
              <a:ext uri="{FF2B5EF4-FFF2-40B4-BE49-F238E27FC236}">
                <a16:creationId xmlns:a16="http://schemas.microsoft.com/office/drawing/2014/main" id="{5FB96B8A-3335-407B-950F-87F3A9B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617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群像同时承担人物入口与收集进度展示</a:t>
            </a:r>
          </a:p>
        </p:txBody>
      </p:sp>
      <p:sp>
        <p:nvSpPr>
          <p:cNvPr id="7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CBD4CA32-92CF-4956-81E0-DD46512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猜中后主动领卡</a:t>
            </a:r>
          </a:p>
        </p:txBody>
      </p:sp>
      <p:sp>
        <p:nvSpPr>
          <p:cNvPr id="8" name="rule-body-0">
            <a:extLst xmlns:a="http://schemas.openxmlformats.org/drawingml/2006/main">
              <a:ext uri="{FF2B5EF4-FFF2-40B4-BE49-F238E27FC236}">
                <a16:creationId xmlns:a16="http://schemas.microsoft.com/office/drawing/2014/main" id="{31E2015F-8AA4-4EFC-80BD-54F3159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答错可立即重选。先领取球员，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再完成对应参赛任务。</a:t>
            </a:r>
          </a:p>
        </p:txBody>
      </p:sp>
      <p:sp>
        <p:nvSpPr>
          <p:cNvPr id="9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89FC201B-B6CE-45B8-9A95-E0482956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参赛后兑换个人升级</a:t>
            </a:r>
          </a:p>
        </p:txBody>
      </p:sp>
      <p:sp>
        <p:nvSpPr>
          <p:cNvPr id="10" name="rule-body-1">
            <a:extLst xmlns:a="http://schemas.openxmlformats.org/drawingml/2006/main">
              <a:ext uri="{FF2B5EF4-FFF2-40B4-BE49-F238E27FC236}">
                <a16:creationId xmlns:a16="http://schemas.microsoft.com/office/drawing/2014/main" id="{1F1A8E8D-5911-45F6-AC06-4F0D2A42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不要求首发、获胜或进球。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同场可满足多名已领球员任务。</a:t>
            </a:r>
          </a:p>
        </p:txBody>
      </p:sp>
      <p:sp>
        <p:nvSpPr>
          <p:cNvPr id="11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08820BC9-85FD-46D7-9E71-3B4DF7F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兑换后回总览点亮</a:t>
            </a:r>
          </a:p>
        </p:txBody>
      </p:sp>
      <p:sp>
        <p:nvSpPr>
          <p:cNvPr id="12" name="rule-body-2">
            <a:extLst xmlns:a="http://schemas.openxmlformats.org/drawingml/2006/main">
              <a:ext uri="{FF2B5EF4-FFF2-40B4-BE49-F238E27FC236}">
                <a16:creationId xmlns:a16="http://schemas.microsoft.com/office/drawing/2014/main" id="{FD847C62-F295-4DC0-9CED-303CFA0D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每名人物只计入一次。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个人升级与点亮分别记录。</a:t>
            </a:r>
          </a:p>
        </p:txBody>
      </p:sp>
      <p:sp>
        <p:nvSpPr>
          <p:cNvPr id="13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9C456E3F-2663-4C9A-B66B-E38EE2D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点亮累计换自选升级</a:t>
            </a:r>
          </a:p>
        </p:txBody>
      </p:sp>
      <p:sp>
        <p:nvSpPr>
          <p:cNvPr id="14" name="rule-body-3">
            <a:extLst xmlns:a="http://schemas.openxmlformats.org/drawingml/2006/main">
              <a:ext uri="{FF2B5EF4-FFF2-40B4-BE49-F238E27FC236}">
                <a16:creationId xmlns:a16="http://schemas.microsoft.com/office/drawing/2014/main" id="{FAE1F5B5-4AB0-4CD9-81DF-A12F785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从已兑换个人升级的球员中选。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确认才消耗机会，不扣点亮数。</a:t>
            </a:r>
          </a:p>
        </p:txBody>
      </p:sp>
    </p:spTree>
    <p:extLst>
      <p:ext uri="{BB962C8B-B14F-4D97-AF65-F5344CB8AC3E}">
        <p14:creationId xmlns:p14="http://schemas.microsoft.com/office/powerpoint/2010/main" val="11087975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CBA4B0-C4C0-45D4-8310-C22AB3E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三羊开泰：三位球星的经典战役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450664C-380F-48AF-9679-A5E448B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贝利、马拉多纳与梅西三条路线并列，用故事连接比赛挑战。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06A396-A90E-4A74-8E43-541D86F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903A7-98BB-4643-BCDC-73310C5AF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94914e74a424f"/>
          <a:stretch xmlns:a="http://schemas.openxmlformats.org/drawingml/2006/main"/>
        </p:blipFill>
        <p:spPr>
          <a:xfrm xmlns:a="http://schemas.openxmlformats.org/drawingml/2006/main">
            <a:off x="688271" y="2095500"/>
            <a:ext cx="6186309" cy="18383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2C4C8-489B-4595-B638-BC729A7DD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86be1bb9c4f11"/>
          <a:stretch xmlns:a="http://schemas.openxmlformats.org/drawingml/2006/main"/>
        </p:blipFill>
        <p:spPr>
          <a:xfrm xmlns:a="http://schemas.openxmlformats.org/drawingml/2006/main">
            <a:off x="685800" y="4049673"/>
            <a:ext cx="6191250" cy="205430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4B688449-D924-4080-B8DA-24AFA26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免费与付费入口分开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6E1848EC-CAC1-4611-973F-DCD18E8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贝利、马拉多纳免费领取。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梅西以 FC 币购买，购买前确认。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16B13885-2F3A-4F3A-A7FF-46DA9B31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获取、获胜、兑换分开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7B19CF0C-7F94-4505-BABE-19DE24B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获取球员不代替挑战。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获胜后仍需主动兑换升级。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554FE00D-0B07-4D46-9FEB-A1B563A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三条路线同步分期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FB7D7954-46EC-4317-A586-7ABF933C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进入新阶段后，保留此前的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挑战和兑换记录，不设共同终奖。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92F1D4B0-61E6-4D20-8C9E-1C2E89F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正式参与条件另行确认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036A79A5-0D17-4427-BE44-86D8A217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起止、阶段数、持卡与前阶段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要求待定，原型顺序仅作演示。</a:t>
            </a:r>
          </a:p>
        </p:txBody>
      </p:sp>
    </p:spTree>
    <p:extLst>
      <p:ext uri="{BB962C8B-B14F-4D97-AF65-F5344CB8AC3E}">
        <p14:creationId xmlns:p14="http://schemas.microsoft.com/office/powerpoint/2010/main" val="14728030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Google Shape;228;p24">
            <a:extLst xmlns:a="http://schemas.openxmlformats.org/drawingml/2006/main">
              <a:ext uri="{FF2B5EF4-FFF2-40B4-BE49-F238E27FC236}">
                <a16:creationId xmlns:a16="http://schemas.microsoft.com/office/drawing/2014/main" id="{7C29331D-FB53-4A52-A90E-16FC8416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春节活动的开放节奏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oogle Shape;229;p24">
            <a:extLst xmlns:a="http://schemas.openxmlformats.org/drawingml/2006/main">
              <a:ext uri="{FF2B5EF4-FFF2-40B4-BE49-F238E27FC236}">
                <a16:creationId xmlns:a16="http://schemas.microsoft.com/office/drawing/2014/main" id="{E158B211-BB63-46A2-AF6E-1B18614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日期福利带来每日回访，人物与战役按各自节奏持续开放。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p24">
            <a:extLst xmlns:a="http://schemas.openxmlformats.org/drawingml/2006/main">
              <a:ext uri="{FF2B5EF4-FFF2-40B4-BE49-F238E27FC236}">
                <a16:creationId xmlns:a16="http://schemas.microsoft.com/office/drawing/2014/main" id="{77E90399-BAA4-4227-BAAA-196D730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1" name="Google Shape;231;p24">
            <a:extLst xmlns:a="http://schemas.openxmlformats.org/drawingml/2006/main">
              <a:ext uri="{FF2B5EF4-FFF2-40B4-BE49-F238E27FC236}">
                <a16:creationId xmlns:a16="http://schemas.microsoft.com/office/drawing/2014/main" id="{714D68E1-AAA7-4DFB-B02C-869CE6DDDDBE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438450"/>
                <a:gridCol w="4286150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开放安排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回访与补做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新春见面礼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腊月廿四至正月十四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每天新礼，当天领取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错过不可补领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踢出开门红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除夕至正月十四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每日资格刷新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累计进度与领奖记录保留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拜年有名堂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初一开放两位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此后每两天加一位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十三全部开放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已开任务可补做到十四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三羊开泰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三条路线按相同阶段推进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正式起止日期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与阶段数量待确认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24">
            <a:extLst xmlns:a="http://schemas.openxmlformats.org/drawingml/2006/main">
              <a:ext uri="{FF2B5EF4-FFF2-40B4-BE49-F238E27FC236}">
                <a16:creationId xmlns:a16="http://schemas.microsoft.com/office/drawing/2014/main" id="{DD25AF7C-ECDD-4B1C-A73E-7552047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按策划案的农历演示日期说明。正式开放、每日刷新与结束时刻另行确认。</a:t>
            </a:r>
            <a:endParaRPr sz="15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78558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p26">
            <a:extLst xmlns:a="http://schemas.openxmlformats.org/drawingml/2006/main">
              <a:ext uri="{FF2B5EF4-FFF2-40B4-BE49-F238E27FC236}">
                <a16:creationId xmlns:a16="http://schemas.microsoft.com/office/drawing/2014/main" id="{D56DB393-6401-42E8-B29E-28B7A880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附录：公开资料索引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Google Shape;249;p26">
            <a:extLst xmlns:a="http://schemas.openxmlformats.org/drawingml/2006/main">
              <a:ext uri="{FF2B5EF4-FFF2-40B4-BE49-F238E27FC236}">
                <a16:creationId xmlns:a16="http://schemas.microsoft.com/office/drawing/2014/main" id="{4175E711-CC1C-4A9C-9F7F-1E7FA26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历史样本来自国服官方发布，春节案例与界面另据所提供策划案。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Google Shape;250;p26">
            <a:extLst xmlns:a="http://schemas.openxmlformats.org/drawingml/2006/main">
              <a:ext uri="{FF2B5EF4-FFF2-40B4-BE49-F238E27FC236}">
                <a16:creationId xmlns:a16="http://schemas.microsoft.com/office/drawing/2014/main" id="{1DC20DFB-41F7-4289-BC11-1DACA2A5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Google Shape;251;p26">
            <a:extLst xmlns:a="http://schemas.openxmlformats.org/drawingml/2006/main">
              <a:ext uri="{FF2B5EF4-FFF2-40B4-BE49-F238E27FC236}">
                <a16:creationId xmlns:a16="http://schemas.microsoft.com/office/drawing/2014/main" id="{4769AA54-9844-4103-99AA-FD6EEE4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7648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[A] 年度最佳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Google Shape;252;p26">
            <a:extLst xmlns:a="http://schemas.openxmlformats.org/drawingml/2006/main">
              <a:ext uri="{FF2B5EF4-FFF2-40B4-BE49-F238E27FC236}">
                <a16:creationId xmlns:a16="http://schemas.microsoft.com/office/drawing/2014/main" id="{95344A64-9EF9-4706-82C2-E503FF3A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11464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EA SPORTS，2025.01.26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Google Shape;253;p26">
            <a:extLst xmlns:a="http://schemas.openxmlformats.org/drawingml/2006/main">
              <a:ext uri="{FF2B5EF4-FFF2-40B4-BE49-F238E27FC236}">
                <a16:creationId xmlns:a16="http://schemas.microsoft.com/office/drawing/2014/main" id="{CD41D95D-1726-4A4D-B1E5-FE8139B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51460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https://www.weibo.com/ttarticle/p/show?id=2309405127089513955762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Google Shape;254;p26">
            <a:extLst xmlns:a="http://schemas.openxmlformats.org/drawingml/2006/main">
              <a:ext uri="{FF2B5EF4-FFF2-40B4-BE49-F238E27FC236}">
                <a16:creationId xmlns:a16="http://schemas.microsoft.com/office/drawing/2014/main" id="{5B9F987B-75D9-4A87-A6AE-2E01D532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[B] 马上过足瘾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Google Shape;255;p26">
            <a:extLst xmlns:a="http://schemas.openxmlformats.org/drawingml/2006/main">
              <a:ext uri="{FF2B5EF4-FFF2-40B4-BE49-F238E27FC236}">
                <a16:creationId xmlns:a16="http://schemas.microsoft.com/office/drawing/2014/main" id="{F0EF3C4C-CCBE-4C6E-A2E7-257EC72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30574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FC足球世界，2026.02.12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Google Shape;256;p26">
            <a:extLst xmlns:a="http://schemas.openxmlformats.org/drawingml/2006/main">
              <a:ext uri="{FF2B5EF4-FFF2-40B4-BE49-F238E27FC236}">
                <a16:creationId xmlns:a16="http://schemas.microsoft.com/office/drawing/2014/main" id="{7F6E36BA-805F-42BC-9A42-906225D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4574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https://www.taptap.cn/moment/771064711469861731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Google Shape;257;p26">
            <a:extLst xmlns:a="http://schemas.openxmlformats.org/drawingml/2006/main">
              <a:ext uri="{FF2B5EF4-FFF2-40B4-BE49-F238E27FC236}">
                <a16:creationId xmlns:a16="http://schemas.microsoft.com/office/drawing/2014/main" id="{97337528-11B7-4FB5-9AC2-2D791C9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625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[C] 欧洲杯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Google Shape;258;p26">
            <a:extLst xmlns:a="http://schemas.openxmlformats.org/drawingml/2006/main">
              <a:ext uri="{FF2B5EF4-FFF2-40B4-BE49-F238E27FC236}">
                <a16:creationId xmlns:a16="http://schemas.microsoft.com/office/drawing/2014/main" id="{00988864-B081-4E60-BD39-0BCF0A6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0006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FC足球世界，2024.06.13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Google Shape;259;p26">
            <a:extLst xmlns:a="http://schemas.openxmlformats.org/drawingml/2006/main">
              <a:ext uri="{FF2B5EF4-FFF2-40B4-BE49-F238E27FC236}">
                <a16:creationId xmlns:a16="http://schemas.microsoft.com/office/drawing/2014/main" id="{F39AF942-FB9A-4541-98CB-BEADE05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4006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https://www.taptap.cn/moment/550263876587881597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Google Shape;260;p26">
            <a:extLst xmlns:a="http://schemas.openxmlformats.org/drawingml/2006/main">
              <a:ext uri="{FF2B5EF4-FFF2-40B4-BE49-F238E27FC236}">
                <a16:creationId xmlns:a16="http://schemas.microsoft.com/office/drawing/2014/main" id="{9B3028C6-7AA6-464B-A62C-5D90519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90536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[D] 欧冠荣耀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Google Shape;261;p26">
            <a:extLst xmlns:a="http://schemas.openxmlformats.org/drawingml/2006/main">
              <a:ext uri="{FF2B5EF4-FFF2-40B4-BE49-F238E27FC236}">
                <a16:creationId xmlns:a16="http://schemas.microsoft.com/office/drawing/2014/main" id="{A29582B9-73A7-40C3-BD42-9C2B64B0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94352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FC足球世界，2026.04.15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Google Shape;262;p26">
            <a:extLst xmlns:a="http://schemas.openxmlformats.org/drawingml/2006/main">
              <a:ext uri="{FF2B5EF4-FFF2-40B4-BE49-F238E27FC236}">
                <a16:creationId xmlns:a16="http://schemas.microsoft.com/office/drawing/2014/main" id="{4CC5CFDC-E556-492B-A04F-A8CAE982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34348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https://www.taptap.cn/moment/793578209911245431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8434520"/>
      </p:ext>
    </p:extLst>
  </p:cSld>
</p:sld>
</file>

<file path=ppt/slides/slide2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" name="Google Shape;268;p27">
            <a:extLst xmlns:a="http://schemas.openxmlformats.org/drawingml/2006/main">
              <a:ext uri="{FF2B5EF4-FFF2-40B4-BE49-F238E27FC236}">
                <a16:creationId xmlns:a16="http://schemas.microsoft.com/office/drawing/2014/main" id="{012D8C0F-88CE-4ED4-98A5-0F47A45D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持续内容交付流程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27">
            <a:extLst xmlns:a="http://schemas.openxmlformats.org/drawingml/2006/main">
              <a:ext uri="{FF2B5EF4-FFF2-40B4-BE49-F238E27FC236}">
                <a16:creationId xmlns:a16="http://schemas.microsoft.com/office/drawing/2014/main" id="{11ABE5A5-605F-4D2D-88A7-96CFC20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每个阶段保留确认人和验收项，新增系统能力单独评估排期。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27">
            <a:extLst xmlns:a="http://schemas.openxmlformats.org/drawingml/2006/main">
              <a:ext uri="{FF2B5EF4-FFF2-40B4-BE49-F238E27FC236}">
                <a16:creationId xmlns:a16="http://schemas.microsoft.com/office/drawing/2014/main" id="{4428CC3A-3DBF-4094-AC9C-2DF3455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Google Shape;271;p27">
            <a:extLst xmlns:a="http://schemas.openxmlformats.org/drawingml/2006/main">
              <a:ext uri="{FF2B5EF4-FFF2-40B4-BE49-F238E27FC236}">
                <a16:creationId xmlns:a16="http://schemas.microsoft.com/office/drawing/2014/main" id="{AD4B427B-E6F9-4997-97EC-A08B150A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Google Shape;272;p27">
            <a:extLst xmlns:a="http://schemas.openxmlformats.org/drawingml/2006/main">
              <a:ext uri="{FF2B5EF4-FFF2-40B4-BE49-F238E27FC236}">
                <a16:creationId xmlns:a16="http://schemas.microsoft.com/office/drawing/2014/main" id="{C0539C07-EA7C-461F-AEDD-C14E48EA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需求对齐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27">
            <a:extLst xmlns:a="http://schemas.openxmlformats.org/drawingml/2006/main">
              <a:ext uri="{FF2B5EF4-FFF2-40B4-BE49-F238E27FC236}">
                <a16:creationId xmlns:a16="http://schemas.microsoft.com/office/drawing/2014/main" id="{6A8BFEC5-6204-4A88-9CB1-30C9469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档期、主题和目标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球员池与奖励边界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现有活动系统能力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Google Shape;274;p27">
            <a:extLst xmlns:a="http://schemas.openxmlformats.org/drawingml/2006/main">
              <a:ext uri="{FF2B5EF4-FFF2-40B4-BE49-F238E27FC236}">
                <a16:creationId xmlns:a16="http://schemas.microsoft.com/office/drawing/2014/main" id="{952801EF-F580-41C7-9D12-FCBB9815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27">
            <a:extLst xmlns:a="http://schemas.openxmlformats.org/drawingml/2006/main">
              <a:ext uri="{FF2B5EF4-FFF2-40B4-BE49-F238E27FC236}">
                <a16:creationId xmlns:a16="http://schemas.microsoft.com/office/drawing/2014/main" id="{08A43633-9074-4263-9B94-81DA2CF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设计锁定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Google Shape;276;p27">
            <a:extLst xmlns:a="http://schemas.openxmlformats.org/drawingml/2006/main">
              <a:ext uri="{FF2B5EF4-FFF2-40B4-BE49-F238E27FC236}">
                <a16:creationId xmlns:a16="http://schemas.microsoft.com/office/drawing/2014/main" id="{B049BCD2-A58A-4F94-843B-4F1CC7D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章节和核心玩法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任务、规则与奖励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原型和制作依赖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27">
            <a:extLst xmlns:a="http://schemas.openxmlformats.org/drawingml/2006/main">
              <a:ext uri="{FF2B5EF4-FFF2-40B4-BE49-F238E27FC236}">
                <a16:creationId xmlns:a16="http://schemas.microsoft.com/office/drawing/2014/main" id="{3794762D-67BB-4B2A-A345-4E2114C6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Google Shape;278;p27">
            <a:extLst xmlns:a="http://schemas.openxmlformats.org/drawingml/2006/main">
              <a:ext uri="{FF2B5EF4-FFF2-40B4-BE49-F238E27FC236}">
                <a16:creationId xmlns:a16="http://schemas.microsoft.com/office/drawing/2014/main" id="{7720314D-AF78-4722-8F74-86D2A42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制作联调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Google Shape;279;p27">
            <a:extLst xmlns:a="http://schemas.openxmlformats.org/drawingml/2006/main">
              <a:ext uri="{FF2B5EF4-FFF2-40B4-BE49-F238E27FC236}">
                <a16:creationId xmlns:a16="http://schemas.microsoft.com/office/drawing/2014/main" id="{52A5ED9C-837D-487D-983E-25A4D4F2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字段与配置交付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客户端和美术接入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完整路径与异常验收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Google Shape;280;p27">
            <a:extLst xmlns:a="http://schemas.openxmlformats.org/drawingml/2006/main">
              <a:ext uri="{FF2B5EF4-FFF2-40B4-BE49-F238E27FC236}">
                <a16:creationId xmlns:a16="http://schemas.microsoft.com/office/drawing/2014/main" id="{7DD811D4-4F6F-4E94-B9B1-0242DD23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27">
            <a:extLst xmlns:a="http://schemas.openxmlformats.org/drawingml/2006/main">
              <a:ext uri="{FF2B5EF4-FFF2-40B4-BE49-F238E27FC236}">
                <a16:creationId xmlns:a16="http://schemas.microsoft.com/office/drawing/2014/main" id="{C7EE0D55-1772-4E81-8955-2186D97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上线复盘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Google Shape;282;p27">
            <a:extLst xmlns:a="http://schemas.openxmlformats.org/drawingml/2006/main">
              <a:ext uri="{FF2B5EF4-FFF2-40B4-BE49-F238E27FC236}">
                <a16:creationId xmlns:a16="http://schemas.microsoft.com/office/drawing/2014/main" id="{D3892C07-DF35-4282-B4A4-881AB605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内容开放跟进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参与与达成数据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后续调整和下一期建议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952123"/>
      </p:ext>
    </p:extLst>
  </p:cSld>
</p:sld>
</file>

<file path=ppt/slides/slide2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Google Shape;288;p28">
            <a:extLst xmlns:a="http://schemas.openxmlformats.org/drawingml/2006/main">
              <a:ext uri="{FF2B5EF4-FFF2-40B4-BE49-F238E27FC236}">
                <a16:creationId xmlns:a16="http://schemas.microsoft.com/office/drawing/2014/main" id="{56BDD87E-503C-4385-84C2-1FE1BDAA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效果评估与交付验收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Google Shape;289;p28">
            <a:extLst xmlns:a="http://schemas.openxmlformats.org/drawingml/2006/main">
              <a:ext uri="{FF2B5EF4-FFF2-40B4-BE49-F238E27FC236}">
                <a16:creationId xmlns:a16="http://schemas.microsoft.com/office/drawing/2014/main" id="{0B180642-44F2-4A5E-B6ED-B02AFBD8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玩家结果与交付质量分开记录，目标值在试点前基于历史数据共同确定。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Google Shape;290;p28">
            <a:extLst xmlns:a="http://schemas.openxmlformats.org/drawingml/2006/main">
              <a:ext uri="{FF2B5EF4-FFF2-40B4-BE49-F238E27FC236}">
                <a16:creationId xmlns:a16="http://schemas.microsoft.com/office/drawing/2014/main" id="{A3295136-B64C-4E0E-BF14-EE14A315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91" name="Google Shape;291;p28">
            <a:extLst xmlns:a="http://schemas.openxmlformats.org/drawingml/2006/main">
              <a:ext uri="{FF2B5EF4-FFF2-40B4-BE49-F238E27FC236}">
                <a16:creationId xmlns:a16="http://schemas.microsoft.com/office/drawing/2014/main" id="{4BCF8C73-14CD-40F5-8214-7D42F9A8AA33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362125"/>
                <a:gridCol w="4362125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观察内容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解释与比较口径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活动参与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入口、章节参与与回访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与历史同类活动比较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奖励体验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达成率、耗时与资源积累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按玩家类型分层观察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商业表现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付费参与与奖励经济影响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结合球员强度和投放解释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交付质量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按期完成、返工与上线问题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按双方约定的标准记录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8">
            <a:extLst xmlns:a="http://schemas.openxmlformats.org/drawingml/2006/main">
              <a:ext uri="{FF2B5EF4-FFF2-40B4-BE49-F238E27FC236}">
                <a16:creationId xmlns:a16="http://schemas.microsoft.com/office/drawing/2014/main" id="{9FEE4C4C-B57B-45E5-A74D-DB076F41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当前没有真实运营数据，不预先承诺留存或收入提升幅度。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4440103"/>
      </p:ext>
    </p:extLst>
  </p:cSld>
</p:sld>
</file>

<file path=ppt/slides/slide2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Google Shape;298;p29">
            <a:extLst xmlns:a="http://schemas.openxmlformats.org/drawingml/2006/main">
              <a:ext uri="{FF2B5EF4-FFF2-40B4-BE49-F238E27FC236}">
                <a16:creationId xmlns:a16="http://schemas.microsoft.com/office/drawing/2014/main" id="{0C7EB00C-1592-48DB-86A9-CC52E5ED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先完成一期试点，再扩大持续合作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Google Shape;299;p29">
            <a:extLst xmlns:a="http://schemas.openxmlformats.org/drawingml/2006/main">
              <a:ext uri="{FF2B5EF4-FFF2-40B4-BE49-F238E27FC236}">
                <a16:creationId xmlns:a16="http://schemas.microsoft.com/office/drawing/2014/main" id="{98600833-E6A6-4D79-96FC-4F159D19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选择双方认可的主题，在现有活动能力支持的范围内完成设计与接入验证。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Google Shape;300;p29">
            <a:extLst xmlns:a="http://schemas.openxmlformats.org/drawingml/2006/main">
              <a:ext uri="{FF2B5EF4-FFF2-40B4-BE49-F238E27FC236}">
                <a16:creationId xmlns:a16="http://schemas.microsoft.com/office/drawing/2014/main" id="{9408CA7F-DD33-4E34-BD7C-1239399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Google Shape;301;p29">
            <a:extLst xmlns:a="http://schemas.openxmlformats.org/drawingml/2006/main">
              <a:ext uri="{FF2B5EF4-FFF2-40B4-BE49-F238E27FC236}">
                <a16:creationId xmlns:a16="http://schemas.microsoft.com/office/drawing/2014/main" id="{2695CC42-DF7B-48E5-9799-6B281645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制作前：设计验收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p29">
            <a:extLst xmlns:a="http://schemas.openxmlformats.org/drawingml/2006/main">
              <a:ext uri="{FF2B5EF4-FFF2-40B4-BE49-F238E27FC236}">
                <a16:creationId xmlns:a16="http://schemas.microsoft.com/office/drawing/2014/main" id="{BEB1E8BB-1C17-4594-A2B2-8B380905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主题与玩法符合活动简报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规则、配置和界面状态完整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制作依赖与排期明确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6EB66861-0118-49DF-B45A-922F9F6B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上线后：运行验证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96982969-7355-44D3-A511-3B0DE0E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8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关键流程与奖励发放正常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内容按约定节奏开放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数据口径与复盘建议可交付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EF63AFD9-6B66-4FFD-A96D-B6B7AD31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762520"/>
            <a:ext cx="1066752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试点档期与春节开放日历对齐，项目工期另含准备、接入与复盘。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581265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3F5F7664-1DFA-4CAD-AE2F-80F7D4E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下一步：确定一期试点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E9BC0C64-B3E8-4AD3-89F1-6F21B8F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Google Shape;313;p30">
            <a:extLst xmlns:a="http://schemas.openxmlformats.org/drawingml/2006/main">
              <a:ext uri="{FF2B5EF4-FFF2-40B4-BE49-F238E27FC236}">
                <a16:creationId xmlns:a16="http://schemas.microsoft.com/office/drawing/2014/main" id="{53B80F5B-8F0C-4885-A04A-16A43FD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1905120"/>
            <a:ext cx="10000800" cy="142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一次需求对齐，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确认合作的起点。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Google Shape;314;p30">
            <a:extLst xmlns:a="http://schemas.openxmlformats.org/drawingml/2006/main">
              <a:ext uri="{FF2B5EF4-FFF2-40B4-BE49-F238E27FC236}">
                <a16:creationId xmlns:a16="http://schemas.microsoft.com/office/drawing/2014/main" id="{6964AD78-BCB5-4C44-A4C5-27263F2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895560"/>
            <a:ext cx="10286640" cy="106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试点主题     可用活动系统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奖励边界     验收口径与负责人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Google Shape;315;p30">
            <a:extLst xmlns:a="http://schemas.openxmlformats.org/drawingml/2006/main">
              <a:ext uri="{FF2B5EF4-FFF2-40B4-BE49-F238E27FC236}">
                <a16:creationId xmlns:a16="http://schemas.microsoft.com/office/drawing/2014/main" id="{E0DE1CC4-02C4-4DA8-A364-04D8A76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400720"/>
            <a:ext cx="1047708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试点范围、排期与费用在需求确认后约定。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Google Shape;316;p30">
            <a:extLst xmlns:a="http://schemas.openxmlformats.org/drawingml/2006/main">
              <a:ext uri="{FF2B5EF4-FFF2-40B4-BE49-F238E27FC236}">
                <a16:creationId xmlns:a16="http://schemas.microsoft.com/office/drawing/2014/main" id="{1A79C7E7-3ACE-4BEE-A6EE-F7BB281C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6019920"/>
            <a:ext cx="1047708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提交前补充：团队履历、岗位配置与实际产能样表。</a:t>
            </a: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3811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2026-10-19T02:22:02.8640000Z</dcterms:created>
  <dcterms:modified xsi:type="dcterms:W3CDTF">2026-10-19T02:22:02.8640000Z</dcterms:modified>
</coreProperties>
</file>