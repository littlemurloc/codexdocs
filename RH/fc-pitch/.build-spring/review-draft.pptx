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9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2a7e64e47445ca" /><Relationship Type="http://schemas.openxmlformats.org/officeDocument/2006/relationships/extended-properties" Target="/docProps/app.xml" Id="Re59a41dfa2d14c92" /><Relationship Type="http://schemas.openxmlformats.org/officeDocument/2006/relationships/officeDocument" Target="/ppt/presentation.xml" Id="Red80d456176f42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e074ceb1be4aec"/>
    <p:sldMasterId xmlns:r="http://schemas.openxmlformats.org/officeDocument/2006/relationships" id="2147483651" r:id="Rb5fa1f3936ad4562"/>
    <p:sldMasterId xmlns:r="http://schemas.openxmlformats.org/officeDocument/2006/relationships" id="2147483653" r:id="R4836039539b743e5"/>
    <p:sldMasterId xmlns:r="http://schemas.openxmlformats.org/officeDocument/2006/relationships" id="2147483654" r:id="R71311d321dd04274"/>
    <p:sldMasterId xmlns:r="http://schemas.openxmlformats.org/officeDocument/2006/relationships" id="2147483655" r:id="R34c9bf1fa23c481b"/>
    <p:sldMasterId xmlns:r="http://schemas.openxmlformats.org/officeDocument/2006/relationships" id="2147483656" r:id="R475354a04885482d"/>
    <p:sldMasterId xmlns:r="http://schemas.openxmlformats.org/officeDocument/2006/relationships" id="2147483657" r:id="Rdf836fa9fe664fb8"/>
  </p:sldMasterIdLst>
  <p:notesMasterIdLst>
    <p:notesMasterId xmlns:r="http://schemas.openxmlformats.org/officeDocument/2006/relationships" r:id="R190b0a00b8c44971"/>
  </p:notesMasterIdLst>
  <p:sldIdLst>
    <p:sldId xmlns:r="http://schemas.openxmlformats.org/officeDocument/2006/relationships" id="256" r:id="Rce24e0657bed4fd9"/>
    <p:sldId xmlns:r="http://schemas.openxmlformats.org/officeDocument/2006/relationships" id="257" r:id="R712fddabfbbd4afd"/>
    <p:sldId xmlns:r="http://schemas.openxmlformats.org/officeDocument/2006/relationships" id="258" r:id="R419b0ba99efb488e"/>
    <p:sldId xmlns:r="http://schemas.openxmlformats.org/officeDocument/2006/relationships" id="259" r:id="R0a0b29abb88a4318"/>
    <p:sldId xmlns:r="http://schemas.openxmlformats.org/officeDocument/2006/relationships" id="260" r:id="R0bc3ccd9f0cb4b7f"/>
    <p:sldId xmlns:r="http://schemas.openxmlformats.org/officeDocument/2006/relationships" id="261" r:id="R9958f9b8bdab4f5e"/>
    <p:sldId xmlns:r="http://schemas.openxmlformats.org/officeDocument/2006/relationships" id="262" r:id="Ra9256e8ff20343ac"/>
    <p:sldId xmlns:r="http://schemas.openxmlformats.org/officeDocument/2006/relationships" id="263" r:id="Rb0b5e3ca79504f62"/>
    <p:sldId xmlns:r="http://schemas.openxmlformats.org/officeDocument/2006/relationships" id="264" r:id="Rfc14bfa273d04b22"/>
    <p:sldId xmlns:r="http://schemas.openxmlformats.org/officeDocument/2006/relationships" id="265" r:id="R12140f55462e46ed"/>
    <p:sldId xmlns:r="http://schemas.openxmlformats.org/officeDocument/2006/relationships" id="266" r:id="R9575312dc82a4a21"/>
    <p:sldId xmlns:r="http://schemas.openxmlformats.org/officeDocument/2006/relationships" id="267" r:id="R3e23d9a207f94ccc"/>
    <p:sldId xmlns:r="http://schemas.openxmlformats.org/officeDocument/2006/relationships" id="268" r:id="R7f1be9c197c94e4f"/>
    <p:sldId xmlns:r="http://schemas.openxmlformats.org/officeDocument/2006/relationships" id="269" r:id="R1dcf9cd0e74a41ef"/>
    <p:sldId xmlns:r="http://schemas.openxmlformats.org/officeDocument/2006/relationships" id="270" r:id="Re19814b9384a49e8"/>
    <p:sldId xmlns:r="http://schemas.openxmlformats.org/officeDocument/2006/relationships" id="271" r:id="Rf39b0fdccd774b32"/>
    <p:sldId xmlns:r="http://schemas.openxmlformats.org/officeDocument/2006/relationships" id="272" r:id="R871480f37b5c44d9"/>
    <p:sldId xmlns:r="http://schemas.openxmlformats.org/officeDocument/2006/relationships" id="273" r:id="R9ffa71cca1d54a71"/>
    <p:sldId xmlns:r="http://schemas.openxmlformats.org/officeDocument/2006/relationships" id="274" r:id="R20fd5ea1173248f6"/>
    <p:sldId xmlns:r="http://schemas.openxmlformats.org/officeDocument/2006/relationships" id="275" r:id="R7d794d7c1d5d4ed0"/>
    <p:sldId xmlns:r="http://schemas.openxmlformats.org/officeDocument/2006/relationships" id="276" r:id="Ra6f740b1417740e9"/>
    <p:sldId xmlns:r="http://schemas.openxmlformats.org/officeDocument/2006/relationships" id="277" r:id="R80230b84e9db46f1"/>
    <p:sldId xmlns:r="http://schemas.openxmlformats.org/officeDocument/2006/relationships" id="278" r:id="R06044f65ade24ad1"/>
  </p:sldIdLst>
  <p:sldSz cx="12192000" cy="68580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EF232EF9-F07A-4621-806C-EAF72860AC76}">
  <a:tblStyle styleId="{EF232EF9-F07A-4621-806C-EAF72860AC7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82e4e5b06c4035" /><Relationship Type="http://schemas.openxmlformats.org/officeDocument/2006/relationships/slideMaster" Target="/ppt/slideMasters/slideMaster1.xml" Id="R2be074ceb1be4aec" /><Relationship Type="http://schemas.openxmlformats.org/officeDocument/2006/relationships/slideMaster" Target="/ppt/slideMasters/slideMaster2.xml" Id="Rb5fa1f3936ad4562" /><Relationship Type="http://schemas.openxmlformats.org/officeDocument/2006/relationships/slideMaster" Target="/ppt/slideMasters/slideMaster3.xml" Id="R4836039539b743e5" /><Relationship Type="http://schemas.openxmlformats.org/officeDocument/2006/relationships/slideMaster" Target="/ppt/slideMasters/slideMaster4.xml" Id="R71311d321dd04274" /><Relationship Type="http://schemas.openxmlformats.org/officeDocument/2006/relationships/slideMaster" Target="/ppt/slideMasters/slideMaster5.xml" Id="R34c9bf1fa23c481b" /><Relationship Type="http://schemas.openxmlformats.org/officeDocument/2006/relationships/slideMaster" Target="/ppt/slideMasters/slideMaster6.xml" Id="R475354a04885482d" /><Relationship Type="http://schemas.openxmlformats.org/officeDocument/2006/relationships/slideMaster" Target="/ppt/slideMasters/slideMaster7.xml" Id="Rdf836fa9fe664fb8" /><Relationship Type="http://schemas.openxmlformats.org/officeDocument/2006/relationships/notesMaster" Target="/ppt/notesMasters/notesMaster1.xml" Id="R190b0a00b8c44971" /><Relationship Type="http://schemas.openxmlformats.org/officeDocument/2006/relationships/presProps" Target="/ppt/presProps.xml" Id="R9072382b28544dd1" /><Relationship Type="http://schemas.openxmlformats.org/officeDocument/2006/relationships/tableStyles" Target="/ppt/tableStyles.xml" Id="R5ebdb4ccd6ae49fd" /><Relationship Type="http://schemas.openxmlformats.org/officeDocument/2006/relationships/slide" Target="/ppt/slides/slide1.xml" Id="Rce24e0657bed4fd9" /><Relationship Type="http://schemas.openxmlformats.org/officeDocument/2006/relationships/slide" Target="/ppt/slides/slide2.xml" Id="R712fddabfbbd4afd" /><Relationship Type="http://schemas.openxmlformats.org/officeDocument/2006/relationships/slide" Target="/ppt/slides/slide3.xml" Id="R419b0ba99efb488e" /><Relationship Type="http://schemas.openxmlformats.org/officeDocument/2006/relationships/slide" Target="/ppt/slides/slide4.xml" Id="R0a0b29abb88a4318" /><Relationship Type="http://schemas.openxmlformats.org/officeDocument/2006/relationships/slide" Target="/ppt/slides/slide5.xml" Id="R0bc3ccd9f0cb4b7f" /><Relationship Type="http://schemas.openxmlformats.org/officeDocument/2006/relationships/slide" Target="/ppt/slides/slide6.xml" Id="R9958f9b8bdab4f5e" /><Relationship Type="http://schemas.openxmlformats.org/officeDocument/2006/relationships/slide" Target="/ppt/slides/slide7.xml" Id="Ra9256e8ff20343ac" /><Relationship Type="http://schemas.openxmlformats.org/officeDocument/2006/relationships/slide" Target="/ppt/slides/slide8.xml" Id="Rb0b5e3ca79504f62" /><Relationship Type="http://schemas.openxmlformats.org/officeDocument/2006/relationships/slide" Target="/ppt/slides/slide9.xml" Id="Rfc14bfa273d04b22" /><Relationship Type="http://schemas.openxmlformats.org/officeDocument/2006/relationships/slide" Target="/ppt/slides/slide10.xml" Id="R12140f55462e46ed" /><Relationship Type="http://schemas.openxmlformats.org/officeDocument/2006/relationships/slide" Target="/ppt/slides/slide11.xml" Id="R9575312dc82a4a21" /><Relationship Type="http://schemas.openxmlformats.org/officeDocument/2006/relationships/slide" Target="/ppt/slides/slide12.xml" Id="R3e23d9a207f94ccc" /><Relationship Type="http://schemas.openxmlformats.org/officeDocument/2006/relationships/slide" Target="/ppt/slides/slide13.xml" Id="R7f1be9c197c94e4f" /><Relationship Type="http://schemas.openxmlformats.org/officeDocument/2006/relationships/slide" Target="/ppt/slides/slide14.xml" Id="R1dcf9cd0e74a41ef" /><Relationship Type="http://schemas.openxmlformats.org/officeDocument/2006/relationships/slide" Target="/ppt/slides/slide15.xml" Id="Re19814b9384a49e8" /><Relationship Type="http://schemas.openxmlformats.org/officeDocument/2006/relationships/slide" Target="/ppt/slides/slide16.xml" Id="Rf39b0fdccd774b32" /><Relationship Type="http://schemas.openxmlformats.org/officeDocument/2006/relationships/slide" Target="/ppt/slides/slide17.xml" Id="R871480f37b5c44d9" /><Relationship Type="http://schemas.openxmlformats.org/officeDocument/2006/relationships/slide" Target="/ppt/slides/slide18.xml" Id="R9ffa71cca1d54a71" /><Relationship Type="http://schemas.openxmlformats.org/officeDocument/2006/relationships/slide" Target="/ppt/slides/slide19.xml" Id="R20fd5ea1173248f6" /><Relationship Type="http://schemas.openxmlformats.org/officeDocument/2006/relationships/slide" Target="/ppt/slides/slide20.xml" Id="R7d794d7c1d5d4ed0" /><Relationship Type="http://schemas.openxmlformats.org/officeDocument/2006/relationships/slide" Target="/ppt/slides/slide21.xml" Id="Ra6f740b1417740e9" /><Relationship Type="http://schemas.openxmlformats.org/officeDocument/2006/relationships/slide" Target="/ppt/slides/slide22.xml" Id="R80230b84e9db46f1" /><Relationship Type="http://schemas.openxmlformats.org/officeDocument/2006/relationships/slide" Target="/ppt/slides/slide23.xml" Id="R06044f65ade24a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9.xml" Id="R30869e2a8eaa49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a81a72b2db444c" /><Relationship Type="http://schemas.openxmlformats.org/officeDocument/2006/relationships/notesMaster" Target="/ppt/notesMasters/notesMaster1.xml" Id="R17a9aee813bd45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1cc40d2eb64b63" /><Relationship Type="http://schemas.openxmlformats.org/officeDocument/2006/relationships/notesMaster" Target="/ppt/notesMasters/notesMaster1.xml" Id="Rde719b27a31248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8f53023c084d5a" /><Relationship Type="http://schemas.openxmlformats.org/officeDocument/2006/relationships/notesMaster" Target="/ppt/notesMasters/notesMaster1.xml" Id="R6c63b3bc4a8f43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a6b80eec4145f5" /><Relationship Type="http://schemas.openxmlformats.org/officeDocument/2006/relationships/notesMaster" Target="/ppt/notesMasters/notesMaster1.xml" Id="R0e2949a0586e4d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f55c278c9d4945" /><Relationship Type="http://schemas.openxmlformats.org/officeDocument/2006/relationships/notesMaster" Target="/ppt/notesMasters/notesMaster1.xml" Id="Red674cc373104e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7a7253c8874100" /><Relationship Type="http://schemas.openxmlformats.org/officeDocument/2006/relationships/notesMaster" Target="/ppt/notesMasters/notesMaster1.xml" Id="R31d54de23b2a4a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a50ed97d46476b" /><Relationship Type="http://schemas.openxmlformats.org/officeDocument/2006/relationships/notesMaster" Target="/ppt/notesMasters/notesMaster1.xml" Id="Ra27949ef047b43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017c31a84b4935" /><Relationship Type="http://schemas.openxmlformats.org/officeDocument/2006/relationships/notesMaster" Target="/ppt/notesMasters/notesMaster1.xml" Id="Rf40a015d8b314b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087d19fecd4b2f" /><Relationship Type="http://schemas.openxmlformats.org/officeDocument/2006/relationships/notesMaster" Target="/ppt/notesMasters/notesMaster1.xml" Id="R80df5a24804042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b2a224606d4ec3" /><Relationship Type="http://schemas.openxmlformats.org/officeDocument/2006/relationships/notesMaster" Target="/ppt/notesMasters/notesMaster1.xml" Id="R653f86f5c10d43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42d74b116347af" /><Relationship Type="http://schemas.openxmlformats.org/officeDocument/2006/relationships/notesMaster" Target="/ppt/notesMasters/notesMaster1.xml" Id="R5e0fa13743de4c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7568a8c3ec4961" /><Relationship Type="http://schemas.openxmlformats.org/officeDocument/2006/relationships/notesMaster" Target="/ppt/notesMasters/notesMaster1.xml" Id="Rd975a4710e7f44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98a537f12c4127" /><Relationship Type="http://schemas.openxmlformats.org/officeDocument/2006/relationships/notesMaster" Target="/ppt/notesMasters/notesMaster1.xml" Id="Re19dbc87b9364fe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bdcbb28a344f73" /><Relationship Type="http://schemas.openxmlformats.org/officeDocument/2006/relationships/notesMaster" Target="/ppt/notesMasters/notesMaster1.xml" Id="Rd0c01ca4ee11419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183a6d7c26a41d3" /><Relationship Type="http://schemas.openxmlformats.org/officeDocument/2006/relationships/notesMaster" Target="/ppt/notesMasters/notesMaster1.xml" Id="R72067cbc8469469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9a2f1c9af18471e" /><Relationship Type="http://schemas.openxmlformats.org/officeDocument/2006/relationships/notesMaster" Target="/ppt/notesMasters/notesMaster1.xml" Id="R555b2519d363428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96e7c20953e4cbd" /><Relationship Type="http://schemas.openxmlformats.org/officeDocument/2006/relationships/notesMaster" Target="/ppt/notesMasters/notesMaster1.xml" Id="Rc17f6ff595a84af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87204dbda144c12" /><Relationship Type="http://schemas.openxmlformats.org/officeDocument/2006/relationships/notesMaster" Target="/ppt/notesMasters/notesMaster1.xml" Id="Rb30e0b2bbdac4a2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28c13a2c999470a" /><Relationship Type="http://schemas.openxmlformats.org/officeDocument/2006/relationships/notesMaster" Target="/ppt/notesMasters/notesMaster1.xml" Id="R053aff71496b4ca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282b78a48264b61" /><Relationship Type="http://schemas.openxmlformats.org/officeDocument/2006/relationships/notesMaster" Target="/ppt/notesMasters/notesMaster1.xml" Id="Rdb89bdd17f4346c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ee446a90da2432e" /><Relationship Type="http://schemas.openxmlformats.org/officeDocument/2006/relationships/notesMaster" Target="/ppt/notesMasters/notesMaster1.xml" Id="Rc7c6f467ebeb4d1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ecbb2c4e37b4015" /><Relationship Type="http://schemas.openxmlformats.org/officeDocument/2006/relationships/notesMaster" Target="/ppt/notesMasters/notesMaster1.xml" Id="R349f0cf3534f4de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b60a567e29b47ff" /><Relationship Type="http://schemas.openxmlformats.org/officeDocument/2006/relationships/notesMaster" Target="/ppt/notesMasters/notesMaster1.xml" Id="Re4841349cfb24c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主题配图取自用户提供的《羊名立万_春节活动策划案.docx》活动首页。封面提案内容与合作定位沿用原稿。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四个样本按差异化机制选择，覆盖2024至2026年。时间为公告发布时间，不等同于整期活动起止。只使用国服《FC足球世界》资料，不把国际服FC Mobile或主机版FC的机制混入。公开资料可以确认规则和呈现方式，不能证明留存、收入或制作成本表现。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[A] EA SPORTS，2025-01-26，《年度盛典开启！25年度最佳活动全新上线！》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https://www.weibo.com/ttarticle/p/show?id=2309405127089513955762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[B] FC足球世界官方，2026-02-12，《马年春节活动即将开启！多重新春福利送不停！》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https://www.taptap.cn/moment/771064711469861731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[C] FC足球世界官方，2024-06-13，《欧陆足坛风云再起，2024欧洲杯®全员上场！》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https://www.taptap.cn/moment/550263876587881597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[D] FC足球世界官方，2026-04-15，《Next新世代升级，欧冠荣耀活动，巅峰序章队徽开启！首充双倍重置》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https://www.taptap.cn/moment/793578209911245431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事实：活动持续42天，五章节中三个先开放。提名揭秘的登录和章节赛事提供章节代币，代币用于球员之旅。路径节点提供拼图票券，拼图完成可解锁特惠球员交换。设计解读：资源在章节之间衔接，设计时需要同时检查产出、推进和解锁门槛。不能仅以界面数量估计活动内容量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图片原址：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https://wx3.sinaimg.cn/large/8764b058gy1hxutzr4qwfj212w0howj2.jpg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https://wx2.sinaimg.cn/large/8764b058gy1hxutzu0bggj212w0hogpp.jpg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图为官方文章原图，保留原比例及水印。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[A] EA SPORTS，2025-01-26，《年度盛典开启！25年度最佳活动全新上线！》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https://www.weibo.com/ttarticle/p/show?id=2309405127089513955762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事实：春节登录福利先上线，福气临门、年兽挑战和鸿运叠彩后续开放。福气累积、年兽挑战与叠彩升级存在关联和并行关系，不是所有玩家必须依次通过的单一路径。鸿运升级球员加入骐骥图鉴并保留原养成等级。设计解读：节庆活动可以用每日累积支撑阶段目标，同时让球员自身成长。左侧是官方机制说明配图，不是游戏实机截图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图源：https://img2-tc.tapimg.com/moment/etag/33b06e2300097dcd53b8ce0fcad778e1.png/_tap_ugc.jpg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[B] FC足球世界官方，2026-02-12，《马年春节活动即将开启！多重新春福利送不停！》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https://www.taptap.cn/moment/771064711469861731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欧洲杯事实：公告包含使用24支参赛队的锦标赛、活动点数参与比赛竞猜，以及甄选球员卡面随实际登场逐步更新。不可由此推断所有欧洲杯活动均采用同一玩法。欧冠荣耀事实：荣耀时刻、冠军巡礼、精彩时刻三章节分别包含对战与问答、决赛赛事、精彩瞬间赛事。冠军巡礼直接奖励球员并解锁特价交换，构成可观察的机制差异。解读：题材可以改变内容生成依据，而不只是改变背景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右图源：https://img2-tc.tapimg.com/moment/etag/b73d126035e15df9b26d710f11a3220e.jpg/_tap_ugc.jpg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[C] FC足球世界官方，2024-06-13，《欧陆足坛风云再起，2024欧洲杯®全员上场！》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https://www.taptap.cn/moment/550263876587881597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[D] FC足球世界官方，2026-04-15，《Next新世代升级，欧冠荣耀活动，巅峰序章队徽开启！首充双倍重置》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https://www.taptap.cn/moment/793578209911245431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对照表是公开公告的选择性摘录，不是完整玩法清单，也不是活动效果比较。欧洲杯的赛事推进来自锦标赛及真实赛况联动，不据此补写代币路径或拼图。春节的球员升级与累计目标可以并行。不同年份的图鉴、徽章或队徽规则也不能视为完全相同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[A] EA SPORTS，2025-01-26，《年度盛典开启！25年度最佳活动全新上线！》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https://www.weibo.com/ttarticle/p/show?id=2309405127089513955762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[B] FC足球世界官方，2026-02-12，《马年春节活动即将开启！多重新春福利送不停！》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https://www.taptap.cn/moment/771064711469861731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[C] FC足球世界官方，2024-06-13，《欧陆足坛风云再起，2024欧洲杯®全员上场！》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https://www.taptap.cn/moment/550263876587881597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[D] FC足球世界官方，2026-04-15，《Next新世代升级，欧冠荣耀活动，巅峰序章队徽开启！首充双倍重置》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https://www.taptap.cn/moment/793578209911245431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本图是我们的设计归纳，不是官方架构图或唯一玩家路径。可观察职能包括主题入口、参与、推进、奖励与成长，但具体机制、顺序和分支不同。部分赛事直接奖励球员，不要求先兑换。图鉴和队徽亦可作为平行目标。新增赛季设计应先选择适合的模块，再明确连接关系与规则边界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[A] EA SPORTS，2025-01-26，《年度盛典开启！25年度最佳活动全新上线！》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https://www.weibo.com/ttarticle/p/show?id=2309405127089513955762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[B] FC足球世界官方，2026-02-12，《马年春节活动即将开启！多重新春福利送不停！》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https://www.taptap.cn/moment/771064711469861731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[C] FC足球世界官方，2024-06-13，《欧陆足坛风云再起，2024欧洲杯®全员上场！》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https://www.taptap.cn/moment/550263876587881597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[D] FC足球世界官方，2026-04-15，《Next新世代升级，欧冠荣耀活动，巅峰序章队徽开启！首充双倍重置》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https://www.taptap.cn/moment/793578209911245431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左列为跨样本的结构观察，中列和右列是我们的设计判断与拟议交付，不是官方自述或已验证结果。资源衔接见[A]，节庆累计及分期见[B]，主题参与方式见[C][D]。所有设计选择都要经过FC团队的系统能力、奖励经济和制作排期评审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[A] EA SPORTS，2025-01-26，《年度盛典开启！25年度最佳活动全新上线！》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https://www.weibo.com/ttarticle/p/show?id=2309405127089513955762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[B] FC足球世界官方，2026-02-12，《马年春节活动即将开启！多重新春福利送不停！》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https://www.taptap.cn/moment/771064711469861731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[C] FC足球世界官方，2024-06-13，《欧陆足坛风云再起，2024欧洲杯®全员上场！》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https://www.taptap.cn/moment/550263876587881597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[D] FC足球世界官方，2026-04-15，《Next新世代升级，欧冠荣耀活动，巅峰序章队徽开启！首充双倍重置》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https://www.taptap.cn/moment/793578209911245431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这里列的是合作希望实现的目标，不是已有业绩，也没有承诺具体留存或收入增幅。需要在试点前与FC团队确认优先目标，并在复盘时验证。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我们提出的是设计与制作配合的责任范围。FC团队继续掌握产品方向、球员经济和版本发布的最终决策。进入配置制作或上线执行前，需要确认可用工具、权限、负责人和验收机制。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交付物按FC团队实际配置结构和评审习惯映射。此页是拟议交付目录，不表示这些材料已经全部制作完毕。试点前应准备一份完整配置样表，让制作方验证字段和状态是否足够。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资料来源：用户提供《羊名立万_春节活动策划案.docx》。本页为该设计方案的整合，非已上线活动规则。界面来自原方案配图，奖励为占位卡。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一、活动定位与结构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活动分成四块，围绕春节福利、日常比赛、球星竞猜和经典战役展开。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新春见面礼让玩家每天回来领福利。踢出开门红让玩家通过比赛积累进度。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拜年有名堂从猜球星开始，接着领卡、上场、升级。三羊开泰则提供经典战役挑战。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四个板块通过顶部导航切换，各自按节奏开放，不要求依次完成。玩家可以只领当天福利，也可以继续参加竞猜和挑战。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各板块分别保留进度。同场比赛符合红包和拜年任务条件时，两边都能推进。领奖、升级和点亮仍需主动操作。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页面支持横向浏览，介绍、奖励和任务按操作顺序排列。奖励统一用占位卡，标明登录奖励、累计奖励、球员和升级等用途。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Tips：当前 H5 中的比赛、购买和发奖都用于演示流程。正式游戏接入另行确认。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资料来源：用户提供《羊名立万_春节活动策划案.docx》。本页为该设计方案的整合，非已上线活动规则。界面来自原方案配图，奖励为占位卡。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此页对应前文保留的活动模块框架，说明新方案如何组合模块，不改写前面的历史研究结论。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一、活动定位与结构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>活动分成四块，围绕春节福利、日常比赛、球星竞猜和经典战役展开。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新春见面礼让玩家每天回来领福利。踢出开门红让玩家通过比赛积累进度。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拜年有名堂从猜球星开始，接着领卡、上场、升级。三羊开泰则提供经典战役挑战。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>四个板块通过顶部导航切换，各自按节奏开放，不要求依次完成。玩家可以只领当天福利，也可以继续参加竞猜和挑战。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各板块分别保留进度。同场比赛符合红包和拜年任务条件时，两边都能推进。领奖、升级和点亮仍需主动操作。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页面支持横向浏览，介绍、奖励和任务按操作顺序排列。奖励统一用占位卡，标明登录奖励、累计奖励、球员和升级等用途。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>Tips：当前 H5 中的比赛、购买和发奖都用于演示流程。正式游戏接入另行确认。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资料来源：用户提供《羊名立万_春节活动策划案.docx》。本页为该设计方案的整合，非已上线活动规则。界面来自原方案配图，奖励为占位卡。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资料来源：用户提供《羊名立万_春节活动策划案.docx》。本页为该设计方案的整合，非已上线活动规则。界面来自原方案配图，奖励为占位卡。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四、踢出开门红</a:t>
            </a:r>
          </a:p>
          <a:p xmlns:a="http://schemas.openxmlformats.org/drawingml/2006/main">
            <a:r>
              <a:t>板块作用  </a:t>
            </a:r>
          </a:p>
          <a:p xmlns:a="http://schemas.openxmlformats.org/drawingml/2006/main">
            <a:r>
              <a:t>让玩家领完每日红包后，继续到游戏内比赛。玩家通过比赛攒红包，达到条件后领累计卡奖励。红包外观也会随进度变化。</a:t>
            </a:r>
          </a:p>
          <a:p xmlns:a="http://schemas.openxmlformats.org/drawingml/2006/main">
            <a:r>
              <a:t>打完比赛回来，玩家能看到哪些奖励已经可领，哪些还需要继续推进。</a:t>
            </a:r>
          </a:p>
          <a:p xmlns:a="http://schemas.openxmlformats.org/drawingml/2006/main">
            <a:r>
              <a:t>玩家怎么玩  </a:t>
            </a:r>
          </a:p>
          <a:p xmlns:a="http://schemas.openxmlformats.org/drawingml/2006/main">
            <a:r>
              <a:t>页面先展示活动介绍和每日红包，再展示累计奖励卡轨道。玩家在活动页领红包，到游戏内比赛，有效结算后返回查看进度。</a:t>
            </a:r>
          </a:p>
          <a:p xmlns:a="http://schemas.openxmlformats.org/drawingml/2006/main">
            <a:r>
              <a:t>最后是成长累计与红包领奖面板，两部分放在同一块底板内。左侧看累计和成长进度，右侧看红包外观并领奖。</a:t>
            </a:r>
          </a:p>
          <a:p xmlns:a="http://schemas.openxmlformats.org/drawingml/2006/main">
            <a:r>
              <a:t>累计卡奖励每日红包待领每日红包已领</a:t>
            </a:r>
          </a:p>
          <a:p xmlns:a="http://schemas.openxmlformats.org/drawingml/2006/main">
            <a:r>
              <a:t>图3 累计卡和每日红包分别领取</a:t>
            </a:r>
          </a:p>
          <a:p xmlns:a="http://schemas.openxmlformats.org/drawingml/2006/main">
            <a:r>
              <a:t>比赛与刷新  </a:t>
            </a:r>
          </a:p>
          <a:p xmlns:a="http://schemas.openxmlformats.org/drawingml/2006/main">
            <a:r>
              <a:t>进攻对战、实时对战、经理人模式，分别计算各自的每日首场。首场不再叠加常规场次收益，后续有效比赛继续积累。</a:t>
            </a:r>
          </a:p>
          <a:p xmlns:a="http://schemas.openxmlformats.org/drawingml/2006/main">
            <a:r>
              <a:t>完成比赛即可，不要求获胜。每天刷新每日领取资格和各模式首场资格，已有累计和领奖记录保留。</a:t>
            </a:r>
          </a:p>
          <a:p xmlns:a="http://schemas.openxmlformats.org/drawingml/2006/main">
            <a:r>
              <a:t>累计与领取  </a:t>
            </a:r>
          </a:p>
          <a:p xmlns:a="http://schemas.openxmlformats.org/drawingml/2006/main">
            <a:r>
              <a:t>同一份累计同时用于判断卡牌奖励和红包成长，领奖不扣累计。卡奖励达到条件后，逐项主动领取。</a:t>
            </a:r>
          </a:p>
          <a:p xmlns:a="http://schemas.openxmlformats.org/drawingml/2006/main">
            <a:r>
              <a:t>红包成长后会换外观，继续使用同一个领奖入口。点击后，可一并补领已经解锁、尚未领取的成长奖励。</a:t>
            </a:r>
          </a:p>
          <a:p xmlns:a="http://schemas.openxmlformats.org/drawingml/2006/main">
            <a:r>
              <a:t>成长是否满级、卡奖励是否全部达成、奖励是否已领，需要分开显示。满级不等于全部领完。</a:t>
            </a:r>
          </a:p>
          <a:p xmlns:a="http://schemas.openxmlformats.org/drawingml/2006/main">
            <a:r>
              <a:t>后加入的玩家仍可通过比赛追赶进度。活动结束后能否补领，以正式规则为准；当前原型在结束后默认关闭领取。</a:t>
            </a:r>
          </a:p>
          <a:p xmlns:a="http://schemas.openxmlformats.org/drawingml/2006/main">
            <a:r>
              <a:t>成长面板领取后</a:t>
            </a:r>
          </a:p>
          <a:p xmlns:a="http://schemas.openxmlformats.org/drawingml/2006/main">
            <a:r>
              <a:t>图4 红包成长与领取反馈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资料来源：用户提供《羊名立万_春节活动策划案.docx》。本页为该设计方案的整合，非已上线活动规则。界面来自原方案配图，奖励为占位卡。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五、拜年有名堂</a:t>
            </a:r>
          </a:p>
          <a:p xmlns:a="http://schemas.openxmlformats.org/drawingml/2006/main">
            <a:r>
              <a:t>板块作用  </a:t>
            </a:r>
          </a:p>
          <a:p xmlns:a="http://schemas.openxmlformats.org/drawingml/2006/main">
            <a:r>
              <a:t>玩家直接看球衣和故事猜球星。答对后领球员，再参加比赛、兑换个人升级。群像既是人物入口，也展示完成情况。</a:t>
            </a:r>
          </a:p>
          <a:p xmlns:a="http://schemas.openxmlformats.org/drawingml/2006/main">
            <a:r>
              <a:t>人物点亮后，玩家能看清哪些已经完成，还有谁没做完。</a:t>
            </a:r>
          </a:p>
          <a:p xmlns:a="http://schemas.openxmlformats.org/drawingml/2006/main">
            <a:r>
              <a:t>玩家怎么玩  </a:t>
            </a:r>
          </a:p>
          <a:p xmlns:a="http://schemas.openxmlformats.org/drawingml/2006/main">
            <a:r>
              <a:t>总览左侧是活动介绍，中间是群像，右侧是收集目标和奖励。</a:t>
            </a:r>
          </a:p>
          <a:p xmlns:a="http://schemas.openxmlformats.org/drawingml/2006/main">
            <a:r>
              <a:t>进入个人页，左侧上方领神秘奖励，下方兑换个人升级。中间是球衣或揭晓后的球员卡，右侧是故事和答题按钮。</a:t>
            </a:r>
          </a:p>
          <a:p xmlns:a="http://schemas.openxmlformats.org/drawingml/2006/main">
            <a:r>
              <a:t>已开放的个人页直接展示背面球衣和故事。点击“猜猜他是谁”，就能打开答题弹窗。</a:t>
            </a:r>
          </a:p>
          <a:p xmlns:a="http://schemas.openxmlformats.org/drawingml/2006/main">
            <a:r>
              <a:t>球衣与故事答错可重选答对后揭晓</a:t>
            </a:r>
          </a:p>
          <a:p xmlns:a="http://schemas.openxmlformats.org/drawingml/2006/main">
            <a:r>
              <a:t>图5 看球衣和故事答题，答对后再领卡</a:t>
            </a:r>
          </a:p>
          <a:p xmlns:a="http://schemas.openxmlformats.org/drawingml/2006/main">
            <a:r>
              <a:t>猜人与领卡  </a:t>
            </a:r>
          </a:p>
          <a:p xmlns:a="http://schemas.openxmlformats.org/drawingml/2006/main">
            <a:r>
              <a:t>人物开放后即可答题。答错可以立即重选，不扣次数，也不用等待。</a:t>
            </a:r>
          </a:p>
          <a:p xmlns:a="http://schemas.openxmlformats.org/drawingml/2006/main">
            <a:r>
              <a:t>答对后，主动领取神秘奖励中的球员占位卡，再带对应球员参加比赛。还没领卡时，不能提前完成上场任务。</a:t>
            </a:r>
          </a:p>
          <a:p xmlns:a="http://schemas.openxmlformats.org/drawingml/2006/main">
            <a:r>
              <a:t>比赛与兑换升级  </a:t>
            </a:r>
          </a:p>
          <a:p xmlns:a="http://schemas.openxmlformats.org/drawingml/2006/main">
            <a:r>
              <a:t>参加比赛时，不要求对应球员首发、获胜或进球。同一场比赛，可以满足多名已领取活动球员的参赛要求。</a:t>
            </a:r>
          </a:p>
          <a:p xmlns:a="http://schemas.openxmlformats.org/drawingml/2006/main">
            <a:r>
              <a:t>球员和个人升级同一天开放，不另设等待日。比赛完成后，返回个人页主动兑换个人升级。</a:t>
            </a:r>
          </a:p>
          <a:p xmlns:a="http://schemas.openxmlformats.org/drawingml/2006/main">
            <a:r>
              <a:t>点亮与自选  </a:t>
            </a:r>
          </a:p>
          <a:p xmlns:a="http://schemas.openxmlformats.org/drawingml/2006/main">
            <a:r>
              <a:t>兑换完个人升级，还要回到总览，点一下对应人物。这样才算点亮，每名球员只计入一次。</a:t>
            </a:r>
          </a:p>
          <a:p xmlns:a="http://schemas.openxmlformats.org/drawingml/2006/main">
            <a:r>
              <a:t>各个收集目标分别记录领取状态。达到目标后，可以从已兑换个人升级的球员中选择，领取自选升级。领取自选升级不扣点亮进度。</a:t>
            </a:r>
          </a:p>
          <a:p xmlns:a="http://schemas.openxmlformats.org/drawingml/2006/main">
            <a:r>
              <a:t>打开或关闭选人弹窗，都不消耗机会。确认选择后，才使用这次自选机会。</a:t>
            </a:r>
          </a:p>
          <a:p xmlns:a="http://schemas.openxmlformats.org/drawingml/2006/main">
            <a:r>
              <a:t>已开放的人物任务可补做到正月十四，不要求按人物顺序完成。自选能否重复用于同一名球员，仍待确认。</a:t>
            </a:r>
          </a:p>
          <a:p xmlns:a="http://schemas.openxmlformats.org/drawingml/2006/main">
            <a:r>
              <a:t>页面区分“未揭晓、已领卡待参赛、可兑换升级、已兑换待点亮、已点亮”。玩家能看清做到哪一步，避免漏掉后续操作。</a:t>
            </a:r>
          </a:p>
          <a:p xmlns:a="http://schemas.openxmlformats.org/drawingml/2006/main">
            <a:r>
              <a:t>未点亮部分点亮可兑换已兑换</a:t>
            </a:r>
          </a:p>
          <a:p xmlns:a="http://schemas.openxmlformats.org/drawingml/2006/main">
            <a:r>
              <a:t>图6 兑换个人升级后，还要回群像点亮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资料来源：用户提供《羊名立万_春节活动策划案.docx》。本页为该设计方案的整合，非已上线活动规则。界面来自原方案配图，奖励为占位卡。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六、三羊开泰</a:t>
            </a:r>
          </a:p>
          <a:p xmlns:a="http://schemas.openxmlformats.org/drawingml/2006/main">
            <a:r>
              <a:t>板块作用  </a:t>
            </a:r>
          </a:p>
          <a:p xmlns:a="http://schemas.openxmlformats.org/drawingml/2006/main">
            <a:r>
              <a:t>用贝利、马拉多纳和梅西的经典战役，给玩家提供后续挑战。三条路线并列展示，方便按自己关注的球员选择。</a:t>
            </a:r>
          </a:p>
          <a:p xmlns:a="http://schemas.openxmlformats.org/drawingml/2006/main">
            <a:r>
              <a:t>先看故事了解比赛背景，再参加挑战。赢下比赛后兑换升级，让玩家拿到球员后还有内容可玩。</a:t>
            </a:r>
          </a:p>
          <a:p xmlns:a="http://schemas.openxmlformats.org/drawingml/2006/main">
            <a:r>
              <a:t>玩家怎么玩  </a:t>
            </a:r>
          </a:p>
          <a:p xmlns:a="http://schemas.openxmlformats.org/drawingml/2006/main">
            <a:r>
              <a:t>领取页在同一块底板上并列展示三位球员，支持横向浏览。每位保留姓名、简短介绍、纯占位卡和获取按钮。</a:t>
            </a:r>
          </a:p>
          <a:p xmlns:a="http://schemas.openxmlformats.org/drawingml/2006/main">
            <a:r>
              <a:t>贝利、马拉多纳分别免费领取。梅西使用 FC 币购买，购买前需要确认。</a:t>
            </a:r>
          </a:p>
          <a:p xmlns:a="http://schemas.openxmlformats.org/drawingml/2006/main">
            <a:r>
              <a:t>点击对应卡面进入战役。左侧看历史图片，中间看故事并点击足球图标挑战，右侧展示升级占位卡和兑换入口。</a:t>
            </a:r>
          </a:p>
          <a:p xmlns:a="http://schemas.openxmlformats.org/drawingml/2006/main">
            <a:r>
              <a:t>获取页免费领取后购买前确认</a:t>
            </a:r>
          </a:p>
          <a:p xmlns:a="http://schemas.openxmlformats.org/drawingml/2006/main">
            <a:r>
              <a:t>图7 免费领取与购买确认</a:t>
            </a:r>
          </a:p>
          <a:p xmlns:a="http://schemas.openxmlformats.org/drawingml/2006/main">
            <a:r>
              <a:t>获胜与兑换  </a:t>
            </a:r>
          </a:p>
          <a:p xmlns:a="http://schemas.openxmlformats.org/drawingml/2006/main">
            <a:r>
              <a:t>获取球员、挑战获胜和兑换升级分别记录。领取或购买球员，不会直接完成挑战。</a:t>
            </a:r>
          </a:p>
          <a:p xmlns:a="http://schemas.openxmlformats.org/drawingml/2006/main">
            <a:r>
              <a:t>挑战获胜后，仍需主动点击兑换。挑战成功和兑换完成各有标记，方便玩家看清自己做到哪一步。</a:t>
            </a:r>
          </a:p>
          <a:p xmlns:a="http://schemas.openxmlformats.org/drawingml/2006/main">
            <a:r>
              <a:t>阶段与状态  </a:t>
            </a:r>
          </a:p>
          <a:p xmlns:a="http://schemas.openxmlformats.org/drawingml/2006/main">
            <a:r>
              <a:t>三条路线按同一阶段开放。进入新阶段后，之前的挑战和兑换记录继续保留。</a:t>
            </a:r>
          </a:p>
          <a:p xmlns:a="http://schemas.openxmlformats.org/drawingml/2006/main">
            <a:r>
              <a:t>当前演示中，阶段未开放，或尚未获取初始卡时，兑换入口显示“锁定”。</a:t>
            </a:r>
          </a:p>
          <a:p xmlns:a="http://schemas.openxmlformats.org/drawingml/2006/main">
            <a:r>
              <a:t>已经持卡、但尚未获胜时，显示“等待”。满足条件后可主动兑换，兑换完成后显示勾选。</a:t>
            </a:r>
          </a:p>
          <a:p xmlns:a="http://schemas.openxmlformats.org/drawingml/2006/main">
            <a:r>
              <a:t>Tips：正式起止日期、阶段数量、持卡和前一阶段要求，尚未确定。比赛难度、补做方式和旧卡处理，也需要进一步确认。</a:t>
            </a:r>
          </a:p>
          <a:p xmlns:a="http://schemas.openxmlformats.org/drawingml/2006/main">
            <a:r>
              <a:t>原型中的操作顺序用于演示，不能直接当作正式参与条件。本板块不另设共同终奖。</a:t>
            </a:r>
          </a:p>
          <a:p xmlns:a="http://schemas.openxmlformats.org/drawingml/2006/main">
            <a:r>
              <a:t>经典战役获胜待兑换已兑换未开放</a:t>
            </a:r>
          </a:p>
          <a:p xmlns:a="http://schemas.openxmlformats.org/drawingml/2006/main">
            <a:r>
              <a:t>图8 挑战和兑换分别记录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资料来源：用户提供《羊名立万_春节活动策划案.docx》。本页为该设计方案的整合，非已上线活动规则。界面来自原方案配图，奖励为占位卡。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二、开放节奏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板块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开放安排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这样安排的理由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新春见面礼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腊月廿四至正月十四，每天开放对应日期版面。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让玩家每天回来领取。除夕用不同排布突出节日节点。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踢出开门红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除夕至正月十四。每日资格刷新，累计进度保留。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让玩家持续参加比赛，后加入的玩家也能继续追赶。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拜年有名堂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初一同时开放两位，此后每两天新增一位。十三全部开放，已开放任务可补做到十四。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持续提供新线索。已开放任务保留，不必赶在开放当天完成。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三羊开泰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三条路线按相同阶段推进，正式起止日期待确认。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玩家按球员兴趣选路线，后续阶段继续提供挑战。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这里按当前农历演示日期说明开放顺序。正式开放、每日刷新和结束时刻，另行确认。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日期限定礼只在当天领取。已开放任务是否保留补做机会，按各板块规则执行。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新春见面礼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板块作用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让玩家每天进入活动后，都能先领到一份福利。日期限定礼让春节期间的不同日子有各自内容。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除夕的奖励版面更宽，卡片分行排列，用来突出这一节日。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玩家怎么玩  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首屏左侧是活动介绍，右侧是独立的每日登录礼面板。点击领取后，向右浏览日期奖励。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普通日期的占位卡并排展示，除夕分行排列。每张卡下都有独立领取入口，点击卡面也能查看详情和状态。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活动首屏领取前领取后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图1 每日登录礼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领取规则  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每日登录礼和日期限定礼分别领取、分别记录。领取其中一类，不会代领另一类。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每天刷新后，可以领取新一天的登录礼。之前未领取的每日礼不累积。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日期状态  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未来日期显示“未开放”，可查看开放日期。当天开放后，由玩家主动领取，领取后保留完成标记。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过去日期中未领的奖励显示“已过期”，不可补领。已经领过的奖励仍显示“已领取”。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日期版面一直排到正月十四。前后翻一翻，就能查看领取记录和后续奖励。未来奖励可以提前看，但要等到对应日期才能领。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除夕排布已领取与已过期未来日期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图2 不同日期的排布和状态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四、踢出开门红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板块作用  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让玩家领完每日红包后，继续到游戏内比赛。玩家通过比赛攒红包，达到条件后领累计卡奖励。红包外观也会随进度变化。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打完比赛回来，玩家能看到哪些奖励已经可领，哪些还需要继续推进。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玩家怎么玩  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页面先展示活动介绍和每日红包，再展示累计奖励卡轨道。玩家在活动页领红包，到游戏内比赛，有效结算后返回查看进度。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最后是成长累计与红包领奖面板，两部分放在同一块底板内。左侧看累计和成长进度，右侧看红包外观并领奖。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累计卡奖励每日红包待领每日红包已领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图3 累计卡和每日红包分别领取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比赛与刷新  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进攻对战、实时对战、经理人模式，分别计算各自的每日首场。首场不再叠加常规场次收益，后续有效比赛继续积累。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完成比赛即可，不要求获胜。每天刷新每日领取资格和各模式首场资格，已有累计和领奖记录保留。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累计与领取  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同一份累计同时用于判断卡牌奖励和红包成长，领奖不扣累计。卡奖励达到条件后，逐项主动领取。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红包成长后会换外观，继续使用同一个领奖入口。点击后，可一并补领已经解锁、尚未领取的成长奖励。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成长是否满级、卡奖励是否全部达成、奖励是否已领，需要分开显示。满级不等于全部领完。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后加入的玩家仍可通过比赛追赶进度。活动结束后能否补领，以正式规则为准；当前原型在结束后默认关闭领取。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成长面板领取后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图4 红包成长与领取反馈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五、拜年有名堂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板块作用  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玩家直接看球衣和故事猜球星。答对后领球员，再参加比赛、兑换个人升级。群像既是人物入口，也展示完成情况。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人物点亮后，玩家能看清哪些已经完成，还有谁没做完。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玩家怎么玩  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总览左侧是活动介绍，中间是群像，右侧是收集目标和奖励。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进入个人页，左侧上方领神秘奖励，下方兑换个人升级。中间是球衣或揭晓后的球员卡，右侧是故事和答题按钮。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已开放的个人页直接展示背面球衣和故事。点击“猜猜他是谁”，就能打开答题弹窗。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球衣与故事答错可重选答对后揭晓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图5 看球衣和故事答题，答对后再领卡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猜人与领卡  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人物开放后即可答题。答错可以立即重选，不扣次数，也不用等待。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答对后，主动领取神秘奖励中的球员占位卡，再带对应球员参加比赛。还没领卡时，不能提前完成上场任务。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比赛与兑换升级  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参加比赛时，不要求对应球员首发、获胜或进球。同一场比赛，可以满足多名已领取活动球员的参赛要求。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球员和个人升级同一天开放，不另设等待日。比赛完成后，返回个人页主动兑换个人升级。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点亮与自选  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兑换完个人升级，还要回到总览，点一下对应人物。这样才算点亮，每名球员只计入一次。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各个收集目标分别记录领取状态。达到目标后，可以从已兑换个人升级的球员中选择，领取自选升级。领取自选升级不扣点亮进度。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打开或关闭选人弹窗，都不消耗机会。确认选择后，才使用这次自选机会。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已开放的人物任务可补做到正月十四，不要求按人物顺序完成。自选能否重复用于同一名球员，仍待确认。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页面区分“未揭晓、已领卡待参赛、可兑换升级、已兑换待点亮、已点亮”。玩家能看清做到哪一步，避免漏掉后续操作。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未点亮部分点亮可兑换已兑换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图6 兑换个人升级后，还要回群像点亮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六、三羊开泰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板块作用  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用贝利、马拉多纳和梅西的经典战役，给玩家提供后续挑战。三条路线并列展示，方便按自己关注的球员选择。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先看故事了解比赛背景，再参加挑战。赢下比赛后兑换升级，让玩家拿到球员后还有内容可玩。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玩家怎么玩  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领取页在同一块底板上并列展示三位球员，支持横向浏览。每位保留姓名、简短介绍、纯占位卡和获取按钮。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贝利、马拉多纳分别免费领取。梅西使用 FC 币购买，购买前需要确认。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点击对应卡面进入战役。左侧看历史图片，中间看故事并点击足球图标挑战，右侧展示升级占位卡和兑换入口。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获取页免费领取后购买前确认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图7 免费领取与购买确认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获胜与兑换  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获取球员、挑战获胜和兑换升级分别记录。领取或购买球员，不会直接完成挑战。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挑战获胜后，仍需主动点击兑换。挑战成功和兑换完成各有标记，方便玩家看清自己做到哪一步。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阶段与状态  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三条路线按同一阶段开放。进入新阶段后，之前的挑战和兑换记录继续保留。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当前演示中，阶段未开放，或尚未获取初始卡时，兑换入口显示“锁定”。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已经持卡、但尚未获胜时，显示“等待”。满足条件后可主动兑换，兑换完成后显示勾选。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Tips：正式起止日期、阶段数量、持卡和前一阶段要求，尚未确定。比赛难度、补做方式和旧卡处理，也需要进一步确认。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原型中的操作顺序用于演示，不能直接当作正式参与条件。本板块不另设共同终奖。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经典战役获胜待兑换已兑换未开放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图8 挑战和兑换分别记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此索引仅覆盖本次引用样本。页面中的官方截图和机制图均保留原比例，不以AI图替代。羊名立万案例与界面来自用户提供的春节活动策划案，奖励卡为占位示意。公开资料不包含内部运营数据，也不构成全量历史活动审计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[A] EA SPORTS，2025-01-26，《年度盛典开启！25年度最佳活动全新上线！》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https://www.weibo.com/ttarticle/p/show?id=2309405127089513955762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[B] FC足球世界官方，2026-02-12，《马年春节活动即将开启！多重新春福利送不停！》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https://www.taptap.cn/moment/771064711469861731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[C] FC足球世界官方，2024-06-13，《欧陆足坛风云再起，2024欧洲杯®全员上场！》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https://www.taptap.cn/moment/550263876587881597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[D] FC足球世界官方，2026-04-15，《Next新世代升级，欧冠荣耀活动，巅峰序章队徽开启！首充双倍重置》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https://www.taptap.cn/moment/793578209911245431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顺序覆盖活动简报、概念评审、内容锁定、配置交付、联调验收和上线复盘。交付日程应以现有系统和资源可用性为前提，避免把需要新增开发的机制混入常规配置工作。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试点需要先确认埋点和历史基线。若没有实验或合适的比较对象，不能将指标变化全部归因于设计合作。球员强度、同期投放、渠道流量和版本变化均可能影响结果。本提案没有虚构项目业绩或提升百分比。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试点可按系统能力缩小范围，不必一次引入全部新机制。设计验收与线上效果验收分别约定。商业目标和最终范围需双方确认，当前不提供未经人员与产能核实的交付承诺。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束时提出具体请求：与活动策划、产品及开发负责人对齐一次，确认试点主题、系统能力和验收标准。对外发送前需要补充真实的团队履历、岗位配置、产能样表和商务信息，不以当前设计原型替代履约能力证据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13c8a7f92a49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516b2957574f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af2934da0e44cfe" /></Relationships>
</file>

<file path=ppt/slideLayouts/slideLayout1.xml><?xml version="1.0" encoding="utf-8"?>
<p:sldLayout xmlns:p="http://schemas.openxmlformats.org/presentationml/2006/main" matchingName="FC season proposal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1B26FDBF-F57D-4D1D-8000-75335F0916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22BD93A6-0EC8-41A4-8DB4-8BEAC44FBF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FC season proposal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0afc9f117d4bc1" /><Relationship Type="http://schemas.openxmlformats.org/officeDocument/2006/relationships/slideLayout" Target="/ppt/slideLayouts/slideLayout1.xml" Id="R26a131fb947946b2" /><Relationship Type="http://schemas.openxmlformats.org/officeDocument/2006/relationships/slideLayout" Target="/ppt/slideLayouts/slideLayout2.xml" Id="R58d3be4e48f546c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321a949de9f48fe" /><Relationship Type="http://schemas.openxmlformats.org/officeDocument/2006/relationships/slideLayout" Target="/ppt/slideLayouts/slideLayout3.xml" Id="R9fdfa86224734591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0fa42d32b9614ce8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479c3ecfd2374f94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1317868f35c0454e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theme" Target="/ppt/slideMasters/theme/theme7.xml" Id="R019e7e823aa3462b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theme" Target="/ppt/slideMasters/theme/theme8.xml" Id="R601150eb4b4d48f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86228943-F7FD-4CFA-AE25-09B271816E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11" name="Google Shape;11;p1">
            <a:extLst xmlns:a="http://schemas.openxmlformats.org/drawingml/2006/main">
              <a:ext uri="{FF2B5EF4-FFF2-40B4-BE49-F238E27FC236}">
                <a16:creationId xmlns:a16="http://schemas.microsoft.com/office/drawing/2014/main" id="{6B74AEFE-B76A-4A57-AC26-A2D3291B6A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a131fb947946b2"/>
    <p:sldLayoutId xmlns:r="http://schemas.openxmlformats.org/officeDocument/2006/relationships" id="2147483650" r:id="R58d3be4e48f546c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A09B9F7F-9869-406C-91D5-2B0959C0C5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9A804877-56CB-4437-BA78-9493CF14C5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2" r:id="R9fdfa8622473459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6">
            <a:extLst xmlns:a="http://schemas.openxmlformats.org/drawingml/2006/main">
              <a:ext uri="{FF2B5EF4-FFF2-40B4-BE49-F238E27FC236}">
                <a16:creationId xmlns:a16="http://schemas.microsoft.com/office/drawing/2014/main" id="{243F9383-81B9-4E92-805C-3F7675C8BF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2" name="Google Shape;22;p6">
            <a:extLst xmlns:a="http://schemas.openxmlformats.org/drawingml/2006/main">
              <a:ext uri="{FF2B5EF4-FFF2-40B4-BE49-F238E27FC236}">
                <a16:creationId xmlns:a16="http://schemas.microsoft.com/office/drawing/2014/main" id="{E3D15A95-EEFC-41BF-AADB-5035EB1B84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/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Google Shape;24;p7">
            <a:extLst xmlns:a="http://schemas.openxmlformats.org/drawingml/2006/main">
              <a:ext uri="{FF2B5EF4-FFF2-40B4-BE49-F238E27FC236}">
                <a16:creationId xmlns:a16="http://schemas.microsoft.com/office/drawing/2014/main" id="{06CC937B-DDD7-4377-8783-7D8431A761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/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8">
            <a:extLst xmlns:a="http://schemas.openxmlformats.org/drawingml/2006/main">
              <a:ext uri="{FF2B5EF4-FFF2-40B4-BE49-F238E27FC236}">
                <a16:creationId xmlns:a16="http://schemas.microsoft.com/office/drawing/2014/main" id="{32989531-8F8B-4736-AA3A-966408363A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7" name="Google Shape;27;p8">
            <a:extLst xmlns:a="http://schemas.openxmlformats.org/drawingml/2006/main">
              <a:ext uri="{FF2B5EF4-FFF2-40B4-BE49-F238E27FC236}">
                <a16:creationId xmlns:a16="http://schemas.microsoft.com/office/drawing/2014/main" id="{F80F80D5-2C5A-4973-B7A8-E4C5E6E418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8" name="Google Shape;28;p8">
            <a:extLst xmlns:a="http://schemas.openxmlformats.org/drawingml/2006/main">
              <a:ext uri="{FF2B5EF4-FFF2-40B4-BE49-F238E27FC236}">
                <a16:creationId xmlns:a16="http://schemas.microsoft.com/office/drawing/2014/main" id="{759C02D3-105F-4F03-AFF8-FEED647410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/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Google Shape;30;p9">
            <a:extLst xmlns:a="http://schemas.openxmlformats.org/drawingml/2006/main">
              <a:ext uri="{FF2B5EF4-FFF2-40B4-BE49-F238E27FC236}">
                <a16:creationId xmlns:a16="http://schemas.microsoft.com/office/drawing/2014/main" id="{7FFBD402-3647-44AE-BEC9-D69B0912B1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31" name="Google Shape;31;p9">
            <a:extLst xmlns:a="http://schemas.openxmlformats.org/drawingml/2006/main">
              <a:ext uri="{FF2B5EF4-FFF2-40B4-BE49-F238E27FC236}">
                <a16:creationId xmlns:a16="http://schemas.microsoft.com/office/drawing/2014/main" id="{E2549DA2-0BB2-4BB3-B2C1-CBD5C0A2AC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/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7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10">
            <a:extLst xmlns:a="http://schemas.openxmlformats.org/drawingml/2006/main">
              <a:ext uri="{FF2B5EF4-FFF2-40B4-BE49-F238E27FC236}">
                <a16:creationId xmlns:a16="http://schemas.microsoft.com/office/drawing/2014/main" id="{5D3BBCED-B6ED-4B8E-8EE6-D1D74A832E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/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58bc4b80c48c1" /><Relationship Type="http://schemas.openxmlformats.org/officeDocument/2006/relationships/image" Target="/ppt/media/image.png" Id="R57a08d1c73e641b6" /><Relationship Type="http://schemas.openxmlformats.org/officeDocument/2006/relationships/notesSlide" Target="/ppt/notesSlides/notesSlide1.xml" Id="Rbf2ef4233ddd4c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76945fb9a6c4041" /><Relationship Type="http://schemas.openxmlformats.org/officeDocument/2006/relationships/notesSlide" Target="/ppt/notesSlides/notesSlide2.xml" Id="R113d10fe8e9649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28e81a2fc494ad2" /><Relationship Type="http://schemas.openxmlformats.org/officeDocument/2006/relationships/image" Target="/ppt/media/image.jpeg" Id="R74f17ec2a6434813" /><Relationship Type="http://schemas.openxmlformats.org/officeDocument/2006/relationships/image" Target="/ppt/media/image2.jpeg" Id="R320c888df6ba47ba" /><Relationship Type="http://schemas.openxmlformats.org/officeDocument/2006/relationships/notesSlide" Target="/ppt/notesSlides/notesSlide3.xml" Id="Rdad491ef025248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7f8c2433ce7461a" /><Relationship Type="http://schemas.openxmlformats.org/officeDocument/2006/relationships/image" Target="/ppt/media/image3.jpeg" Id="Rb5d3937a49294293" /><Relationship Type="http://schemas.openxmlformats.org/officeDocument/2006/relationships/notesSlide" Target="/ppt/notesSlides/notesSlide4.xml" Id="Re32820505c3b40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5375d12b1bb45de" /><Relationship Type="http://schemas.openxmlformats.org/officeDocument/2006/relationships/image" Target="/ppt/media/image4.jpeg" Id="Re5c4ac3e99a248a0" /><Relationship Type="http://schemas.openxmlformats.org/officeDocument/2006/relationships/notesSlide" Target="/ppt/notesSlides/notesSlide5.xml" Id="Rbee20ce0a0b74b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f99f014724e44ac" /><Relationship Type="http://schemas.openxmlformats.org/officeDocument/2006/relationships/notesSlide" Target="/ppt/notesSlides/notesSlide6.xml" Id="R2bd73333ddf947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3f48116e05c4e83" /><Relationship Type="http://schemas.openxmlformats.org/officeDocument/2006/relationships/notesSlide" Target="/ppt/notesSlides/notesSlide7.xml" Id="Rf80cc1a76acd42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f73a9522d394662" /><Relationship Type="http://schemas.openxmlformats.org/officeDocument/2006/relationships/notesSlide" Target="/ppt/notesSlides/notesSlide8.xml" Id="R65fbad33469347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e9c0717e334c6c" /><Relationship Type="http://schemas.openxmlformats.org/officeDocument/2006/relationships/notesSlide" Target="/ppt/notesSlides/notesSlide9.xml" Id="R893f2ed69a664d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a8ef27d5414658" /><Relationship Type="http://schemas.openxmlformats.org/officeDocument/2006/relationships/notesSlide" Target="/ppt/notesSlides/notesSlide10.xml" Id="Rac0c53746c7d4b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94da3999794dbd" /><Relationship Type="http://schemas.openxmlformats.org/officeDocument/2006/relationships/notesSlide" Target="/ppt/notesSlides/notesSlide11.xml" Id="R8b0b6c76fac740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c634c22a51489c" /><Relationship Type="http://schemas.openxmlformats.org/officeDocument/2006/relationships/image" Target="/ppt/media/image2.png" Id="R51f9c13f4bfa4624" /><Relationship Type="http://schemas.openxmlformats.org/officeDocument/2006/relationships/notesSlide" Target="/ppt/notesSlides/notesSlide12.xml" Id="R3b8350a208774d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5935ccee5ed4dc1" /><Relationship Type="http://schemas.openxmlformats.org/officeDocument/2006/relationships/notesSlide" Target="/ppt/notesSlides/notesSlide13.xml" Id="R8f20ff2675ad411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3e129a63e648d2" /><Relationship Type="http://schemas.openxmlformats.org/officeDocument/2006/relationships/image" Target="/ppt/media/image3.png" Id="Rf46bb6647e6f41ce" /><Relationship Type="http://schemas.openxmlformats.org/officeDocument/2006/relationships/image" Target="/ppt/media/image4.png" Id="R4fd7f3fa6882488e" /><Relationship Type="http://schemas.openxmlformats.org/officeDocument/2006/relationships/notesSlide" Target="/ppt/notesSlides/notesSlide14.xml" Id="R9de8804c3b964e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8bc7b9fe594811" /><Relationship Type="http://schemas.openxmlformats.org/officeDocument/2006/relationships/image" Target="/ppt/media/image5.png" Id="R77d0e03140f14b9b" /><Relationship Type="http://schemas.openxmlformats.org/officeDocument/2006/relationships/image" Target="/ppt/media/image6.png" Id="R94a7e637991b4420" /><Relationship Type="http://schemas.openxmlformats.org/officeDocument/2006/relationships/notesSlide" Target="/ppt/notesSlides/notesSlide15.xml" Id="Ra300be2d4af947c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ade236d3574664" /><Relationship Type="http://schemas.openxmlformats.org/officeDocument/2006/relationships/image" Target="/ppt/media/image7.png" Id="R2112e349699f4cd0" /><Relationship Type="http://schemas.openxmlformats.org/officeDocument/2006/relationships/image" Target="/ppt/media/image8.png" Id="R189c565e35fb4409" /><Relationship Type="http://schemas.openxmlformats.org/officeDocument/2006/relationships/notesSlide" Target="/ppt/notesSlides/notesSlide16.xml" Id="R73468c3bdb3f4df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81c859aa6d4cc6" /><Relationship Type="http://schemas.openxmlformats.org/officeDocument/2006/relationships/image" Target="/ppt/media/image9.png" Id="R350efc69fa9f4d5c" /><Relationship Type="http://schemas.openxmlformats.org/officeDocument/2006/relationships/image" Target="/ppt/media/image10.png" Id="R320113bc0e2f43d4" /><Relationship Type="http://schemas.openxmlformats.org/officeDocument/2006/relationships/notesSlide" Target="/ppt/notesSlides/notesSlide17.xml" Id="R6c2b388c3442403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5c8b3c28194d72" /><Relationship Type="http://schemas.openxmlformats.org/officeDocument/2006/relationships/notesSlide" Target="/ppt/notesSlides/notesSlide18.xml" Id="R8aa741b0606145a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27e8d4391c04be1" /><Relationship Type="http://schemas.openxmlformats.org/officeDocument/2006/relationships/notesSlide" Target="/ppt/notesSlides/notesSlide19.xml" Id="R5dcbb7eee2d4479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6c56dd7a3c4afe" /><Relationship Type="http://schemas.openxmlformats.org/officeDocument/2006/relationships/notesSlide" Target="/ppt/notesSlides/notesSlide20.xml" Id="R765585a0b7fc4b8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454465d8e146bb" /><Relationship Type="http://schemas.openxmlformats.org/officeDocument/2006/relationships/notesSlide" Target="/ppt/notesSlides/notesSlide21.xml" Id="R2efe7bc1303c4de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3e8bb6b9e549f1" /><Relationship Type="http://schemas.openxmlformats.org/officeDocument/2006/relationships/notesSlide" Target="/ppt/notesSlides/notesSlide22.xml" Id="Rcd59f09a15e042b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ecfce7628d464f" /><Relationship Type="http://schemas.openxmlformats.org/officeDocument/2006/relationships/notesSlide" Target="/ppt/notesSlides/notesSlide23.xml" Id="Re7e7111c65ad4e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Google Shape;39;p11">
            <a:extLst xmlns:a="http://schemas.openxmlformats.org/drawingml/2006/main">
              <a:ext uri="{FF2B5EF4-FFF2-40B4-BE49-F238E27FC236}">
                <a16:creationId xmlns:a16="http://schemas.microsoft.com/office/drawing/2014/main" id="{900F450F-9EC2-476A-B603-82639C3874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7a08d1c73e641b6">
            <a:alphaModFix/>
          </a:blip>
          <a:srcRect xmlns:a="http://schemas.openxmlformats.org/drawingml/2006/main" l="1167" t="20364" r="64008" b="28182"/>
          <a:stretch xmlns:a="http://schemas.openxmlformats.org/drawingml/2006/main"/>
        </p:blipFill>
        <p:spPr>
          <a:xfrm xmlns:a="http://schemas.openxmlformats.org/drawingml/2006/main">
            <a:off x="7391400" y="2133600"/>
            <a:ext cx="4114800" cy="2343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0" name="Google Shape;40;p11">
            <a:extLst xmlns:a="http://schemas.openxmlformats.org/drawingml/2006/main">
              <a:ext uri="{FF2B5EF4-FFF2-40B4-BE49-F238E27FC236}">
                <a16:creationId xmlns:a16="http://schemas.microsoft.com/office/drawing/2014/main" id="{8A254E6C-2875-4C23-BD5E-6B081F7E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80"/>
            <a:ext cx="5905080" cy="53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FC 足球世界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Google Shape;41;p11">
            <a:extLst xmlns:a="http://schemas.openxmlformats.org/drawingml/2006/main">
              <a:ext uri="{FF2B5EF4-FFF2-40B4-BE49-F238E27FC236}">
                <a16:creationId xmlns:a16="http://schemas.microsoft.com/office/drawing/2014/main" id="{94867B19-6A70-4F8E-993C-26A49B13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200"/>
            <a:ext cx="6571800" cy="192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赛季活动设计</a:t>
            </a:r>
            <a:endParaRPr sz="5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合作提案</a:t>
            </a:r>
            <a:endParaRPr sz="5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Google Shape;42;p11">
            <a:extLst xmlns:a="http://schemas.openxmlformats.org/drawingml/2006/main">
              <a:ext uri="{FF2B5EF4-FFF2-40B4-BE49-F238E27FC236}">
                <a16:creationId xmlns:a16="http://schemas.microsoft.com/office/drawing/2014/main" id="{8CF7EC80-7F0B-45CA-ACC0-0D310E87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4229280"/>
            <a:ext cx="638136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通过一期试点，建立持续的活动内容交付合作</a:t>
            </a:r>
            <a:endParaRPr sz="202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Google Shape;43;p11">
            <a:extLst xmlns:a="http://schemas.openxmlformats.org/drawingml/2006/main">
              <a:ext uri="{FF2B5EF4-FFF2-40B4-BE49-F238E27FC236}">
                <a16:creationId xmlns:a16="http://schemas.microsoft.com/office/drawing/2014/main" id="{13FBDBB9-A1C6-4AD7-880C-7443BF9F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5962680"/>
            <a:ext cx="333324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30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合作讨论稿</a:t>
            </a:r>
            <a:endParaRPr sz="143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86237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F1AA98C7-8F77-40FA-B143-A1228CC4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历史FC赛季活动研究样本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Google Shape;50;p12">
            <a:extLst xmlns:a="http://schemas.openxmlformats.org/drawingml/2006/main">
              <a:ext uri="{FF2B5EF4-FFF2-40B4-BE49-F238E27FC236}">
                <a16:creationId xmlns:a16="http://schemas.microsoft.com/office/drawing/2014/main" id="{6C51B44F-FFBC-4C73-81E8-E82C018E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选取较典型的四种主题与机制组合，比较参与、推进、奖励和开放节奏。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Google Shape;51;p12">
            <a:extLst xmlns:a="http://schemas.openxmlformats.org/drawingml/2006/main">
              <a:ext uri="{FF2B5EF4-FFF2-40B4-BE49-F238E27FC236}">
                <a16:creationId xmlns:a16="http://schemas.microsoft.com/office/drawing/2014/main" id="{E5D0611D-518D-4E41-85A5-DF89A471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Google Shape;52;p12">
            <a:extLst xmlns:a="http://schemas.openxmlformats.org/drawingml/2006/main">
              <a:ext uri="{FF2B5EF4-FFF2-40B4-BE49-F238E27FC236}">
                <a16:creationId xmlns:a16="http://schemas.microsoft.com/office/drawing/2014/main" id="{D2637347-4A50-480D-9586-FF10143D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219400"/>
            <a:ext cx="13806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2024.06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Google Shape;53;p12">
            <a:extLst xmlns:a="http://schemas.openxmlformats.org/drawingml/2006/main">
              <a:ext uri="{FF2B5EF4-FFF2-40B4-BE49-F238E27FC236}">
                <a16:creationId xmlns:a16="http://schemas.microsoft.com/office/drawing/2014/main" id="{6A9D754C-AA62-4991-A632-A187B41A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320" y="2190600"/>
            <a:ext cx="2714400" cy="40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欧洲杯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Google Shape;54;p12">
            <a:extLst xmlns:a="http://schemas.openxmlformats.org/drawingml/2006/main">
              <a:ext uri="{FF2B5EF4-FFF2-40B4-BE49-F238E27FC236}">
                <a16:creationId xmlns:a16="http://schemas.microsoft.com/office/drawing/2014/main" id="{6B4CCF45-D89D-4376-9C9A-03363ADA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040" y="2200320"/>
            <a:ext cx="19998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真实赛事联动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Google Shape;55;p12">
            <a:extLst xmlns:a="http://schemas.openxmlformats.org/drawingml/2006/main">
              <a:ext uri="{FF2B5EF4-FFF2-40B4-BE49-F238E27FC236}">
                <a16:creationId xmlns:a16="http://schemas.microsoft.com/office/drawing/2014/main" id="{35864E83-2CC2-4C0E-8B3F-7F1C320D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200" y="2219400"/>
            <a:ext cx="39049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锦标赛、竞猜与主题球员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Google Shape;56;p12">
            <a:extLst xmlns:a="http://schemas.openxmlformats.org/drawingml/2006/main">
              <a:ext uri="{FF2B5EF4-FFF2-40B4-BE49-F238E27FC236}">
                <a16:creationId xmlns:a16="http://schemas.microsoft.com/office/drawing/2014/main" id="{4E36AAF5-8D85-4C55-AF62-EC58CFA1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086280"/>
            <a:ext cx="13806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2025.01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Google Shape;57;p12">
            <a:extLst xmlns:a="http://schemas.openxmlformats.org/drawingml/2006/main">
              <a:ext uri="{FF2B5EF4-FFF2-40B4-BE49-F238E27FC236}">
                <a16:creationId xmlns:a16="http://schemas.microsoft.com/office/drawing/2014/main" id="{F85C3676-CE52-4887-BA5C-87586A11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320" y="3057480"/>
            <a:ext cx="2714400" cy="40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年度最佳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Google Shape;58;p12">
            <a:extLst xmlns:a="http://schemas.openxmlformats.org/drawingml/2006/main">
              <a:ext uri="{FF2B5EF4-FFF2-40B4-BE49-F238E27FC236}">
                <a16:creationId xmlns:a16="http://schemas.microsoft.com/office/drawing/2014/main" id="{DAA13818-C489-4C6E-B344-721BE925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040" y="3067200"/>
            <a:ext cx="19998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年度荣誉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Google Shape;59;p12">
            <a:extLst xmlns:a="http://schemas.openxmlformats.org/drawingml/2006/main">
              <a:ext uri="{FF2B5EF4-FFF2-40B4-BE49-F238E27FC236}">
                <a16:creationId xmlns:a16="http://schemas.microsoft.com/office/drawing/2014/main" id="{6A986B16-6842-4D56-A375-5B249560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200" y="3086280"/>
            <a:ext cx="39049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章节、奖励路径与拼图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Google Shape;60;p12">
            <a:extLst xmlns:a="http://schemas.openxmlformats.org/drawingml/2006/main">
              <a:ext uri="{FF2B5EF4-FFF2-40B4-BE49-F238E27FC236}">
                <a16:creationId xmlns:a16="http://schemas.microsoft.com/office/drawing/2014/main" id="{1DCFAFC7-5F30-42D7-9868-4085E549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952800"/>
            <a:ext cx="13806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2026.02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Google Shape;61;p12">
            <a:extLst xmlns:a="http://schemas.openxmlformats.org/drawingml/2006/main">
              <a:ext uri="{FF2B5EF4-FFF2-40B4-BE49-F238E27FC236}">
                <a16:creationId xmlns:a16="http://schemas.microsoft.com/office/drawing/2014/main" id="{581B4ADE-6B8C-472A-B578-9580E76F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320" y="3924360"/>
            <a:ext cx="2714400" cy="40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马上过足瘾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Google Shape;62;p12">
            <a:extLst xmlns:a="http://schemas.openxmlformats.org/drawingml/2006/main">
              <a:ext uri="{FF2B5EF4-FFF2-40B4-BE49-F238E27FC236}">
                <a16:creationId xmlns:a16="http://schemas.microsoft.com/office/drawing/2014/main" id="{DAE9CC3F-8C6B-4260-A6E7-1A6D9A83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040" y="3933720"/>
            <a:ext cx="19998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春节庆典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Google Shape;63;p12">
            <a:extLst xmlns:a="http://schemas.openxmlformats.org/drawingml/2006/main">
              <a:ext uri="{FF2B5EF4-FFF2-40B4-BE49-F238E27FC236}">
                <a16:creationId xmlns:a16="http://schemas.microsoft.com/office/drawing/2014/main" id="{D67791C9-D4C3-4E33-A67B-15A0173A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200" y="3952800"/>
            <a:ext cx="39049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福气累积、年兽挑战与球员升级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Google Shape;64;p12">
            <a:extLst xmlns:a="http://schemas.openxmlformats.org/drawingml/2006/main">
              <a:ext uri="{FF2B5EF4-FFF2-40B4-BE49-F238E27FC236}">
                <a16:creationId xmlns:a16="http://schemas.microsoft.com/office/drawing/2014/main" id="{536CE048-E355-4D18-AC74-1D48FAD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4819680"/>
            <a:ext cx="13806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2026.04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Google Shape;65;p12">
            <a:extLst xmlns:a="http://schemas.openxmlformats.org/drawingml/2006/main">
              <a:ext uri="{FF2B5EF4-FFF2-40B4-BE49-F238E27FC236}">
                <a16:creationId xmlns:a16="http://schemas.microsoft.com/office/drawing/2014/main" id="{FA3DE906-8E50-4801-8A95-EDA47294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320" y="4791240"/>
            <a:ext cx="2714400" cy="40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欧冠荣耀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Google Shape;66;p12">
            <a:extLst xmlns:a="http://schemas.openxmlformats.org/drawingml/2006/main">
              <a:ext uri="{FF2B5EF4-FFF2-40B4-BE49-F238E27FC236}">
                <a16:creationId xmlns:a16="http://schemas.microsoft.com/office/drawing/2014/main" id="{DFE2DBCD-59F0-44D8-B604-4293395C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040" y="4800600"/>
            <a:ext cx="19998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赛事回顾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Google Shape;67;p12">
            <a:extLst xmlns:a="http://schemas.openxmlformats.org/drawingml/2006/main">
              <a:ext uri="{FF2B5EF4-FFF2-40B4-BE49-F238E27FC236}">
                <a16:creationId xmlns:a16="http://schemas.microsoft.com/office/drawing/2014/main" id="{761C28D2-0E36-4C6D-ACD4-DCC51861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200" y="4819680"/>
            <a:ext cx="39049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问答、决赛重现与票券兑换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Google Shape;68;p12">
            <a:extLst xmlns:a="http://schemas.openxmlformats.org/drawingml/2006/main">
              <a:ext uri="{FF2B5EF4-FFF2-40B4-BE49-F238E27FC236}">
                <a16:creationId xmlns:a16="http://schemas.microsoft.com/office/drawing/2014/main" id="{14029FAB-A720-47D6-B59B-BF4D5C09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6076800"/>
            <a:ext cx="1047708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strike="noStrike" cap="none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研究范围：国服《FC足球世界》官方公告与配图，非全量历史活动盘点</a:t>
            </a:r>
            <a:endParaRPr sz="13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69458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13">
            <a:extLst xmlns:a="http://schemas.openxmlformats.org/drawingml/2006/main">
              <a:ext uri="{FF2B5EF4-FFF2-40B4-BE49-F238E27FC236}">
                <a16:creationId xmlns:a16="http://schemas.microsoft.com/office/drawing/2014/main" id="{42CFC834-0B42-4568-9044-2966DDCD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年度最佳：章节之间存在资源衔接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Google Shape;75;p13">
            <a:extLst xmlns:a="http://schemas.openxmlformats.org/drawingml/2006/main">
              <a:ext uri="{FF2B5EF4-FFF2-40B4-BE49-F238E27FC236}">
                <a16:creationId xmlns:a16="http://schemas.microsoft.com/office/drawing/2014/main" id="{96F21110-133F-4BC6-B3FE-C1DDBE2F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42天活动分阶段开放，奖励路径产生的票券继续用于拼图。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Google Shape;76;p13">
            <a:extLst xmlns:a="http://schemas.openxmlformats.org/drawingml/2006/main">
              <a:ext uri="{FF2B5EF4-FFF2-40B4-BE49-F238E27FC236}">
                <a16:creationId xmlns:a16="http://schemas.microsoft.com/office/drawing/2014/main" id="{C66391C2-E6C7-498A-AACC-47A17063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7" name="Google Shape;77;p13">
            <a:extLst xmlns:a="http://schemas.openxmlformats.org/drawingml/2006/main">
              <a:ext uri="{FF2B5EF4-FFF2-40B4-BE49-F238E27FC236}">
                <a16:creationId xmlns:a16="http://schemas.microsoft.com/office/drawing/2014/main" id="{C7FD086D-8C4F-4AAB-B29B-F3DDD22C1F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4f17ec2a643481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2096280"/>
            <a:ext cx="5238360" cy="237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8" name="Google Shape;78;p13">
            <a:extLst xmlns:a="http://schemas.openxmlformats.org/drawingml/2006/main">
              <a:ext uri="{FF2B5EF4-FFF2-40B4-BE49-F238E27FC236}">
                <a16:creationId xmlns:a16="http://schemas.microsoft.com/office/drawing/2014/main" id="{1B457275-D5E7-4260-90BE-5E43A5BBBB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20c888df6ba47b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67600" y="2096280"/>
            <a:ext cx="5238360" cy="237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9" name="Google Shape;79;p13">
            <a:extLst xmlns:a="http://schemas.openxmlformats.org/drawingml/2006/main">
              <a:ext uri="{FF2B5EF4-FFF2-40B4-BE49-F238E27FC236}">
                <a16:creationId xmlns:a16="http://schemas.microsoft.com/office/drawing/2014/main" id="{A6E0DFA3-DEFE-4EFD-AC07-292ACFAE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4657680"/>
            <a:ext cx="519084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入口组织五个章节，首期开放其中三个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Google Shape;80;p13">
            <a:extLst xmlns:a="http://schemas.openxmlformats.org/drawingml/2006/main">
              <a:ext uri="{FF2B5EF4-FFF2-40B4-BE49-F238E27FC236}">
                <a16:creationId xmlns:a16="http://schemas.microsoft.com/office/drawing/2014/main" id="{4055D6C5-51CA-4E4A-9E6D-C4DB09B4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400" y="4657680"/>
            <a:ext cx="523836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登录和赛事产出代币，用于推进球员之旅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Google Shape;81;p13">
            <a:extLst xmlns:a="http://schemas.openxmlformats.org/drawingml/2006/main">
              <a:ext uri="{FF2B5EF4-FFF2-40B4-BE49-F238E27FC236}">
                <a16:creationId xmlns:a16="http://schemas.microsoft.com/office/drawing/2014/main" id="{226AD65D-A9D9-4542-8C57-F7AFB11D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5334120"/>
            <a:ext cx="1066752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路径节点产出票券，拼图累计完成后解锁特惠交换。</a:t>
            </a:r>
            <a:endParaRPr sz="202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55301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p14">
            <a:extLst xmlns:a="http://schemas.openxmlformats.org/drawingml/2006/main">
              <a:ext uri="{FF2B5EF4-FFF2-40B4-BE49-F238E27FC236}">
                <a16:creationId xmlns:a16="http://schemas.microsoft.com/office/drawing/2014/main" id="{0C032FAA-D6FB-4533-B7FF-90B02334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春节：累计进度与球员升级并行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Google Shape;88;p14">
            <a:extLst xmlns:a="http://schemas.openxmlformats.org/drawingml/2006/main">
              <a:ext uri="{FF2B5EF4-FFF2-40B4-BE49-F238E27FC236}">
                <a16:creationId xmlns:a16="http://schemas.microsoft.com/office/drawing/2014/main" id="{3A5EA9B4-E00F-4ADA-B79E-36C6322C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节庆主题落实到挑战形式、开放日历和奖励成长。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Google Shape;89;p14">
            <a:extLst xmlns:a="http://schemas.openxmlformats.org/drawingml/2006/main">
              <a:ext uri="{FF2B5EF4-FFF2-40B4-BE49-F238E27FC236}">
                <a16:creationId xmlns:a16="http://schemas.microsoft.com/office/drawing/2014/main" id="{5F4F5B69-69D4-420B-945B-A58D9448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0" name="Google Shape;90;p14">
            <a:extLst xmlns:a="http://schemas.openxmlformats.org/drawingml/2006/main">
              <a:ext uri="{FF2B5EF4-FFF2-40B4-BE49-F238E27FC236}">
                <a16:creationId xmlns:a16="http://schemas.microsoft.com/office/drawing/2014/main" id="{FFD60E91-B51A-4B78-A5D3-753AAFC345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5d3937a4929429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4680" y="1971720"/>
            <a:ext cx="2141280" cy="392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1" name="Google Shape;91;p14">
            <a:extLst xmlns:a="http://schemas.openxmlformats.org/drawingml/2006/main">
              <a:ext uri="{FF2B5EF4-FFF2-40B4-BE49-F238E27FC236}">
                <a16:creationId xmlns:a16="http://schemas.microsoft.com/office/drawing/2014/main" id="{9019F729-21D8-463C-9BFD-75861CAE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40" y="2190600"/>
            <a:ext cx="79052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每日参与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Google Shape;92;p14">
            <a:extLst xmlns:a="http://schemas.openxmlformats.org/drawingml/2006/main">
              <a:ext uri="{FF2B5EF4-FFF2-40B4-BE49-F238E27FC236}">
                <a16:creationId xmlns:a16="http://schemas.microsoft.com/office/drawing/2014/main" id="{96D1ADF0-F34C-4500-853C-923CCFF0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40" y="2695680"/>
            <a:ext cx="7905240" cy="52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首场多人对战与每日挑战积累福气值。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Google Shape;93;p14">
            <a:extLst xmlns:a="http://schemas.openxmlformats.org/drawingml/2006/main">
              <a:ext uri="{FF2B5EF4-FFF2-40B4-BE49-F238E27FC236}">
                <a16:creationId xmlns:a16="http://schemas.microsoft.com/office/drawing/2014/main" id="{BD3AB945-BD18-449A-B143-92AA92D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40" y="3362400"/>
            <a:ext cx="79052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阶段目标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Google Shape;94;p14">
            <a:extLst xmlns:a="http://schemas.openxmlformats.org/drawingml/2006/main">
              <a:ext uri="{FF2B5EF4-FFF2-40B4-BE49-F238E27FC236}">
                <a16:creationId xmlns:a16="http://schemas.microsoft.com/office/drawing/2014/main" id="{93136F17-DED6-4E16-B54A-ACD1766B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40" y="3867120"/>
            <a:ext cx="7905240" cy="52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升级福袋、领取里程碑，完成年兽挑战。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Google Shape;95;p14">
            <a:extLst xmlns:a="http://schemas.openxmlformats.org/drawingml/2006/main">
              <a:ext uri="{FF2B5EF4-FFF2-40B4-BE49-F238E27FC236}">
                <a16:creationId xmlns:a16="http://schemas.microsoft.com/office/drawing/2014/main" id="{A3529D0C-C1A4-48F8-AA7D-E1045EB3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40" y="4533840"/>
            <a:ext cx="79052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持续成长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5520E34A-9B51-4178-A7BD-09E1E10A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40" y="5038560"/>
            <a:ext cx="7905240" cy="52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鸿运叠彩累计14日任务，交换升级球员。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07156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15">
            <a:extLst xmlns:a="http://schemas.openxmlformats.org/drawingml/2006/main">
              <a:ext uri="{FF2B5EF4-FFF2-40B4-BE49-F238E27FC236}">
                <a16:creationId xmlns:a16="http://schemas.microsoft.com/office/drawing/2014/main" id="{611C21CC-383F-4153-89B2-E8D4E15E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赛事主题：现实进程与经典比赛两种组织方式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Google Shape;103;p15">
            <a:extLst xmlns:a="http://schemas.openxmlformats.org/drawingml/2006/main">
              <a:ext uri="{FF2B5EF4-FFF2-40B4-BE49-F238E27FC236}">
                <a16:creationId xmlns:a16="http://schemas.microsoft.com/office/drawing/2014/main" id="{BBE7148F-3689-4E5A-88E0-14B1AC42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欧洲杯连接当下赛况，欧冠荣耀重现比赛内容。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Google Shape;104;p15">
            <a:extLst xmlns:a="http://schemas.openxmlformats.org/drawingml/2006/main">
              <a:ext uri="{FF2B5EF4-FFF2-40B4-BE49-F238E27FC236}">
                <a16:creationId xmlns:a16="http://schemas.microsoft.com/office/drawing/2014/main" id="{D616DD12-62CA-404F-9996-8DC4E8B0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Google Shape;105;p15">
            <a:extLst xmlns:a="http://schemas.openxmlformats.org/drawingml/2006/main">
              <a:ext uri="{FF2B5EF4-FFF2-40B4-BE49-F238E27FC236}">
                <a16:creationId xmlns:a16="http://schemas.microsoft.com/office/drawing/2014/main" id="{F03D21E0-8B84-45A6-AE6A-7BB517FA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143080"/>
            <a:ext cx="419076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2024 欧洲杯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B023B2FD-9636-46A0-86B0-C2AB0DA7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2857680"/>
            <a:ext cx="4285800" cy="1599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24支参赛队的锦标赛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点数参与真实比赛竞猜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球员卡面随登场情况更新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Google Shape;107;p15">
            <a:extLst xmlns:a="http://schemas.openxmlformats.org/drawingml/2006/main">
              <a:ext uri="{FF2B5EF4-FFF2-40B4-BE49-F238E27FC236}">
                <a16:creationId xmlns:a16="http://schemas.microsoft.com/office/drawing/2014/main" id="{68ED6C5B-7A89-4577-98BD-60E4A9CA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4962600"/>
            <a:ext cx="4428720" cy="79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解读：赛事进程可以成为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回访理由和内容更新依据。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8" name="Google Shape;108;p15">
            <a:extLst xmlns:a="http://schemas.openxmlformats.org/drawingml/2006/main">
              <a:ext uri="{FF2B5EF4-FFF2-40B4-BE49-F238E27FC236}">
                <a16:creationId xmlns:a16="http://schemas.microsoft.com/office/drawing/2014/main" id="{F3260803-A45B-4031-8AD0-83C6DFBBD1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5c4ac3e99a248a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34120" y="2174400"/>
            <a:ext cx="6171840" cy="276588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9" name="Google Shape;109;p15">
            <a:extLst xmlns:a="http://schemas.openxmlformats.org/drawingml/2006/main">
              <a:ext uri="{FF2B5EF4-FFF2-40B4-BE49-F238E27FC236}">
                <a16:creationId xmlns:a16="http://schemas.microsoft.com/office/drawing/2014/main" id="{B5F2055F-3B94-4160-9B44-A0907D67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200" y="5124600"/>
            <a:ext cx="6152760" cy="666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2026 欧冠荣耀：完成决赛赛事，获得奖励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并解锁球员特价交换。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66265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Google Shape;115;p16">
            <a:extLst xmlns:a="http://schemas.openxmlformats.org/drawingml/2006/main">
              <a:ext uri="{FF2B5EF4-FFF2-40B4-BE49-F238E27FC236}">
                <a16:creationId xmlns:a16="http://schemas.microsoft.com/office/drawing/2014/main" id="{16D45460-4C7E-4D53-B333-E9368E77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四个样本的机制对照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Google Shape;116;p16">
            <a:extLst xmlns:a="http://schemas.openxmlformats.org/drawingml/2006/main">
              <a:ext uri="{FF2B5EF4-FFF2-40B4-BE49-F238E27FC236}">
                <a16:creationId xmlns:a16="http://schemas.microsoft.com/office/drawing/2014/main" id="{04CA1363-A2EE-4F6A-B8B8-0802DC91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相同的参与与奖励职能，可以由不同的规则承担。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Google Shape;117;p16">
            <a:extLst xmlns:a="http://schemas.openxmlformats.org/drawingml/2006/main">
              <a:ext uri="{FF2B5EF4-FFF2-40B4-BE49-F238E27FC236}">
                <a16:creationId xmlns:a16="http://schemas.microsoft.com/office/drawing/2014/main" id="{5FD11FA4-B0E3-4ACF-8D97-82101483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06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18" name="Google Shape;118;p16">
            <a:extLst xmlns:a="http://schemas.openxmlformats.org/drawingml/2006/main">
              <a:ext uri="{FF2B5EF4-FFF2-40B4-BE49-F238E27FC236}">
                <a16:creationId xmlns:a16="http://schemas.microsoft.com/office/drawing/2014/main" id="{BB41FABE-45E6-44D7-9C1B-944F89F5B297}"/>
              </a:ext>
            </a:extLst>
          </p:cNvPr>
          <p:cNvGraphicFramePr/>
          <p:nvPr/>
        </p:nvGraphicFramePr>
        <p:xfrm>
          <a:off xmlns:a="http://schemas.openxmlformats.org/drawingml/2006/main" x="685800" y="203832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{EF232EF9-F07A-4621-806C-EAF72860AC76}</a:tableStyleId>
              </a:tblPr>
              <a:tblGrid>
                <a:gridCol w="1562050"/>
                <a:gridCol w="2314450"/>
                <a:gridCol w="2314450"/>
                <a:gridCol w="2314450"/>
                <a:gridCol w="2314450"/>
              </a:tblGrid>
              <a:tr h="7772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年度最佳 [A]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春节 [B]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欧洲杯 [C]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欧冠荣耀 [D]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参与行为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登录、赛事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每周任务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对战、挑战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节日登录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锦标赛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比赛竞猜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对战、问答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主题赛事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推进机制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代币路径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票券拼图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福气里程碑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累计升级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赛程联动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赛事推进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问答里程碑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赛事与任务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奖励衔接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球员奖励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交换资格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福利、球员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升级交换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球员与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竞猜奖励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球员、票券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特价交换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节奏依据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分阶段开放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日常与每周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节日节点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14日累计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真实赛程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赛况更新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日常问答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分章节挑战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1010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7">
            <a:extLst xmlns:a="http://schemas.openxmlformats.org/drawingml/2006/main">
              <a:ext uri="{FF2B5EF4-FFF2-40B4-BE49-F238E27FC236}">
                <a16:creationId xmlns:a16="http://schemas.microsoft.com/office/drawing/2014/main" id="{3FDC663E-1DCA-47F1-9F84-F764695A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活动框架：共同职能与可变模块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Google Shape;125;p17">
            <a:extLst xmlns:a="http://schemas.openxmlformats.org/drawingml/2006/main">
              <a:ext uri="{FF2B5EF4-FFF2-40B4-BE49-F238E27FC236}">
                <a16:creationId xmlns:a16="http://schemas.microsoft.com/office/drawing/2014/main" id="{6D330F57-22E7-46E6-AE5D-F16FAC1C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以下是对历史样本的归纳，各模块可以并行，并非每期固定的线性流程。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Google Shape;126;p17">
            <a:extLst xmlns:a="http://schemas.openxmlformats.org/drawingml/2006/main">
              <a:ext uri="{FF2B5EF4-FFF2-40B4-BE49-F238E27FC236}">
                <a16:creationId xmlns:a16="http://schemas.microsoft.com/office/drawing/2014/main" id="{E56E7071-6455-42CC-BD7C-997B54C5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07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Google Shape;127;p17">
            <a:extLst xmlns:a="http://schemas.openxmlformats.org/drawingml/2006/main">
              <a:ext uri="{FF2B5EF4-FFF2-40B4-BE49-F238E27FC236}">
                <a16:creationId xmlns:a16="http://schemas.microsoft.com/office/drawing/2014/main" id="{7627DD0E-9905-45B3-894F-04DFCCB9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676680"/>
            <a:ext cx="1809360" cy="53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赛季活动</a:t>
            </a:r>
            <a:endParaRPr sz="25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28" name="Google Shape;128;p17">
            <a:extLst xmlns:a="http://schemas.openxmlformats.org/drawingml/2006/main">
              <a:ext uri="{FF2B5EF4-FFF2-40B4-BE49-F238E27FC236}">
                <a16:creationId xmlns:a16="http://schemas.microsoft.com/office/drawing/2014/main" id="{4187999C-4209-46A9-8A89-70CCE396D684}"/>
              </a:ext>
            </a:extLst>
          </p:cNvPr>
          <p:cNvCxnSpPr/>
          <p:nvPr/>
        </p:nvCxnSpPr>
        <p:spPr>
          <a:xfrm xmlns:a="http://schemas.openxmlformats.org/drawingml/2006/main">
            <a:off x="2323800" y="3895560"/>
            <a:ext cx="55260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" name="Google Shape;129;p17">
            <a:extLst xmlns:a="http://schemas.openxmlformats.org/drawingml/2006/main">
              <a:ext uri="{FF2B5EF4-FFF2-40B4-BE49-F238E27FC236}">
                <a16:creationId xmlns:a16="http://schemas.microsoft.com/office/drawing/2014/main" id="{F186BD0C-1080-480D-9700-1DF973834926}"/>
              </a:ext>
            </a:extLst>
          </p:cNvPr>
          <p:cNvCxnSpPr/>
          <p:nvPr/>
        </p:nvCxnSpPr>
        <p:spPr>
          <a:xfrm xmlns:a="http://schemas.openxmlformats.org/drawingml/2006/main">
            <a:off x="2876400" y="2333520"/>
            <a:ext cx="360" cy="312408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0" name="Google Shape;130;p17">
            <a:extLst xmlns:a="http://schemas.openxmlformats.org/drawingml/2006/main">
              <a:ext uri="{FF2B5EF4-FFF2-40B4-BE49-F238E27FC236}">
                <a16:creationId xmlns:a16="http://schemas.microsoft.com/office/drawing/2014/main" id="{DB5E1C12-1C9A-451E-84B6-443CB1DFB969}"/>
              </a:ext>
            </a:extLst>
          </p:cNvPr>
          <p:cNvCxnSpPr/>
          <p:nvPr/>
        </p:nvCxnSpPr>
        <p:spPr>
          <a:xfrm xmlns:a="http://schemas.openxmlformats.org/drawingml/2006/main">
            <a:off x="2876400" y="2333520"/>
            <a:ext cx="33336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1" name="Google Shape;131;p17">
            <a:extLst xmlns:a="http://schemas.openxmlformats.org/drawingml/2006/main">
              <a:ext uri="{FF2B5EF4-FFF2-40B4-BE49-F238E27FC236}">
                <a16:creationId xmlns:a16="http://schemas.microsoft.com/office/drawing/2014/main" id="{D451D4EB-C20E-40CB-86D0-99D3C190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480" y="2152800"/>
            <a:ext cx="21427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主题与入口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Google Shape;132;p17">
            <a:extLst xmlns:a="http://schemas.openxmlformats.org/drawingml/2006/main">
              <a:ext uri="{FF2B5EF4-FFF2-40B4-BE49-F238E27FC236}">
                <a16:creationId xmlns:a16="http://schemas.microsoft.com/office/drawing/2014/main" id="{9FDE620B-0000-41CC-927B-4DD6A274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2181240"/>
            <a:ext cx="56574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荣誉、赛事或节庆，组织章节导览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3" name="Google Shape;133;p17">
            <a:extLst xmlns:a="http://schemas.openxmlformats.org/drawingml/2006/main">
              <a:ext uri="{FF2B5EF4-FFF2-40B4-BE49-F238E27FC236}">
                <a16:creationId xmlns:a16="http://schemas.microsoft.com/office/drawing/2014/main" id="{AAAE419E-C690-4219-B088-428F03E452B9}"/>
              </a:ext>
            </a:extLst>
          </p:cNvPr>
          <p:cNvCxnSpPr/>
          <p:nvPr/>
        </p:nvCxnSpPr>
        <p:spPr>
          <a:xfrm xmlns:a="http://schemas.openxmlformats.org/drawingml/2006/main">
            <a:off x="2876400" y="3114360"/>
            <a:ext cx="33336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" name="Google Shape;134;p17">
            <a:extLst xmlns:a="http://schemas.openxmlformats.org/drawingml/2006/main">
              <a:ext uri="{FF2B5EF4-FFF2-40B4-BE49-F238E27FC236}">
                <a16:creationId xmlns:a16="http://schemas.microsoft.com/office/drawing/2014/main" id="{E5DD3A46-9760-4A6D-8E5A-7A43C265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480" y="2933640"/>
            <a:ext cx="21427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每日参与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Google Shape;135;p17">
            <a:extLst xmlns:a="http://schemas.openxmlformats.org/drawingml/2006/main">
              <a:ext uri="{FF2B5EF4-FFF2-40B4-BE49-F238E27FC236}">
                <a16:creationId xmlns:a16="http://schemas.microsoft.com/office/drawing/2014/main" id="{A6060D80-A877-4F11-83BE-10CE3A74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2962440"/>
            <a:ext cx="56574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登录、对战、问答与任务，形成资源产出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6" name="Google Shape;136;p17">
            <a:extLst xmlns:a="http://schemas.openxmlformats.org/drawingml/2006/main">
              <a:ext uri="{FF2B5EF4-FFF2-40B4-BE49-F238E27FC236}">
                <a16:creationId xmlns:a16="http://schemas.microsoft.com/office/drawing/2014/main" id="{37E32C85-FE01-4A8F-AF89-534866C09A3E}"/>
              </a:ext>
            </a:extLst>
          </p:cNvPr>
          <p:cNvCxnSpPr/>
          <p:nvPr/>
        </p:nvCxnSpPr>
        <p:spPr>
          <a:xfrm xmlns:a="http://schemas.openxmlformats.org/drawingml/2006/main">
            <a:off x="2876400" y="3895560"/>
            <a:ext cx="33336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7" name="Google Shape;137;p17">
            <a:extLst xmlns:a="http://schemas.openxmlformats.org/drawingml/2006/main">
              <a:ext uri="{FF2B5EF4-FFF2-40B4-BE49-F238E27FC236}">
                <a16:creationId xmlns:a16="http://schemas.microsoft.com/office/drawing/2014/main" id="{242035C9-FE60-4B6B-B7E6-800B7E19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480" y="3714840"/>
            <a:ext cx="21427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推进与目标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Google Shape;138;p17">
            <a:extLst xmlns:a="http://schemas.openxmlformats.org/drawingml/2006/main">
              <a:ext uri="{FF2B5EF4-FFF2-40B4-BE49-F238E27FC236}">
                <a16:creationId xmlns:a16="http://schemas.microsoft.com/office/drawing/2014/main" id="{5E907307-0B15-4BFD-84DA-B27C0475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3743280"/>
            <a:ext cx="56574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路径、拼图、累计或挑战，支持不同进度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9" name="Google Shape;139;p17">
            <a:extLst xmlns:a="http://schemas.openxmlformats.org/drawingml/2006/main">
              <a:ext uri="{FF2B5EF4-FFF2-40B4-BE49-F238E27FC236}">
                <a16:creationId xmlns:a16="http://schemas.microsoft.com/office/drawing/2014/main" id="{604EC79D-227A-4938-855D-D842947A525A}"/>
              </a:ext>
            </a:extLst>
          </p:cNvPr>
          <p:cNvCxnSpPr/>
          <p:nvPr/>
        </p:nvCxnSpPr>
        <p:spPr>
          <a:xfrm xmlns:a="http://schemas.openxmlformats.org/drawingml/2006/main">
            <a:off x="2876400" y="4676760"/>
            <a:ext cx="33336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0" name="Google Shape;140;p17">
            <a:extLst xmlns:a="http://schemas.openxmlformats.org/drawingml/2006/main">
              <a:ext uri="{FF2B5EF4-FFF2-40B4-BE49-F238E27FC236}">
                <a16:creationId xmlns:a16="http://schemas.microsoft.com/office/drawing/2014/main" id="{FBD9D09A-6A45-4398-BDFD-D3914C4E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480" y="4495680"/>
            <a:ext cx="21427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奖励与交换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Google Shape;141;p17">
            <a:extLst xmlns:a="http://schemas.openxmlformats.org/drawingml/2006/main">
              <a:ext uri="{FF2B5EF4-FFF2-40B4-BE49-F238E27FC236}">
                <a16:creationId xmlns:a16="http://schemas.microsoft.com/office/drawing/2014/main" id="{4D4BF2F0-5EFC-431D-A461-BD8451FD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4524480"/>
            <a:ext cx="56574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直接奖励、代币兑换或解锁交换资格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42" name="Google Shape;142;p17">
            <a:extLst xmlns:a="http://schemas.openxmlformats.org/drawingml/2006/main">
              <a:ext uri="{FF2B5EF4-FFF2-40B4-BE49-F238E27FC236}">
                <a16:creationId xmlns:a16="http://schemas.microsoft.com/office/drawing/2014/main" id="{B3276FA9-69B1-4E49-A317-35CF5675362C}"/>
              </a:ext>
            </a:extLst>
          </p:cNvPr>
          <p:cNvCxnSpPr/>
          <p:nvPr/>
        </p:nvCxnSpPr>
        <p:spPr>
          <a:xfrm xmlns:a="http://schemas.openxmlformats.org/drawingml/2006/main">
            <a:off x="2876400" y="5457600"/>
            <a:ext cx="33336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" name="Google Shape;143;p17">
            <a:extLst xmlns:a="http://schemas.openxmlformats.org/drawingml/2006/main">
              <a:ext uri="{FF2B5EF4-FFF2-40B4-BE49-F238E27FC236}">
                <a16:creationId xmlns:a16="http://schemas.microsoft.com/office/drawing/2014/main" id="{B5D29A14-6570-4642-AC47-213C1D61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480" y="5276880"/>
            <a:ext cx="21427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成长与收集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Google Shape;144;p17">
            <a:extLst xmlns:a="http://schemas.openxmlformats.org/drawingml/2006/main">
              <a:ext uri="{FF2B5EF4-FFF2-40B4-BE49-F238E27FC236}">
                <a16:creationId xmlns:a16="http://schemas.microsoft.com/office/drawing/2014/main" id="{743CCAB9-D917-47CA-9455-4AB8B21D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5305320"/>
            <a:ext cx="56574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球员入队，衔接图鉴、徽章或队徽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Google Shape;145;p17">
            <a:extLst xmlns:a="http://schemas.openxmlformats.org/drawingml/2006/main">
              <a:ext uri="{FF2B5EF4-FFF2-40B4-BE49-F238E27FC236}">
                <a16:creationId xmlns:a16="http://schemas.microsoft.com/office/drawing/2014/main" id="{433E7316-6C15-4394-9B4E-B5FF1544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6076800"/>
            <a:ext cx="1047708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strike="noStrike" cap="none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开放节奏贯穿各模块，收集与成长规则随版本变化。</a:t>
            </a:r>
            <a:endParaRPr sz="13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81250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" name="Google Shape;151;p18">
            <a:extLst xmlns:a="http://schemas.openxmlformats.org/drawingml/2006/main">
              <a:ext uri="{FF2B5EF4-FFF2-40B4-BE49-F238E27FC236}">
                <a16:creationId xmlns:a16="http://schemas.microsoft.com/office/drawing/2014/main" id="{1A8B838F-33A2-48D0-93D5-D8BCA0F2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研究对新赛季设计的启示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Google Shape;152;p18">
            <a:extLst xmlns:a="http://schemas.openxmlformats.org/drawingml/2006/main">
              <a:ext uri="{FF2B5EF4-FFF2-40B4-BE49-F238E27FC236}">
                <a16:creationId xmlns:a16="http://schemas.microsoft.com/office/drawing/2014/main" id="{819CCAA4-164A-4650-88AB-5CCFBBD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将样本数据转化为可评审的设计选择和判断，指导在试点中的设计。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Google Shape;153;p18">
            <a:extLst xmlns:a="http://schemas.openxmlformats.org/drawingml/2006/main">
              <a:ext uri="{FF2B5EF4-FFF2-40B4-BE49-F238E27FC236}">
                <a16:creationId xmlns:a16="http://schemas.microsoft.com/office/drawing/2014/main" id="{A7F1FC09-9AC1-42CE-AC13-BFA859C0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08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54" name="Google Shape;154;p18">
            <a:extLst xmlns:a="http://schemas.openxmlformats.org/drawingml/2006/main">
              <a:ext uri="{FF2B5EF4-FFF2-40B4-BE49-F238E27FC236}">
                <a16:creationId xmlns:a16="http://schemas.microsoft.com/office/drawing/2014/main" id="{C6EC5131-9D9D-48F3-BF52-D01FA8052D00}"/>
              </a:ext>
            </a:extLst>
          </p:cNvPr>
          <p:cNvGraphicFramePr/>
          <p:nvPr/>
        </p:nvGraphicFramePr>
        <p:xfrm>
          <a:off xmlns:a="http://schemas.openxmlformats.org/drawingml/2006/main" x="685800" y="213372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{EF232EF9-F07A-4621-806C-EAF72860AC76}</a:tableStyleId>
              </a:tblPr>
              <a:tblGrid>
                <a:gridCol w="3466800"/>
                <a:gridCol w="3904925"/>
                <a:gridCol w="3447725"/>
              </a:tblGrid>
              <a:tr h="8809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样本观察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我们的设计判断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对应交付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8809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路径、拼图和里程碑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承担不同推进职能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选择适合主题的推进方式，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明确每个资源的用途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章节关系、资源流向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与门槛测算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8809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主题能改变比赛内容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或现实赛事联动方式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让球星特征进入挑战规则，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形成具体参与体验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关卡目标、比赛条件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与交互原型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8809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分阶段开放与日常累计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共同组织活动节奏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分别设计每日目标、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阶段目标与补领安排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内容日历、目标清单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与异常状态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  <p:sp>
        <p:nvSpPr>
          <p:cNvPr id="155" name="Google Shape;155;p18">
            <a:extLst xmlns:a="http://schemas.openxmlformats.org/drawingml/2006/main">
              <a:ext uri="{FF2B5EF4-FFF2-40B4-BE49-F238E27FC236}">
                <a16:creationId xmlns:a16="http://schemas.microsoft.com/office/drawing/2014/main" id="{B168445F-3002-4BF7-B10A-05487FD6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6076800"/>
            <a:ext cx="1047708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strike="noStrike" cap="none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本页为基于历史样本的设计提议</a:t>
            </a:r>
            <a:endParaRPr sz="13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30871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Google Shape;161;p19">
            <a:extLst xmlns:a="http://schemas.openxmlformats.org/drawingml/2006/main">
              <a:ext uri="{FF2B5EF4-FFF2-40B4-BE49-F238E27FC236}">
                <a16:creationId xmlns:a16="http://schemas.microsoft.com/office/drawing/2014/main" id="{64D745E6-32E0-46F2-8E20-F2359AFC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合作目标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Google Shape;162;p19">
            <a:extLst xmlns:a="http://schemas.openxmlformats.org/drawingml/2006/main">
              <a:ext uri="{FF2B5EF4-FFF2-40B4-BE49-F238E27FC236}">
                <a16:creationId xmlns:a16="http://schemas.microsoft.com/office/drawing/2014/main" id="{6547047A-E63F-49C3-AB3A-542C3208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基于上述研究，拟将活动设计落实为可排期、可制作、可验收的持续交付。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Google Shape;163;p19">
            <a:extLst xmlns:a="http://schemas.openxmlformats.org/drawingml/2006/main">
              <a:ext uri="{FF2B5EF4-FFF2-40B4-BE49-F238E27FC236}">
                <a16:creationId xmlns:a16="http://schemas.microsoft.com/office/drawing/2014/main" id="{AAB69230-DA37-4EA2-B7E6-B5D90352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09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Google Shape;164;p19">
            <a:extLst xmlns:a="http://schemas.openxmlformats.org/drawingml/2006/main">
              <a:ext uri="{FF2B5EF4-FFF2-40B4-BE49-F238E27FC236}">
                <a16:creationId xmlns:a16="http://schemas.microsoft.com/office/drawing/2014/main" id="{11F43FB4-8B42-483D-93EE-C7295FC5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400480"/>
            <a:ext cx="485748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主题表达</a:t>
            </a:r>
            <a:endParaRPr sz="24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Google Shape;165;p19">
            <a:extLst xmlns:a="http://schemas.openxmlformats.org/drawingml/2006/main">
              <a:ext uri="{FF2B5EF4-FFF2-40B4-BE49-F238E27FC236}">
                <a16:creationId xmlns:a16="http://schemas.microsoft.com/office/drawing/2014/main" id="{91EC8DB3-8A48-4241-9364-36EBB1CD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019320"/>
            <a:ext cx="4952520" cy="95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将主题落实到章节目标与玩家选择，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让球星特色影响参与方式。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Google Shape;166;p19">
            <a:extLst xmlns:a="http://schemas.openxmlformats.org/drawingml/2006/main">
              <a:ext uri="{FF2B5EF4-FFF2-40B4-BE49-F238E27FC236}">
                <a16:creationId xmlns:a16="http://schemas.microsoft.com/office/drawing/2014/main" id="{FF9B5FFF-1206-4B3C-96F9-B2327E64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200" y="2400480"/>
            <a:ext cx="485748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制作明确</a:t>
            </a:r>
            <a:endParaRPr sz="24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Google Shape;167;p19">
            <a:extLst xmlns:a="http://schemas.openxmlformats.org/drawingml/2006/main">
              <a:ext uri="{FF2B5EF4-FFF2-40B4-BE49-F238E27FC236}">
                <a16:creationId xmlns:a16="http://schemas.microsoft.com/office/drawing/2014/main" id="{EB6C942E-36DC-488C-87D4-DDF2BCA0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200" y="3019320"/>
            <a:ext cx="4952520" cy="95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同步交付规则、字段、界面状态与素材需求，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提前识别制作依赖。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Google Shape;168;p19">
            <a:extLst xmlns:a="http://schemas.openxmlformats.org/drawingml/2006/main">
              <a:ext uri="{FF2B5EF4-FFF2-40B4-BE49-F238E27FC236}">
                <a16:creationId xmlns:a16="http://schemas.microsoft.com/office/drawing/2014/main" id="{0DF10D60-4F78-4356-B54B-5697B524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4238640"/>
            <a:ext cx="485748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持续更新</a:t>
            </a:r>
            <a:endParaRPr sz="24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Google Shape;169;p19">
            <a:extLst xmlns:a="http://schemas.openxmlformats.org/drawingml/2006/main">
              <a:ext uri="{FF2B5EF4-FFF2-40B4-BE49-F238E27FC236}">
                <a16:creationId xmlns:a16="http://schemas.microsoft.com/office/drawing/2014/main" id="{D8E09325-1A4F-4F1E-B023-39033621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4857840"/>
            <a:ext cx="4952520" cy="95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将整期目标拆到每周内容与每日循环，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保持奖励路径清晰。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Google Shape;170;p19">
            <a:extLst xmlns:a="http://schemas.openxmlformats.org/drawingml/2006/main">
              <a:ext uri="{FF2B5EF4-FFF2-40B4-BE49-F238E27FC236}">
                <a16:creationId xmlns:a16="http://schemas.microsoft.com/office/drawing/2014/main" id="{7417AC94-45C9-40D7-B0A6-C810DCA1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200" y="4238640"/>
            <a:ext cx="485748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结果复盘</a:t>
            </a:r>
            <a:endParaRPr sz="24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Google Shape;171;p19">
            <a:extLst xmlns:a="http://schemas.openxmlformats.org/drawingml/2006/main">
              <a:ext uri="{FF2B5EF4-FFF2-40B4-BE49-F238E27FC236}">
                <a16:creationId xmlns:a16="http://schemas.microsoft.com/office/drawing/2014/main" id="{781FACE3-5DA5-4470-9995-B3BCA61E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200" y="4857840"/>
            <a:ext cx="4952520" cy="95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通过参与、完成和交付记录，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提出下一期的具体调整。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90735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7" name="Google Shape;177;p20">
            <a:extLst xmlns:a="http://schemas.openxmlformats.org/drawingml/2006/main">
              <a:ext uri="{FF2B5EF4-FFF2-40B4-BE49-F238E27FC236}">
                <a16:creationId xmlns:a16="http://schemas.microsoft.com/office/drawing/2014/main" id="{254720E2-C86B-45C9-A0DC-3BE10B47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合作范围与决策分工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Google Shape;178;p20">
            <a:extLst xmlns:a="http://schemas.openxmlformats.org/drawingml/2006/main">
              <a:ext uri="{FF2B5EF4-FFF2-40B4-BE49-F238E27FC236}">
                <a16:creationId xmlns:a16="http://schemas.microsoft.com/office/drawing/2014/main" id="{57914260-AAB1-413A-B7EB-448D4F5C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首期以活动内容设计为主，配置制作与上线执行按工具、权限和人员逐步扩大。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" name="Google Shape;179;p20">
            <a:extLst xmlns:a="http://schemas.openxmlformats.org/drawingml/2006/main">
              <a:ext uri="{FF2B5EF4-FFF2-40B4-BE49-F238E27FC236}">
                <a16:creationId xmlns:a16="http://schemas.microsoft.com/office/drawing/2014/main" id="{5DA5BDD9-5E1A-4B19-A8D0-EB673B1A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10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80" name="Google Shape;180;p20">
            <a:extLst xmlns:a="http://schemas.openxmlformats.org/drawingml/2006/main">
              <a:ext uri="{FF2B5EF4-FFF2-40B4-BE49-F238E27FC236}">
                <a16:creationId xmlns:a16="http://schemas.microsoft.com/office/drawing/2014/main" id="{1952D936-034F-4EAC-AEF8-38350A56B384}"/>
              </a:ext>
            </a:extLst>
          </p:cNvPr>
          <p:cNvGraphicFramePr/>
          <p:nvPr/>
        </p:nvGraphicFramePr>
        <p:xfrm>
          <a:off xmlns:a="http://schemas.openxmlformats.org/drawingml/2006/main" x="685800" y="207648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{EF232EF9-F07A-4621-806C-EAF72860AC76}</a:tableStyleId>
              </a:tblPr>
              <a:tblGrid>
                <a:gridCol w="1904750"/>
                <a:gridCol w="4419350"/>
                <a:gridCol w="4495675"/>
              </a:tblGrid>
              <a:tr h="63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我们拟承担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FC团队确认或决策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主题与玩法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概念、章节及内容清单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方向、档期与系统限制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任务与奖励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规则、配置建议及测算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经济、评级与投放审批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 UI/UX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流程、原型及素材需求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设计规范与制作标准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制作与验收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配置映射、修订与内容验收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客户端、服务端及版本接入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上线与复盘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观察结果、分析及调整建议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发布审批与线上变更权限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70943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6" name="Google Shape;186;p21">
            <a:extLst xmlns:a="http://schemas.openxmlformats.org/drawingml/2006/main">
              <a:ext uri="{FF2B5EF4-FFF2-40B4-BE49-F238E27FC236}">
                <a16:creationId xmlns:a16="http://schemas.microsoft.com/office/drawing/2014/main" id="{A6BBD69B-E6CD-48D6-9439-85D72B5D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每期的交付清单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7" name="Google Shape;187;p21">
            <a:extLst xmlns:a="http://schemas.openxmlformats.org/drawingml/2006/main">
              <a:ext uri="{FF2B5EF4-FFF2-40B4-BE49-F238E27FC236}">
                <a16:creationId xmlns:a16="http://schemas.microsoft.com/office/drawing/2014/main" id="{BEAF39A5-B368-4E6A-903A-E8E016BD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8" name="Google Shape;188;p21">
            <a:extLst xmlns:a="http://schemas.openxmlformats.org/drawingml/2006/main">
              <a:ext uri="{FF2B5EF4-FFF2-40B4-BE49-F238E27FC236}">
                <a16:creationId xmlns:a16="http://schemas.microsoft.com/office/drawing/2014/main" id="{B20D067A-44CB-4333-915E-A0E8342F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095560"/>
            <a:ext cx="4428720" cy="14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一套可以进入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制作评审的设计包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9" name="Google Shape;189;p21">
            <a:extLst xmlns:a="http://schemas.openxmlformats.org/drawingml/2006/main">
              <a:ext uri="{FF2B5EF4-FFF2-40B4-BE49-F238E27FC236}">
                <a16:creationId xmlns:a16="http://schemas.microsoft.com/office/drawing/2014/main" id="{AABD1E6D-A772-47EE-B04E-42E82AD8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4000680"/>
            <a:ext cx="4428720" cy="104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交付颗粒度与对方模板对齐。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新增系统能力单独提出需求。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" name="Google Shape;190;p21">
            <a:extLst xmlns:a="http://schemas.openxmlformats.org/drawingml/2006/main">
              <a:ext uri="{FF2B5EF4-FFF2-40B4-BE49-F238E27FC236}">
                <a16:creationId xmlns:a16="http://schemas.microsoft.com/office/drawing/2014/main" id="{B7161353-7F95-4804-BE5E-AFF41833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2000160"/>
            <a:ext cx="523836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赛季总案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Google Shape;191;p21">
            <a:extLst xmlns:a="http://schemas.openxmlformats.org/drawingml/2006/main">
              <a:ext uri="{FF2B5EF4-FFF2-40B4-BE49-F238E27FC236}">
                <a16:creationId xmlns:a16="http://schemas.microsoft.com/office/drawing/2014/main" id="{ECDCE3B4-7D43-4BB3-B421-58CA3DE5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2333520"/>
            <a:ext cx="5524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主题、目标玩家、章节关系和日历</a:t>
            </a:r>
            <a:endParaRPr sz="171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" name="Google Shape;192;p21">
            <a:extLst xmlns:a="http://schemas.openxmlformats.org/drawingml/2006/main">
              <a:ext uri="{FF2B5EF4-FFF2-40B4-BE49-F238E27FC236}">
                <a16:creationId xmlns:a16="http://schemas.microsoft.com/office/drawing/2014/main" id="{8BFC1529-DAF1-4D77-A533-379DE524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2685960"/>
            <a:ext cx="523836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完整内容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" name="Google Shape;193;p21">
            <a:extLst xmlns:a="http://schemas.openxmlformats.org/drawingml/2006/main">
              <a:ext uri="{FF2B5EF4-FFF2-40B4-BE49-F238E27FC236}">
                <a16:creationId xmlns:a16="http://schemas.microsoft.com/office/drawing/2014/main" id="{02BB623D-4B41-477E-919E-E1D7E8EA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3019320"/>
            <a:ext cx="5524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关卡、任务、奖励节点与获取方式</a:t>
            </a:r>
            <a:endParaRPr sz="171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" name="Google Shape;194;p21">
            <a:extLst xmlns:a="http://schemas.openxmlformats.org/drawingml/2006/main">
              <a:ext uri="{FF2B5EF4-FFF2-40B4-BE49-F238E27FC236}">
                <a16:creationId xmlns:a16="http://schemas.microsoft.com/office/drawing/2014/main" id="{FC9AD9C6-0A79-426E-BE35-B1250CE2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3371760"/>
            <a:ext cx="523836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规则与数值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5" name="Google Shape;195;p21">
            <a:extLst xmlns:a="http://schemas.openxmlformats.org/drawingml/2006/main">
              <a:ext uri="{FF2B5EF4-FFF2-40B4-BE49-F238E27FC236}">
                <a16:creationId xmlns:a16="http://schemas.microsoft.com/office/drawing/2014/main" id="{1E56E357-732E-42A6-831C-8EAA3DD6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3705120"/>
            <a:ext cx="5524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产出、消耗、门槛与异常状态</a:t>
            </a:r>
            <a:endParaRPr sz="171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6" name="Google Shape;196;p21">
            <a:extLst xmlns:a="http://schemas.openxmlformats.org/drawingml/2006/main">
              <a:ext uri="{FF2B5EF4-FFF2-40B4-BE49-F238E27FC236}">
                <a16:creationId xmlns:a16="http://schemas.microsoft.com/office/drawing/2014/main" id="{693CA537-52AA-4C5C-B9C2-CC1C61D8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4057560"/>
            <a:ext cx="523836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UI/UX材料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7" name="Google Shape;197;p21">
            <a:extLst xmlns:a="http://schemas.openxmlformats.org/drawingml/2006/main">
              <a:ext uri="{FF2B5EF4-FFF2-40B4-BE49-F238E27FC236}">
                <a16:creationId xmlns:a16="http://schemas.microsoft.com/office/drawing/2014/main" id="{2C2EE386-3991-41E3-BC33-F16FF11E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4390920"/>
            <a:ext cx="5524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流程、线框、交互原型和文案</a:t>
            </a:r>
            <a:endParaRPr sz="171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8" name="Google Shape;198;p21">
            <a:extLst xmlns:a="http://schemas.openxmlformats.org/drawingml/2006/main">
              <a:ext uri="{FF2B5EF4-FFF2-40B4-BE49-F238E27FC236}">
                <a16:creationId xmlns:a16="http://schemas.microsoft.com/office/drawing/2014/main" id="{68DF8908-851A-482A-A1DD-D0C9751D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4743360"/>
            <a:ext cx="523836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制作材料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9" name="Google Shape;199;p21">
            <a:extLst xmlns:a="http://schemas.openxmlformats.org/drawingml/2006/main">
              <a:ext uri="{FF2B5EF4-FFF2-40B4-BE49-F238E27FC236}">
                <a16:creationId xmlns:a16="http://schemas.microsoft.com/office/drawing/2014/main" id="{C5211F72-B1EA-4B3C-9FD6-C0CCFD1F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5076720"/>
            <a:ext cx="5524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素材清单、字段映射和开发需求</a:t>
            </a:r>
            <a:endParaRPr sz="171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Google Shape;200;p21">
            <a:extLst xmlns:a="http://schemas.openxmlformats.org/drawingml/2006/main">
              <a:ext uri="{FF2B5EF4-FFF2-40B4-BE49-F238E27FC236}">
                <a16:creationId xmlns:a16="http://schemas.microsoft.com/office/drawing/2014/main" id="{3B0D1C9A-5E35-4D44-80BC-9AE72852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5429160"/>
            <a:ext cx="523836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运营材料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1" name="Google Shape;201;p21">
            <a:extLst xmlns:a="http://schemas.openxmlformats.org/drawingml/2006/main">
              <a:ext uri="{FF2B5EF4-FFF2-40B4-BE49-F238E27FC236}">
                <a16:creationId xmlns:a16="http://schemas.microsoft.com/office/drawing/2014/main" id="{20767A01-34F7-4252-B1CA-123AFB1B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5762520"/>
            <a:ext cx="5524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验收、埋点需求和复盘报告</a:t>
            </a:r>
            <a:endParaRPr sz="171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27313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7" name="Google Shape;207;p22">
            <a:extLst xmlns:a="http://schemas.openxmlformats.org/drawingml/2006/main">
              <a:ext uri="{FF2B5EF4-FFF2-40B4-BE49-F238E27FC236}">
                <a16:creationId xmlns:a16="http://schemas.microsoft.com/office/drawing/2014/main" id="{C0D167FF-69D4-4F58-88CE-D032CA9815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f9c13f4bfa4624">
            <a:alphaModFix/>
          </a:blip>
          <a:srcRect xmlns:a="http://schemas.openxmlformats.org/drawingml/2006/main" l="1167" t="20364" r="64008" b="28182"/>
          <a:stretch xmlns:a="http://schemas.openxmlformats.org/drawingml/2006/main"/>
        </p:blipFill>
        <p:spPr>
          <a:xfrm xmlns:a="http://schemas.openxmlformats.org/drawingml/2006/main">
            <a:off x="7143750" y="1866900"/>
            <a:ext cx="4362450" cy="2676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8" name="Google Shape;208;p22">
            <a:extLst xmlns:a="http://schemas.openxmlformats.org/drawingml/2006/main">
              <a:ext uri="{FF2B5EF4-FFF2-40B4-BE49-F238E27FC236}">
                <a16:creationId xmlns:a16="http://schemas.microsoft.com/office/drawing/2014/main" id="{57F61D1E-6766-410E-9C49-7A38629A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00"/>
            <a:ext cx="476208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1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基于以上总结尝试的设计案例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9" name="Google Shape;209;p22">
            <a:extLst xmlns:a="http://schemas.openxmlformats.org/drawingml/2006/main">
              <a:ext uri="{FF2B5EF4-FFF2-40B4-BE49-F238E27FC236}">
                <a16:creationId xmlns:a16="http://schemas.microsoft.com/office/drawing/2014/main" id="{C7A3DB4A-E177-4ECC-BD7D-5D53739C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6190920" cy="1447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羊名立万</a:t>
            </a:r>
            <a:endParaRPr sz="4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春节活动</a:t>
            </a:r>
            <a:endParaRPr sz="4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0" name="Google Shape;210;p22">
            <a:extLst xmlns:a="http://schemas.openxmlformats.org/drawingml/2006/main">
              <a:ext uri="{FF2B5EF4-FFF2-40B4-BE49-F238E27FC236}">
                <a16:creationId xmlns:a16="http://schemas.microsoft.com/office/drawing/2014/main" id="{C16C970D-F642-45E7-956E-75B855D6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048120"/>
            <a:ext cx="65718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四个板块并行，福利与比赛各有目标。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1" name="Google Shape;211;p22">
            <a:extLst xmlns:a="http://schemas.openxmlformats.org/drawingml/2006/main">
              <a:ext uri="{FF2B5EF4-FFF2-40B4-BE49-F238E27FC236}">
                <a16:creationId xmlns:a16="http://schemas.microsoft.com/office/drawing/2014/main" id="{9803C8CC-1CC1-448B-8D99-133A5ABE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3772080"/>
            <a:ext cx="6190920" cy="215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新春见面礼    每日福利与日期限定礼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踢出开门红    比赛累计与红包成长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拜年有名堂    猜球星、领卡与升级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三羊开泰        经典战役与球员升级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2" name="Google Shape;212;p22">
            <a:extLst xmlns:a="http://schemas.openxmlformats.org/drawingml/2006/main">
              <a:ext uri="{FF2B5EF4-FFF2-40B4-BE49-F238E27FC236}">
                <a16:creationId xmlns:a16="http://schemas.microsoft.com/office/drawing/2014/main" id="{38E27502-3F04-42AA-B25C-F9485013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6286680"/>
            <a:ext cx="1028664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春节活动设计案例，界面与规则依据所提供策划案</a:t>
            </a:r>
            <a:endParaRPr sz="128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60964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8" name="Google Shape;218;p23">
            <a:extLst xmlns:a="http://schemas.openxmlformats.org/drawingml/2006/main">
              <a:ext uri="{FF2B5EF4-FFF2-40B4-BE49-F238E27FC236}">
                <a16:creationId xmlns:a16="http://schemas.microsoft.com/office/drawing/2014/main" id="{7B5D7582-BBEA-47ED-93E4-0C4C48C5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羊名立万：活动框架的应用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Google Shape;219;p23">
            <a:extLst xmlns:a="http://schemas.openxmlformats.org/drawingml/2006/main">
              <a:ext uri="{FF2B5EF4-FFF2-40B4-BE49-F238E27FC236}">
                <a16:creationId xmlns:a16="http://schemas.microsoft.com/office/drawing/2014/main" id="{C822BB61-F367-4FE0-BFBA-93F1EF18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沿用主题、参与、推进与成长职能，四个板块分别组织玩家目标。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0" name="Google Shape;220;p23">
            <a:extLst xmlns:a="http://schemas.openxmlformats.org/drawingml/2006/main">
              <a:ext uri="{FF2B5EF4-FFF2-40B4-BE49-F238E27FC236}">
                <a16:creationId xmlns:a16="http://schemas.microsoft.com/office/drawing/2014/main" id="{C4928BFB-3CF5-48E7-8E06-FE74B1AE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21" name="Google Shape;221;p23">
            <a:extLst xmlns:a="http://schemas.openxmlformats.org/drawingml/2006/main">
              <a:ext uri="{FF2B5EF4-FFF2-40B4-BE49-F238E27FC236}">
                <a16:creationId xmlns:a16="http://schemas.microsoft.com/office/drawing/2014/main" id="{6CBF4993-6812-4D17-AB77-8EC93419DB2D}"/>
              </a:ext>
            </a:extLst>
          </p:cNvPr>
          <p:cNvGraphicFramePr/>
          <p:nvPr/>
        </p:nvGraphicFramePr>
        <p:xfrm>
          <a:off xmlns:a="http://schemas.openxmlformats.org/drawingml/2006/main" x="685800" y="207648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{EF232EF9-F07A-4621-806C-EAF72860AC76}</a:tableStyleId>
              </a:tblPr>
              <a:tblGrid>
                <a:gridCol w="3143150"/>
                <a:gridCol w="4419350"/>
                <a:gridCol w="3257275"/>
              </a:tblGrid>
              <a:tr h="7617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框架模块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春节方案的选择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玩家目标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7617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主题与入口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四板块顶部导航，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各自保留进度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按兴趣切换，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不必依次完成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617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日常参与与推进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每日礼、比赛红包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与球星竞猜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当天领取福利，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持续完成累计目标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617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奖励与成长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领卡、参赛、升级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与群像点亮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获得球员后，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继续升级与收集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617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开放节奏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日期限定、人物加开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与战役分期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按节点回访，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补做范围分别明确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  <p:sp>
        <p:nvSpPr>
          <p:cNvPr id="222" name="Google Shape;222;p23">
            <a:extLst xmlns:a="http://schemas.openxmlformats.org/drawingml/2006/main">
              <a:ext uri="{FF2B5EF4-FFF2-40B4-BE49-F238E27FC236}">
                <a16:creationId xmlns:a16="http://schemas.microsoft.com/office/drawing/2014/main" id="{FCDFFFED-E31E-449C-9BDD-8A4B195A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6076800"/>
            <a:ext cx="1047708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strike="noStrike" cap="none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同场比赛符合条件时，可同时推进红包累计与拜年任务。</a:t>
            </a:r>
            <a:endParaRPr sz="13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16577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104B06-D8D4-4E24-821D-1D16A728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新春见面礼：每天先领一份福利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B00DECBA-0507-4EF0-BCD5-D065C4FE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每日登录礼与日期限定礼并行，除夕用不同版面突出节日节点。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B074AA3-FDD9-4E27-AEA3-04CA6701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52646-D37A-44EF-BD0A-155CF9B5FB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bb6647e6f41ce"/>
          <a:stretch xmlns:a="http://schemas.openxmlformats.org/drawingml/2006/main"/>
        </p:blipFill>
        <p:spPr>
          <a:xfrm xmlns:a="http://schemas.openxmlformats.org/drawingml/2006/main">
            <a:off x="685800" y="2086729"/>
            <a:ext cx="6191250" cy="2208293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B02AD-4637-4E0C-8437-5A0DDC31D4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7f3fa6882488e"/>
          <a:stretch xmlns:a="http://schemas.openxmlformats.org/drawingml/2006/main"/>
        </p:blipFill>
        <p:spPr>
          <a:xfrm xmlns:a="http://schemas.openxmlformats.org/drawingml/2006/main">
            <a:off x="689326" y="4429125"/>
            <a:ext cx="6184198" cy="1628775"/>
          </a:xfrm>
          <a:prstGeom xmlns:a="http://schemas.openxmlformats.org/drawingml/2006/main" prst="rect">
            <a:avLst/>
          </a:prstGeom>
        </p:spPr>
      </p:pic>
      <p:sp>
        <p:nvSpPr>
          <p:cNvPr id="6" name="rule-heading-0">
            <a:extLst xmlns:a="http://schemas.openxmlformats.org/drawingml/2006/main">
              <a:ext uri="{FF2B5EF4-FFF2-40B4-BE49-F238E27FC236}">
                <a16:creationId xmlns:a16="http://schemas.microsoft.com/office/drawing/2014/main" id="{34A5F605-4943-4035-8ED9-C8A29624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09550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两类奖励分别领取</a:t>
            </a:r>
          </a:p>
        </p:txBody>
      </p:sp>
      <p:sp>
        <p:nvSpPr>
          <p:cNvPr id="7" name="rule-body-0">
            <a:extLst xmlns:a="http://schemas.openxmlformats.org/drawingml/2006/main">
              <a:ext uri="{FF2B5EF4-FFF2-40B4-BE49-F238E27FC236}">
                <a16:creationId xmlns:a16="http://schemas.microsoft.com/office/drawing/2014/main" id="{D94625CD-85BC-4A9C-9F3D-0D7F07F6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46697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登录礼与日期限定礼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分别记录，不会互相代领。</a:t>
            </a:r>
          </a:p>
        </p:txBody>
      </p:sp>
      <p:sp>
        <p:nvSpPr>
          <p:cNvPr id="8" name="rule-heading-1">
            <a:extLst xmlns:a="http://schemas.openxmlformats.org/drawingml/2006/main">
              <a:ext uri="{FF2B5EF4-FFF2-40B4-BE49-F238E27FC236}">
                <a16:creationId xmlns:a16="http://schemas.microsoft.com/office/drawing/2014/main" id="{BB2F30A2-2C8D-42F7-A814-9C4C56E1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5752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当天资格当天使用</a:t>
            </a:r>
          </a:p>
        </p:txBody>
      </p:sp>
      <p:sp>
        <p:nvSpPr>
          <p:cNvPr id="9" name="rule-body-1">
            <a:extLst xmlns:a="http://schemas.openxmlformats.org/drawingml/2006/main">
              <a:ext uri="{FF2B5EF4-FFF2-40B4-BE49-F238E27FC236}">
                <a16:creationId xmlns:a16="http://schemas.microsoft.com/office/drawing/2014/main" id="{DAFAD95E-B6EE-4DC0-BD2B-785C6C49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42900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每日礼不累积。日期限定礼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只在对应日期领取。</a:t>
            </a:r>
          </a:p>
        </p:txBody>
      </p:sp>
      <p:sp>
        <p:nvSpPr>
          <p:cNvPr id="10" name="rule-heading-2">
            <a:extLst xmlns:a="http://schemas.openxmlformats.org/drawingml/2006/main">
              <a:ext uri="{FF2B5EF4-FFF2-40B4-BE49-F238E27FC236}">
                <a16:creationId xmlns:a16="http://schemas.microsoft.com/office/drawing/2014/main" id="{FAFE4258-3013-46A8-B7D3-A4C1FA62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01955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日期与状态清楚呈现</a:t>
            </a:r>
          </a:p>
        </p:txBody>
      </p:sp>
      <p:sp>
        <p:nvSpPr>
          <p:cNvPr id="11" name="rule-body-2">
            <a:extLst xmlns:a="http://schemas.openxmlformats.org/drawingml/2006/main">
              <a:ext uri="{FF2B5EF4-FFF2-40B4-BE49-F238E27FC236}">
                <a16:creationId xmlns:a16="http://schemas.microsoft.com/office/drawing/2014/main" id="{BEDB1BD7-5499-4A83-9C87-EC841CBA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39102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未来奖励可预览，过去未领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显示已过期，领取后留标记。</a:t>
            </a:r>
          </a:p>
        </p:txBody>
      </p:sp>
      <p:sp>
        <p:nvSpPr>
          <p:cNvPr id="12" name="rule-heading-3">
            <a:extLst xmlns:a="http://schemas.openxmlformats.org/drawingml/2006/main">
              <a:ext uri="{FF2B5EF4-FFF2-40B4-BE49-F238E27FC236}">
                <a16:creationId xmlns:a16="http://schemas.microsoft.com/office/drawing/2014/main" id="{45CB05EA-B7D9-4794-95C0-975C0845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8157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除夕保留特别版面</a:t>
            </a:r>
          </a:p>
        </p:txBody>
      </p:sp>
      <p:sp>
        <p:nvSpPr>
          <p:cNvPr id="13" name="rule-body-3">
            <a:extLst xmlns:a="http://schemas.openxmlformats.org/drawingml/2006/main">
              <a:ext uri="{FF2B5EF4-FFF2-40B4-BE49-F238E27FC236}">
                <a16:creationId xmlns:a16="http://schemas.microsoft.com/office/drawing/2014/main" id="{5A458490-5739-4191-A2DB-81824347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35305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普通日期并排展示，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除夕奖励卡分行排列。</a:t>
            </a:r>
          </a:p>
        </p:txBody>
      </p:sp>
    </p:spTree>
    <p:extLst>
      <p:ext uri="{BB962C8B-B14F-4D97-AF65-F5344CB8AC3E}">
        <p14:creationId xmlns:p14="http://schemas.microsoft.com/office/powerpoint/2010/main" val="17007151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5E3B9F-D3A0-4332-BD94-F3F12E0E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踢出开门红：比赛推进两类奖励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12CA5A77-152D-48C6-839A-722F1BDA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比赛攒红包，同一份累计同时用于卡牌奖励与红包成长。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D90324D-3C5E-4C31-A0EC-D804B22C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4FF86-48EF-42AA-B41C-7A21A8E719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d0e03140f14b9b"/>
          <a:stretch xmlns:a="http://schemas.openxmlformats.org/drawingml/2006/main"/>
        </p:blipFill>
        <p:spPr>
          <a:xfrm xmlns:a="http://schemas.openxmlformats.org/drawingml/2006/main">
            <a:off x="685800" y="2097188"/>
            <a:ext cx="6191250" cy="16635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FB414-E1CF-4509-A5CB-4F7CCE728B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7e637991b4420"/>
          <a:stretch xmlns:a="http://schemas.openxmlformats.org/drawingml/2006/main"/>
        </p:blipFill>
        <p:spPr>
          <a:xfrm xmlns:a="http://schemas.openxmlformats.org/drawingml/2006/main">
            <a:off x="689777" y="3886200"/>
            <a:ext cx="6183296" cy="2476500"/>
          </a:xfrm>
          <a:prstGeom xmlns:a="http://schemas.openxmlformats.org/drawingml/2006/main" prst="rect">
            <a:avLst/>
          </a:prstGeom>
        </p:spPr>
      </p:pic>
      <p:sp>
        <p:nvSpPr>
          <p:cNvPr id="6" name="rule-heading-0">
            <a:extLst xmlns:a="http://schemas.openxmlformats.org/drawingml/2006/main">
              <a:ext uri="{FF2B5EF4-FFF2-40B4-BE49-F238E27FC236}">
                <a16:creationId xmlns:a16="http://schemas.microsoft.com/office/drawing/2014/main" id="{BDD1CDF5-96D3-4B74-A509-6C36CC9C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09550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比赛完成即可累计</a:t>
            </a:r>
          </a:p>
        </p:txBody>
      </p:sp>
      <p:sp>
        <p:nvSpPr>
          <p:cNvPr id="7" name="rule-body-0">
            <a:extLst xmlns:a="http://schemas.openxmlformats.org/drawingml/2006/main">
              <a:ext uri="{FF2B5EF4-FFF2-40B4-BE49-F238E27FC236}">
                <a16:creationId xmlns:a16="http://schemas.microsoft.com/office/drawing/2014/main" id="{1846A701-BA10-41F7-9899-501E1DA7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46697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进攻对战、实时对战、经理人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模式均可参与，不要求获胜。</a:t>
            </a:r>
          </a:p>
        </p:txBody>
      </p:sp>
      <p:sp>
        <p:nvSpPr>
          <p:cNvPr id="8" name="rule-heading-1">
            <a:extLst xmlns:a="http://schemas.openxmlformats.org/drawingml/2006/main">
              <a:ext uri="{FF2B5EF4-FFF2-40B4-BE49-F238E27FC236}">
                <a16:creationId xmlns:a16="http://schemas.microsoft.com/office/drawing/2014/main" id="{74913F10-F1AF-4702-893C-355C4353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5752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各模式分别计算首场</a:t>
            </a:r>
          </a:p>
        </p:txBody>
      </p:sp>
      <p:sp>
        <p:nvSpPr>
          <p:cNvPr id="9" name="rule-body-1">
            <a:extLst xmlns:a="http://schemas.openxmlformats.org/drawingml/2006/main">
              <a:ext uri="{FF2B5EF4-FFF2-40B4-BE49-F238E27FC236}">
                <a16:creationId xmlns:a16="http://schemas.microsoft.com/office/drawing/2014/main" id="{F6929ABD-5275-4E7D-AEED-FF081D9C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42900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首场不再叠加常规场次收益。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每日资格刷新，累计保留。</a:t>
            </a:r>
          </a:p>
        </p:txBody>
      </p:sp>
      <p:sp>
        <p:nvSpPr>
          <p:cNvPr id="10" name="rule-heading-2">
            <a:extLst xmlns:a="http://schemas.openxmlformats.org/drawingml/2006/main">
              <a:ext uri="{FF2B5EF4-FFF2-40B4-BE49-F238E27FC236}">
                <a16:creationId xmlns:a16="http://schemas.microsoft.com/office/drawing/2014/main" id="{0FA8E530-8452-4C0B-B5BD-6D715B6D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01955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领奖不扣累计进度</a:t>
            </a:r>
          </a:p>
        </p:txBody>
      </p:sp>
      <p:sp>
        <p:nvSpPr>
          <p:cNvPr id="11" name="rule-body-2">
            <a:extLst xmlns:a="http://schemas.openxmlformats.org/drawingml/2006/main">
              <a:ext uri="{FF2B5EF4-FFF2-40B4-BE49-F238E27FC236}">
                <a16:creationId xmlns:a16="http://schemas.microsoft.com/office/drawing/2014/main" id="{DF8526BD-4E39-42DD-AC02-1BFEDE5E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39102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卡奖励达标后逐项主动领取。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红包成长沿用同一领奖入口。</a:t>
            </a:r>
          </a:p>
        </p:txBody>
      </p:sp>
      <p:sp>
        <p:nvSpPr>
          <p:cNvPr id="12" name="rule-heading-3">
            <a:extLst xmlns:a="http://schemas.openxmlformats.org/drawingml/2006/main">
              <a:ext uri="{FF2B5EF4-FFF2-40B4-BE49-F238E27FC236}">
                <a16:creationId xmlns:a16="http://schemas.microsoft.com/office/drawing/2014/main" id="{C3318BB7-DC9B-475E-B15E-6AB0516F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8157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满级与领完分别显示</a:t>
            </a:r>
          </a:p>
        </p:txBody>
      </p:sp>
      <p:sp>
        <p:nvSpPr>
          <p:cNvPr id="13" name="rule-body-3">
            <a:extLst xmlns:a="http://schemas.openxmlformats.org/drawingml/2006/main">
              <a:ext uri="{FF2B5EF4-FFF2-40B4-BE49-F238E27FC236}">
                <a16:creationId xmlns:a16="http://schemas.microsoft.com/office/drawing/2014/main" id="{A44E0F5E-EBF2-4B49-B71B-CBC248DA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35305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已解锁的成长奖励可一并补领。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满级不代表所有奖励已领。</a:t>
            </a:r>
          </a:p>
        </p:txBody>
      </p:sp>
    </p:spTree>
    <p:extLst>
      <p:ext uri="{BB962C8B-B14F-4D97-AF65-F5344CB8AC3E}">
        <p14:creationId xmlns:p14="http://schemas.microsoft.com/office/powerpoint/2010/main" val="15781561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56DEB4-5BE4-4825-82C4-3B928F16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拜年有名堂：从猜球星到升级收集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2A98B78A-1112-4B12-9271-B18782CE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球衣与故事提供线索，个人任务完成后回到群像点亮人物。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05AC1C5-B37E-4ACB-9830-87234890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A9E1F-A2AC-4354-98EA-E4C33BA20B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2e349699f4cd0"/>
          <a:stretch xmlns:a="http://schemas.openxmlformats.org/drawingml/2006/main"/>
        </p:blipFill>
        <p:spPr>
          <a:xfrm xmlns:a="http://schemas.openxmlformats.org/drawingml/2006/main">
            <a:off x="685800" y="2097224"/>
            <a:ext cx="6191250" cy="1682477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CFFBB-EA84-4EA6-8FF0-36D3DA272B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c565e35fb4409"/>
          <a:stretch xmlns:a="http://schemas.openxmlformats.org/drawingml/2006/main"/>
        </p:blipFill>
        <p:spPr>
          <a:xfrm xmlns:a="http://schemas.openxmlformats.org/drawingml/2006/main">
            <a:off x="685800" y="4222750"/>
            <a:ext cx="6191250" cy="1031875"/>
          </a:xfrm>
          <a:prstGeom xmlns:a="http://schemas.openxmlformats.org/drawingml/2006/main" prst="rect">
            <a:avLst/>
          </a:prstGeom>
        </p:spPr>
      </p:pic>
      <p:sp>
        <p:nvSpPr>
          <p:cNvPr id="6" name="state-detail">
            <a:extLst xmlns:a="http://schemas.openxmlformats.org/drawingml/2006/main">
              <a:ext uri="{FF2B5EF4-FFF2-40B4-BE49-F238E27FC236}">
                <a16:creationId xmlns:a16="http://schemas.microsoft.com/office/drawing/2014/main" id="{51CFCDBE-FBE9-4CFB-8D79-E78EAC34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91175"/>
            <a:ext cx="617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群像同时承担人物入口与收集进度展示</a:t>
            </a:r>
          </a:p>
        </p:txBody>
      </p:sp>
      <p:sp>
        <p:nvSpPr>
          <p:cNvPr id="7" name="rule-heading-0">
            <a:extLst xmlns:a="http://schemas.openxmlformats.org/drawingml/2006/main">
              <a:ext uri="{FF2B5EF4-FFF2-40B4-BE49-F238E27FC236}">
                <a16:creationId xmlns:a16="http://schemas.microsoft.com/office/drawing/2014/main" id="{8F1C8C2D-0C0F-4B65-870B-F2871FE4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09550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猜中后主动领卡</a:t>
            </a:r>
          </a:p>
        </p:txBody>
      </p:sp>
      <p:sp>
        <p:nvSpPr>
          <p:cNvPr id="8" name="rule-body-0">
            <a:extLst xmlns:a="http://schemas.openxmlformats.org/drawingml/2006/main">
              <a:ext uri="{FF2B5EF4-FFF2-40B4-BE49-F238E27FC236}">
                <a16:creationId xmlns:a16="http://schemas.microsoft.com/office/drawing/2014/main" id="{4149F010-3BBB-4F7C-846F-1590314E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46697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答错可立即重选。先领取球员，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再完成对应参赛任务。</a:t>
            </a:r>
          </a:p>
        </p:txBody>
      </p:sp>
      <p:sp>
        <p:nvSpPr>
          <p:cNvPr id="9" name="rule-heading-1">
            <a:extLst xmlns:a="http://schemas.openxmlformats.org/drawingml/2006/main">
              <a:ext uri="{FF2B5EF4-FFF2-40B4-BE49-F238E27FC236}">
                <a16:creationId xmlns:a16="http://schemas.microsoft.com/office/drawing/2014/main" id="{DBAEAB2F-CD9D-4CCC-B35B-E03BBB90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5752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参赛后兑换个人升级</a:t>
            </a:r>
          </a:p>
        </p:txBody>
      </p:sp>
      <p:sp>
        <p:nvSpPr>
          <p:cNvPr id="10" name="rule-body-1">
            <a:extLst xmlns:a="http://schemas.openxmlformats.org/drawingml/2006/main">
              <a:ext uri="{FF2B5EF4-FFF2-40B4-BE49-F238E27FC236}">
                <a16:creationId xmlns:a16="http://schemas.microsoft.com/office/drawing/2014/main" id="{9CC13BE6-4E3A-42C8-9B9F-E6149D1A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42900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不要求首发、获胜或进球。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同场可满足多名已领球员任务。</a:t>
            </a:r>
          </a:p>
        </p:txBody>
      </p:sp>
      <p:sp>
        <p:nvSpPr>
          <p:cNvPr id="11" name="rule-heading-2">
            <a:extLst xmlns:a="http://schemas.openxmlformats.org/drawingml/2006/main">
              <a:ext uri="{FF2B5EF4-FFF2-40B4-BE49-F238E27FC236}">
                <a16:creationId xmlns:a16="http://schemas.microsoft.com/office/drawing/2014/main" id="{B55E256D-C188-482B-8EE1-3D6CD585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01955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兑换后回总览点亮</a:t>
            </a:r>
          </a:p>
        </p:txBody>
      </p:sp>
      <p:sp>
        <p:nvSpPr>
          <p:cNvPr id="12" name="rule-body-2">
            <a:extLst xmlns:a="http://schemas.openxmlformats.org/drawingml/2006/main">
              <a:ext uri="{FF2B5EF4-FFF2-40B4-BE49-F238E27FC236}">
                <a16:creationId xmlns:a16="http://schemas.microsoft.com/office/drawing/2014/main" id="{3A0B150E-CBCA-4455-854D-74787091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39102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每名人物只计入一次。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个人升级与点亮分别记录。</a:t>
            </a:r>
          </a:p>
        </p:txBody>
      </p:sp>
      <p:sp>
        <p:nvSpPr>
          <p:cNvPr id="13" name="rule-heading-3">
            <a:extLst xmlns:a="http://schemas.openxmlformats.org/drawingml/2006/main">
              <a:ext uri="{FF2B5EF4-FFF2-40B4-BE49-F238E27FC236}">
                <a16:creationId xmlns:a16="http://schemas.microsoft.com/office/drawing/2014/main" id="{EF79DE02-1FD5-4439-93D1-C88A22C9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8157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点亮累计换自选升级</a:t>
            </a:r>
          </a:p>
        </p:txBody>
      </p:sp>
      <p:sp>
        <p:nvSpPr>
          <p:cNvPr id="14" name="rule-body-3">
            <a:extLst xmlns:a="http://schemas.openxmlformats.org/drawingml/2006/main">
              <a:ext uri="{FF2B5EF4-FFF2-40B4-BE49-F238E27FC236}">
                <a16:creationId xmlns:a16="http://schemas.microsoft.com/office/drawing/2014/main" id="{4AC4F67B-6403-4C70-9FCF-599D24EB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35305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从已兑换个人升级的球员中选。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确认才消耗机会，不扣点亮数。</a:t>
            </a:r>
          </a:p>
        </p:txBody>
      </p:sp>
    </p:spTree>
    <p:extLst>
      <p:ext uri="{BB962C8B-B14F-4D97-AF65-F5344CB8AC3E}">
        <p14:creationId xmlns:p14="http://schemas.microsoft.com/office/powerpoint/2010/main" val="2104554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9F1D89-DEAA-418B-9F4C-7820A3BE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三羊开泰：三位球星的经典战役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673B2A09-8ECE-4EA6-BE3A-368F2508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贝利、马拉多纳与梅西三条路线并列，用故事连接比赛挑战。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183DAEB-6B1F-4668-AA57-60E6E434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1AEE0-BA90-4AE9-8B10-F261A72304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efc69fa9f4d5c"/>
          <a:stretch xmlns:a="http://schemas.openxmlformats.org/drawingml/2006/main"/>
        </p:blipFill>
        <p:spPr>
          <a:xfrm xmlns:a="http://schemas.openxmlformats.org/drawingml/2006/main">
            <a:off x="688271" y="2095500"/>
            <a:ext cx="6186309" cy="18383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1D9A5-6ED4-436C-811C-40EDB9FD71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0113bc0e2f43d4"/>
          <a:stretch xmlns:a="http://schemas.openxmlformats.org/drawingml/2006/main"/>
        </p:blipFill>
        <p:spPr>
          <a:xfrm xmlns:a="http://schemas.openxmlformats.org/drawingml/2006/main">
            <a:off x="685800" y="4049673"/>
            <a:ext cx="6191250" cy="2054305"/>
          </a:xfrm>
          <a:prstGeom xmlns:a="http://schemas.openxmlformats.org/drawingml/2006/main" prst="rect">
            <a:avLst/>
          </a:prstGeom>
        </p:spPr>
      </p:pic>
      <p:sp>
        <p:nvSpPr>
          <p:cNvPr id="6" name="rule-heading-0">
            <a:extLst xmlns:a="http://schemas.openxmlformats.org/drawingml/2006/main">
              <a:ext uri="{FF2B5EF4-FFF2-40B4-BE49-F238E27FC236}">
                <a16:creationId xmlns:a16="http://schemas.microsoft.com/office/drawing/2014/main" id="{554D95FF-52C2-44C8-A00C-A0FFAF15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09550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免费与付费入口分开</a:t>
            </a:r>
          </a:p>
        </p:txBody>
      </p:sp>
      <p:sp>
        <p:nvSpPr>
          <p:cNvPr id="7" name="rule-body-0">
            <a:extLst xmlns:a="http://schemas.openxmlformats.org/drawingml/2006/main">
              <a:ext uri="{FF2B5EF4-FFF2-40B4-BE49-F238E27FC236}">
                <a16:creationId xmlns:a16="http://schemas.microsoft.com/office/drawing/2014/main" id="{C9FEC47B-E876-409A-9F68-B902E4AA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46697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贝利、马拉多纳免费领取。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梅西以 FC 币购买，购买前确认。</a:t>
            </a:r>
          </a:p>
        </p:txBody>
      </p:sp>
      <p:sp>
        <p:nvSpPr>
          <p:cNvPr id="8" name="rule-heading-1">
            <a:extLst xmlns:a="http://schemas.openxmlformats.org/drawingml/2006/main">
              <a:ext uri="{FF2B5EF4-FFF2-40B4-BE49-F238E27FC236}">
                <a16:creationId xmlns:a16="http://schemas.microsoft.com/office/drawing/2014/main" id="{B1A43BE1-0418-4CC8-A376-29A9AB30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5752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获取、获胜、兑换分开</a:t>
            </a:r>
          </a:p>
        </p:txBody>
      </p:sp>
      <p:sp>
        <p:nvSpPr>
          <p:cNvPr id="9" name="rule-body-1">
            <a:extLst xmlns:a="http://schemas.openxmlformats.org/drawingml/2006/main">
              <a:ext uri="{FF2B5EF4-FFF2-40B4-BE49-F238E27FC236}">
                <a16:creationId xmlns:a16="http://schemas.microsoft.com/office/drawing/2014/main" id="{460E32B1-8C6C-4403-B3AE-58EA03B7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42900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获取球员不代替挑战。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获胜后仍需主动兑换升级。</a:t>
            </a:r>
          </a:p>
        </p:txBody>
      </p:sp>
      <p:sp>
        <p:nvSpPr>
          <p:cNvPr id="10" name="rule-heading-2">
            <a:extLst xmlns:a="http://schemas.openxmlformats.org/drawingml/2006/main">
              <a:ext uri="{FF2B5EF4-FFF2-40B4-BE49-F238E27FC236}">
                <a16:creationId xmlns:a16="http://schemas.microsoft.com/office/drawing/2014/main" id="{335D430C-E4AC-4D46-B113-02557918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01955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三条路线同步分期</a:t>
            </a:r>
          </a:p>
        </p:txBody>
      </p:sp>
      <p:sp>
        <p:nvSpPr>
          <p:cNvPr id="11" name="rule-body-2">
            <a:extLst xmlns:a="http://schemas.openxmlformats.org/drawingml/2006/main">
              <a:ext uri="{FF2B5EF4-FFF2-40B4-BE49-F238E27FC236}">
                <a16:creationId xmlns:a16="http://schemas.microsoft.com/office/drawing/2014/main" id="{5B2625DA-2DA8-47AC-8C09-99390AE3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39102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进入新阶段后，保留此前的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挑战和兑换记录，不设共同终奖。</a:t>
            </a:r>
          </a:p>
        </p:txBody>
      </p:sp>
      <p:sp>
        <p:nvSpPr>
          <p:cNvPr id="12" name="rule-heading-3">
            <a:extLst xmlns:a="http://schemas.openxmlformats.org/drawingml/2006/main">
              <a:ext uri="{FF2B5EF4-FFF2-40B4-BE49-F238E27FC236}">
                <a16:creationId xmlns:a16="http://schemas.microsoft.com/office/drawing/2014/main" id="{9B2A3F1C-FA08-45DE-AB7D-F5284516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8157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正式参与条件另行确认</a:t>
            </a:r>
          </a:p>
        </p:txBody>
      </p:sp>
      <p:sp>
        <p:nvSpPr>
          <p:cNvPr id="13" name="rule-body-3">
            <a:extLst xmlns:a="http://schemas.openxmlformats.org/drawingml/2006/main">
              <a:ext uri="{FF2B5EF4-FFF2-40B4-BE49-F238E27FC236}">
                <a16:creationId xmlns:a16="http://schemas.microsoft.com/office/drawing/2014/main" id="{6F2C9C09-7F68-4DD6-9027-6BCAA0D5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35305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起止、阶段数、持卡与前阶段</a:t>
            </a:r>
          </a:p>
          <a:p xmlns:a="http://schemas.openxmlformats.org/drawingml/2006/main">
            <a: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要求待定，原型顺序仅作演示。</a:t>
            </a:r>
          </a:p>
        </p:txBody>
      </p:sp>
    </p:spTree>
    <p:extLst>
      <p:ext uri="{BB962C8B-B14F-4D97-AF65-F5344CB8AC3E}">
        <p14:creationId xmlns:p14="http://schemas.microsoft.com/office/powerpoint/2010/main" val="1003619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8" name="Google Shape;228;p24">
            <a:extLst xmlns:a="http://schemas.openxmlformats.org/drawingml/2006/main">
              <a:ext uri="{FF2B5EF4-FFF2-40B4-BE49-F238E27FC236}">
                <a16:creationId xmlns:a16="http://schemas.microsoft.com/office/drawing/2014/main" id="{B446F3C1-071B-4E71-860F-CC7EDA41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春节活动的开放节奏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9" name="Google Shape;229;p24">
            <a:extLst xmlns:a="http://schemas.openxmlformats.org/drawingml/2006/main">
              <a:ext uri="{FF2B5EF4-FFF2-40B4-BE49-F238E27FC236}">
                <a16:creationId xmlns:a16="http://schemas.microsoft.com/office/drawing/2014/main" id="{289A097A-7AE2-411E-9AC5-41272689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日期福利带来每日回访，人物与战役按各自节奏持续开放。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0" name="Google Shape;230;p24">
            <a:extLst xmlns:a="http://schemas.openxmlformats.org/drawingml/2006/main">
              <a:ext uri="{FF2B5EF4-FFF2-40B4-BE49-F238E27FC236}">
                <a16:creationId xmlns:a16="http://schemas.microsoft.com/office/drawing/2014/main" id="{7BF210D7-5262-47FB-AE6C-1E1593C0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31" name="Google Shape;231;p24">
            <a:extLst xmlns:a="http://schemas.openxmlformats.org/drawingml/2006/main">
              <a:ext uri="{FF2B5EF4-FFF2-40B4-BE49-F238E27FC236}">
                <a16:creationId xmlns:a16="http://schemas.microsoft.com/office/drawing/2014/main" id="{7ACA1C8C-3E49-4B4F-BCFD-C6AB29903ECD}"/>
              </a:ext>
            </a:extLst>
          </p:cNvPr>
          <p:cNvGraphicFramePr/>
          <p:nvPr/>
        </p:nvGraphicFramePr>
        <p:xfrm>
          <a:off xmlns:a="http://schemas.openxmlformats.org/drawingml/2006/main" x="685800" y="214308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{EF232EF9-F07A-4621-806C-EAF72860AC76}</a:tableStyleId>
              </a:tblPr>
              <a:tblGrid>
                <a:gridCol w="2095200"/>
                <a:gridCol w="4438450"/>
                <a:gridCol w="4286150"/>
              </a:tblGrid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板块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开放安排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回访与补做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新春见面礼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腊月廿四至正月十四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每天新礼，当天领取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错过不可补领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踢出开门红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除夕至正月十四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每日资格刷新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累计进度与领奖记录保留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拜年有名堂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初一开放两位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此后每两天加一位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十三全部开放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已开任务可补做到十四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三羊开泰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三条路线按相同阶段推进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正式起止日期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与阶段数量待确认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  <p:sp>
        <p:nvSpPr>
          <p:cNvPr id="232" name="Google Shape;232;p24">
            <a:extLst xmlns:a="http://schemas.openxmlformats.org/drawingml/2006/main">
              <a:ext uri="{FF2B5EF4-FFF2-40B4-BE49-F238E27FC236}">
                <a16:creationId xmlns:a16="http://schemas.microsoft.com/office/drawing/2014/main" id="{E290E665-DE25-458D-A9CF-1FA579BB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5924520"/>
            <a:ext cx="1066752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8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按策划案的农历演示日期说明。正式开放、每日刷新与结束时刻另行确认。</a:t>
            </a:r>
            <a:endParaRPr sz="158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82532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8" name="Google Shape;248;p26">
            <a:extLst xmlns:a="http://schemas.openxmlformats.org/drawingml/2006/main">
              <a:ext uri="{FF2B5EF4-FFF2-40B4-BE49-F238E27FC236}">
                <a16:creationId xmlns:a16="http://schemas.microsoft.com/office/drawing/2014/main" id="{D4067838-29ED-4E01-B55D-49E04682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附录：公开资料索引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9" name="Google Shape;249;p26">
            <a:extLst xmlns:a="http://schemas.openxmlformats.org/drawingml/2006/main">
              <a:ext uri="{FF2B5EF4-FFF2-40B4-BE49-F238E27FC236}">
                <a16:creationId xmlns:a16="http://schemas.microsoft.com/office/drawing/2014/main" id="{C7C527C9-E6CD-4808-AAE0-B609C490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历史样本来自国服官方发布，春节案例与界面另据所提供策划案。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0" name="Google Shape;250;p26">
            <a:extLst xmlns:a="http://schemas.openxmlformats.org/drawingml/2006/main">
              <a:ext uri="{FF2B5EF4-FFF2-40B4-BE49-F238E27FC236}">
                <a16:creationId xmlns:a16="http://schemas.microsoft.com/office/drawing/2014/main" id="{3D24D0C3-1E8D-4326-B559-3A54B7F5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19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1" name="Google Shape;251;p26">
            <a:extLst xmlns:a="http://schemas.openxmlformats.org/drawingml/2006/main">
              <a:ext uri="{FF2B5EF4-FFF2-40B4-BE49-F238E27FC236}">
                <a16:creationId xmlns:a16="http://schemas.microsoft.com/office/drawing/2014/main" id="{04BA3FB6-3FC1-40FD-A1D4-AD659ECA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076480"/>
            <a:ext cx="338112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[A] 年度最佳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2" name="Google Shape;252;p26">
            <a:extLst xmlns:a="http://schemas.openxmlformats.org/drawingml/2006/main">
              <a:ext uri="{FF2B5EF4-FFF2-40B4-BE49-F238E27FC236}">
                <a16:creationId xmlns:a16="http://schemas.microsoft.com/office/drawing/2014/main" id="{B02EA5F2-7DC4-482A-928D-532081B0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600" y="2114640"/>
            <a:ext cx="6667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EA SPORTS，2025.01.26</a:t>
            </a:r>
            <a:endParaRPr sz="16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3" name="Google Shape;253;p26">
            <a:extLst xmlns:a="http://schemas.openxmlformats.org/drawingml/2006/main">
              <a:ext uri="{FF2B5EF4-FFF2-40B4-BE49-F238E27FC236}">
                <a16:creationId xmlns:a16="http://schemas.microsoft.com/office/drawing/2014/main" id="{C25611BF-7DFA-4806-9D81-224DAAE0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2514600"/>
            <a:ext cx="1071540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3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https://www.weibo.com/ttarticle/p/show?id=2309405127089513955762</a:t>
            </a:r>
            <a:endParaRPr sz="143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4" name="Google Shape;254;p26">
            <a:extLst xmlns:a="http://schemas.openxmlformats.org/drawingml/2006/main">
              <a:ext uri="{FF2B5EF4-FFF2-40B4-BE49-F238E27FC236}">
                <a16:creationId xmlns:a16="http://schemas.microsoft.com/office/drawing/2014/main" id="{76D338B3-B5FC-408D-9245-241A26E5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019320"/>
            <a:ext cx="338112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[B] 马上过足瘾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5" name="Google Shape;255;p26">
            <a:extLst xmlns:a="http://schemas.openxmlformats.org/drawingml/2006/main">
              <a:ext uri="{FF2B5EF4-FFF2-40B4-BE49-F238E27FC236}">
                <a16:creationId xmlns:a16="http://schemas.microsoft.com/office/drawing/2014/main" id="{2B1D84CA-5284-4123-B19B-E430C641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600" y="3057480"/>
            <a:ext cx="6667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FC足球世界，2026.02.12</a:t>
            </a:r>
            <a:endParaRPr sz="16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6" name="Google Shape;256;p26">
            <a:extLst xmlns:a="http://schemas.openxmlformats.org/drawingml/2006/main">
              <a:ext uri="{FF2B5EF4-FFF2-40B4-BE49-F238E27FC236}">
                <a16:creationId xmlns:a16="http://schemas.microsoft.com/office/drawing/2014/main" id="{BD05F010-ED73-48FE-B75D-3BB78D2C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3457440"/>
            <a:ext cx="1071540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3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https://www.taptap.cn/moment/771064711469861731</a:t>
            </a:r>
            <a:endParaRPr sz="143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7" name="Google Shape;257;p26">
            <a:extLst xmlns:a="http://schemas.openxmlformats.org/drawingml/2006/main">
              <a:ext uri="{FF2B5EF4-FFF2-40B4-BE49-F238E27FC236}">
                <a16:creationId xmlns:a16="http://schemas.microsoft.com/office/drawing/2014/main" id="{38AFCCBD-89D9-4208-9DF6-77F7B738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962520"/>
            <a:ext cx="338112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[C] 欧洲杯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8" name="Google Shape;258;p26">
            <a:extLst xmlns:a="http://schemas.openxmlformats.org/drawingml/2006/main">
              <a:ext uri="{FF2B5EF4-FFF2-40B4-BE49-F238E27FC236}">
                <a16:creationId xmlns:a16="http://schemas.microsoft.com/office/drawing/2014/main" id="{DA9684E1-E0B2-4BFA-8107-58A097B1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600" y="4000680"/>
            <a:ext cx="6667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FC足球世界，2024.06.13</a:t>
            </a:r>
            <a:endParaRPr sz="16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Google Shape;259;p26">
            <a:extLst xmlns:a="http://schemas.openxmlformats.org/drawingml/2006/main">
              <a:ext uri="{FF2B5EF4-FFF2-40B4-BE49-F238E27FC236}">
                <a16:creationId xmlns:a16="http://schemas.microsoft.com/office/drawing/2014/main" id="{E207C2B5-9B0B-4065-BA35-508731EB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4400640"/>
            <a:ext cx="1071540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3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https://www.taptap.cn/moment/550263876587881597</a:t>
            </a:r>
            <a:endParaRPr sz="143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0" name="Google Shape;260;p26">
            <a:extLst xmlns:a="http://schemas.openxmlformats.org/drawingml/2006/main">
              <a:ext uri="{FF2B5EF4-FFF2-40B4-BE49-F238E27FC236}">
                <a16:creationId xmlns:a16="http://schemas.microsoft.com/office/drawing/2014/main" id="{27A30458-2D82-4039-AD40-F6131298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4905360"/>
            <a:ext cx="338112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[D] 欧冠荣耀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1" name="Google Shape;261;p26">
            <a:extLst xmlns:a="http://schemas.openxmlformats.org/drawingml/2006/main">
              <a:ext uri="{FF2B5EF4-FFF2-40B4-BE49-F238E27FC236}">
                <a16:creationId xmlns:a16="http://schemas.microsoft.com/office/drawing/2014/main" id="{D4EA284B-BA1F-4CE2-81C9-921A0E48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600" y="4943520"/>
            <a:ext cx="6667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FC足球世界，2026.04.15</a:t>
            </a:r>
            <a:endParaRPr sz="16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2" name="Google Shape;262;p26">
            <a:extLst xmlns:a="http://schemas.openxmlformats.org/drawingml/2006/main">
              <a:ext uri="{FF2B5EF4-FFF2-40B4-BE49-F238E27FC236}">
                <a16:creationId xmlns:a16="http://schemas.microsoft.com/office/drawing/2014/main" id="{86A0929A-72D6-45EC-8FD3-ADB2B1BD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5343480"/>
            <a:ext cx="1071540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3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https://www.taptap.cn/moment/793578209911245431</a:t>
            </a:r>
            <a:endParaRPr sz="143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6857465"/>
      </p:ext>
    </p:extLst>
  </p:cSld>
</p:sld>
</file>

<file path=ppt/slides/slide20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8" name="Google Shape;268;p27">
            <a:extLst xmlns:a="http://schemas.openxmlformats.org/drawingml/2006/main">
              <a:ext uri="{FF2B5EF4-FFF2-40B4-BE49-F238E27FC236}">
                <a16:creationId xmlns:a16="http://schemas.microsoft.com/office/drawing/2014/main" id="{8DE1997A-1B16-49A7-AB39-174B3BAC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持续内容交付流程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9" name="Google Shape;269;p27">
            <a:extLst xmlns:a="http://schemas.openxmlformats.org/drawingml/2006/main">
              <a:ext uri="{FF2B5EF4-FFF2-40B4-BE49-F238E27FC236}">
                <a16:creationId xmlns:a16="http://schemas.microsoft.com/office/drawing/2014/main" id="{A328CADF-27FB-4F12-84DC-EB3DFDF5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每个阶段保留确认人和验收项，新增系统能力单独评估排期。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0" name="Google Shape;270;p27">
            <a:extLst xmlns:a="http://schemas.openxmlformats.org/drawingml/2006/main">
              <a:ext uri="{FF2B5EF4-FFF2-40B4-BE49-F238E27FC236}">
                <a16:creationId xmlns:a16="http://schemas.microsoft.com/office/drawing/2014/main" id="{CADE4E8E-9CB0-401C-9B20-2ADB26CA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20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1" name="Google Shape;271;p27">
            <a:extLst xmlns:a="http://schemas.openxmlformats.org/drawingml/2006/main">
              <a:ext uri="{FF2B5EF4-FFF2-40B4-BE49-F238E27FC236}">
                <a16:creationId xmlns:a16="http://schemas.microsoft.com/office/drawing/2014/main" id="{985B61C6-3727-4A86-BA74-F8C58E83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333520"/>
            <a:ext cx="21902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3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2" name="Google Shape;272;p27">
            <a:extLst xmlns:a="http://schemas.openxmlformats.org/drawingml/2006/main">
              <a:ext uri="{FF2B5EF4-FFF2-40B4-BE49-F238E27FC236}">
                <a16:creationId xmlns:a16="http://schemas.microsoft.com/office/drawing/2014/main" id="{0E8B8DCC-4877-4965-9085-0942295E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133800"/>
            <a:ext cx="2333160" cy="46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需求对齐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3" name="Google Shape;273;p27">
            <a:extLst xmlns:a="http://schemas.openxmlformats.org/drawingml/2006/main">
              <a:ext uri="{FF2B5EF4-FFF2-40B4-BE49-F238E27FC236}">
                <a16:creationId xmlns:a16="http://schemas.microsoft.com/office/drawing/2014/main" id="{339814DA-A684-42F8-87A4-BCC5D497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886200"/>
            <a:ext cx="2381040" cy="153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档期、主题和目标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球员池与奖励边界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现有活动系统能力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4" name="Google Shape;274;p27">
            <a:extLst xmlns:a="http://schemas.openxmlformats.org/drawingml/2006/main">
              <a:ext uri="{FF2B5EF4-FFF2-40B4-BE49-F238E27FC236}">
                <a16:creationId xmlns:a16="http://schemas.microsoft.com/office/drawing/2014/main" id="{7C104960-35E1-4CE4-892C-82E53580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480" y="2333520"/>
            <a:ext cx="21902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3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5" name="Google Shape;275;p27">
            <a:extLst xmlns:a="http://schemas.openxmlformats.org/drawingml/2006/main">
              <a:ext uri="{FF2B5EF4-FFF2-40B4-BE49-F238E27FC236}">
                <a16:creationId xmlns:a16="http://schemas.microsoft.com/office/drawing/2014/main" id="{12A228CD-598C-4325-BA9E-FAF9928E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480" y="3133800"/>
            <a:ext cx="2333160" cy="46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设计锁定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6" name="Google Shape;276;p27">
            <a:extLst xmlns:a="http://schemas.openxmlformats.org/drawingml/2006/main">
              <a:ext uri="{FF2B5EF4-FFF2-40B4-BE49-F238E27FC236}">
                <a16:creationId xmlns:a16="http://schemas.microsoft.com/office/drawing/2014/main" id="{C0B2E61C-8E03-4F77-8D99-28EEA635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480" y="3886200"/>
            <a:ext cx="2381040" cy="153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章节和核心玩法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任务、规则与奖励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原型和制作依赖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7" name="Google Shape;277;p27">
            <a:extLst xmlns:a="http://schemas.openxmlformats.org/drawingml/2006/main">
              <a:ext uri="{FF2B5EF4-FFF2-40B4-BE49-F238E27FC236}">
                <a16:creationId xmlns:a16="http://schemas.microsoft.com/office/drawing/2014/main" id="{0A346D4E-23CE-449F-87EA-119C0D8D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640" y="2333520"/>
            <a:ext cx="21902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3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8" name="Google Shape;278;p27">
            <a:extLst xmlns:a="http://schemas.openxmlformats.org/drawingml/2006/main">
              <a:ext uri="{FF2B5EF4-FFF2-40B4-BE49-F238E27FC236}">
                <a16:creationId xmlns:a16="http://schemas.microsoft.com/office/drawing/2014/main" id="{8CCA333C-417C-4836-BD0F-CF86B0B1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640" y="3133800"/>
            <a:ext cx="2333160" cy="46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制作联调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9" name="Google Shape;279;p27">
            <a:extLst xmlns:a="http://schemas.openxmlformats.org/drawingml/2006/main">
              <a:ext uri="{FF2B5EF4-FFF2-40B4-BE49-F238E27FC236}">
                <a16:creationId xmlns:a16="http://schemas.microsoft.com/office/drawing/2014/main" id="{A354BBE0-F2EC-480D-9D89-A8B88B29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640" y="3886200"/>
            <a:ext cx="2381040" cy="153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字段与配置交付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客户端和美术接入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完整路径与异常验收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0" name="Google Shape;280;p27">
            <a:extLst xmlns:a="http://schemas.openxmlformats.org/drawingml/2006/main">
              <a:ext uri="{FF2B5EF4-FFF2-40B4-BE49-F238E27FC236}">
                <a16:creationId xmlns:a16="http://schemas.microsoft.com/office/drawing/2014/main" id="{51809BD5-6C50-4150-A6BD-5C895E68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60" y="2333520"/>
            <a:ext cx="21902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3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1" name="Google Shape;281;p27">
            <a:extLst xmlns:a="http://schemas.openxmlformats.org/drawingml/2006/main">
              <a:ext uri="{FF2B5EF4-FFF2-40B4-BE49-F238E27FC236}">
                <a16:creationId xmlns:a16="http://schemas.microsoft.com/office/drawing/2014/main" id="{798C6765-C125-4F67-A154-743B23CC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60" y="3133800"/>
            <a:ext cx="2333160" cy="46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上线复盘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2" name="Google Shape;282;p27">
            <a:extLst xmlns:a="http://schemas.openxmlformats.org/drawingml/2006/main">
              <a:ext uri="{FF2B5EF4-FFF2-40B4-BE49-F238E27FC236}">
                <a16:creationId xmlns:a16="http://schemas.microsoft.com/office/drawing/2014/main" id="{0CF9545D-32D2-4802-B5C4-E877809C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60" y="3886200"/>
            <a:ext cx="2381040" cy="153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内容开放跟进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参与与达成数据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后续调整和下一期建议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513557"/>
      </p:ext>
    </p:extLst>
  </p:cSld>
</p:sld>
</file>

<file path=ppt/slides/slide21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8" name="Google Shape;288;p28">
            <a:extLst xmlns:a="http://schemas.openxmlformats.org/drawingml/2006/main">
              <a:ext uri="{FF2B5EF4-FFF2-40B4-BE49-F238E27FC236}">
                <a16:creationId xmlns:a16="http://schemas.microsoft.com/office/drawing/2014/main" id="{C420EFAC-2877-460A-BD47-854908F5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效果评估与交付验收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9" name="Google Shape;289;p28">
            <a:extLst xmlns:a="http://schemas.openxmlformats.org/drawingml/2006/main">
              <a:ext uri="{FF2B5EF4-FFF2-40B4-BE49-F238E27FC236}">
                <a16:creationId xmlns:a16="http://schemas.microsoft.com/office/drawing/2014/main" id="{05557333-A4B9-4AC4-B749-E743543F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玩家结果与交付质量分开记录，目标值在试点前基于历史数据共同确定。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0" name="Google Shape;290;p28">
            <a:extLst xmlns:a="http://schemas.openxmlformats.org/drawingml/2006/main">
              <a:ext uri="{FF2B5EF4-FFF2-40B4-BE49-F238E27FC236}">
                <a16:creationId xmlns:a16="http://schemas.microsoft.com/office/drawing/2014/main" id="{8C99BDC1-9167-40DF-9D08-E2C2F3D2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21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91" name="Google Shape;291;p28">
            <a:extLst xmlns:a="http://schemas.openxmlformats.org/drawingml/2006/main">
              <a:ext uri="{FF2B5EF4-FFF2-40B4-BE49-F238E27FC236}">
                <a16:creationId xmlns:a16="http://schemas.microsoft.com/office/drawing/2014/main" id="{7EB2E6FE-93B9-43CC-A05A-5B9294B9EDA4}"/>
              </a:ext>
            </a:extLst>
          </p:cNvPr>
          <p:cNvGraphicFramePr/>
          <p:nvPr/>
        </p:nvGraphicFramePr>
        <p:xfrm>
          <a:off xmlns:a="http://schemas.openxmlformats.org/drawingml/2006/main" x="685800" y="214308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{EF232EF9-F07A-4621-806C-EAF72860AC76}</a:tableStyleId>
              </a:tblPr>
              <a:tblGrid>
                <a:gridCol w="2095200"/>
                <a:gridCol w="4362125"/>
                <a:gridCol w="4362125"/>
              </a:tblGrid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观察内容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解释与比较口径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活动参与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入口、章节参与与回访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与历史同类活动比较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奖励体验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达成率、耗时与资源积累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按玩家类型分层观察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商业表现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付费参与与奖励经济影响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结合球员强度和投放解释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交付质量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按期完成、返工与上线问题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按双方约定的标准记录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  <p:sp>
        <p:nvSpPr>
          <p:cNvPr id="292" name="Google Shape;292;p28">
            <a:extLst xmlns:a="http://schemas.openxmlformats.org/drawingml/2006/main">
              <a:ext uri="{FF2B5EF4-FFF2-40B4-BE49-F238E27FC236}">
                <a16:creationId xmlns:a16="http://schemas.microsoft.com/office/drawing/2014/main" id="{BBEECCAB-B909-4565-BB89-A9E42C82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5924520"/>
            <a:ext cx="10667520" cy="42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当前没有真实运营数据，不预先承诺留存或收入提升幅度。</a:t>
            </a:r>
            <a:endParaRPr sz="16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9339846"/>
      </p:ext>
    </p:extLst>
  </p:cSld>
</p:sld>
</file>

<file path=ppt/slides/slide2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8" name="Google Shape;298;p29">
            <a:extLst xmlns:a="http://schemas.openxmlformats.org/drawingml/2006/main">
              <a:ext uri="{FF2B5EF4-FFF2-40B4-BE49-F238E27FC236}">
                <a16:creationId xmlns:a16="http://schemas.microsoft.com/office/drawing/2014/main" id="{29F248C7-2825-4226-AFB8-25399CCD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先完成一期试点，再扩大持续合作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9" name="Google Shape;299;p29">
            <a:extLst xmlns:a="http://schemas.openxmlformats.org/drawingml/2006/main">
              <a:ext uri="{FF2B5EF4-FFF2-40B4-BE49-F238E27FC236}">
                <a16:creationId xmlns:a16="http://schemas.microsoft.com/office/drawing/2014/main" id="{49759AFB-F852-480B-8BEF-B71EDC35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选择双方认可的主题，在现有活动能力支持的范围内完成设计与接入验证。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0" name="Google Shape;300;p29">
            <a:extLst xmlns:a="http://schemas.openxmlformats.org/drawingml/2006/main">
              <a:ext uri="{FF2B5EF4-FFF2-40B4-BE49-F238E27FC236}">
                <a16:creationId xmlns:a16="http://schemas.microsoft.com/office/drawing/2014/main" id="{E7AF238A-29B1-40D3-AB35-D34C7265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22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1" name="Google Shape;301;p29">
            <a:extLst xmlns:a="http://schemas.openxmlformats.org/drawingml/2006/main">
              <a:ext uri="{FF2B5EF4-FFF2-40B4-BE49-F238E27FC236}">
                <a16:creationId xmlns:a16="http://schemas.microsoft.com/office/drawing/2014/main" id="{823C878F-68CA-4E57-B18B-CED1F4E8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381400"/>
            <a:ext cx="504792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制作前：设计验收</a:t>
            </a:r>
            <a:endParaRPr sz="24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2" name="Google Shape;302;p29">
            <a:extLst xmlns:a="http://schemas.openxmlformats.org/drawingml/2006/main">
              <a:ext uri="{FF2B5EF4-FFF2-40B4-BE49-F238E27FC236}">
                <a16:creationId xmlns:a16="http://schemas.microsoft.com/office/drawing/2014/main" id="{199BBB7C-294A-4D98-AB71-B768C4DF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3228840"/>
            <a:ext cx="5047920" cy="185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主题与玩法符合活动简报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规则、配置和界面状态完整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制作依赖与排期明确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3" name="Google Shape;303;p29">
            <a:extLst xmlns:a="http://schemas.openxmlformats.org/drawingml/2006/main">
              <a:ext uri="{FF2B5EF4-FFF2-40B4-BE49-F238E27FC236}">
                <a16:creationId xmlns:a16="http://schemas.microsoft.com/office/drawing/2014/main" id="{215AE4FF-8F7A-477C-B2C5-F7836C5F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200" y="2381400"/>
            <a:ext cx="504792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上线后：运行验证</a:t>
            </a:r>
            <a:endParaRPr sz="24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4" name="Google Shape;304;p29">
            <a:extLst xmlns:a="http://schemas.openxmlformats.org/drawingml/2006/main">
              <a:ext uri="{FF2B5EF4-FFF2-40B4-BE49-F238E27FC236}">
                <a16:creationId xmlns:a16="http://schemas.microsoft.com/office/drawing/2014/main" id="{6A45B3FE-35E5-40E3-96B2-4C96C2E0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280" y="3228840"/>
            <a:ext cx="5047920" cy="185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关键流程与奖励发放正常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内容按约定节奏开放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数据口径与复盘建议可交付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5" name="Google Shape;305;p29">
            <a:extLst xmlns:a="http://schemas.openxmlformats.org/drawingml/2006/main">
              <a:ext uri="{FF2B5EF4-FFF2-40B4-BE49-F238E27FC236}">
                <a16:creationId xmlns:a16="http://schemas.microsoft.com/office/drawing/2014/main" id="{927D7A32-E577-4A3B-85C0-5D4EA3C2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5762520"/>
            <a:ext cx="10667520" cy="51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试点档期与春节开放日历对齐，项目工期另含准备、接入与复盘。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9987380"/>
      </p:ext>
    </p:extLst>
  </p:cSld>
</p:sld>
</file>

<file path=ppt/slides/slide23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1" name="Google Shape;311;p30">
            <a:extLst xmlns:a="http://schemas.openxmlformats.org/drawingml/2006/main">
              <a:ext uri="{FF2B5EF4-FFF2-40B4-BE49-F238E27FC236}">
                <a16:creationId xmlns:a16="http://schemas.microsoft.com/office/drawing/2014/main" id="{154292ED-E8A5-4992-A6FA-0151F029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下一步：确定一期试点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2" name="Google Shape;312;p30">
            <a:extLst xmlns:a="http://schemas.openxmlformats.org/drawingml/2006/main">
              <a:ext uri="{FF2B5EF4-FFF2-40B4-BE49-F238E27FC236}">
                <a16:creationId xmlns:a16="http://schemas.microsoft.com/office/drawing/2014/main" id="{4B3DC8FD-AEFD-41F8-BAFC-E84B660C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23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3" name="Google Shape;313;p30">
            <a:extLst xmlns:a="http://schemas.openxmlformats.org/drawingml/2006/main">
              <a:ext uri="{FF2B5EF4-FFF2-40B4-BE49-F238E27FC236}">
                <a16:creationId xmlns:a16="http://schemas.microsoft.com/office/drawing/2014/main" id="{A5925BD6-1092-4FAF-9AD5-7958A1A7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1905120"/>
            <a:ext cx="10000800" cy="1428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一次需求对齐，</a:t>
            </a:r>
            <a:endParaRPr sz="45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确认合作的起点。</a:t>
            </a:r>
            <a:endParaRPr sz="45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4" name="Google Shape;314;p30">
            <a:extLst xmlns:a="http://schemas.openxmlformats.org/drawingml/2006/main">
              <a:ext uri="{FF2B5EF4-FFF2-40B4-BE49-F238E27FC236}">
                <a16:creationId xmlns:a16="http://schemas.microsoft.com/office/drawing/2014/main" id="{C0FA7E9D-A8E0-4600-9B2D-4A4E8882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3895560"/>
            <a:ext cx="10286640" cy="106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试点主题     可用活动系统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奖励边界     验收口径与负责人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5" name="Google Shape;315;p30">
            <a:extLst xmlns:a="http://schemas.openxmlformats.org/drawingml/2006/main">
              <a:ext uri="{FF2B5EF4-FFF2-40B4-BE49-F238E27FC236}">
                <a16:creationId xmlns:a16="http://schemas.microsoft.com/office/drawing/2014/main" id="{A5719217-261F-4FEB-9417-1FE4A050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400720"/>
            <a:ext cx="10477080" cy="42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试点范围、排期与费用在需求确认后约定。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6" name="Google Shape;316;p30">
            <a:extLst xmlns:a="http://schemas.openxmlformats.org/drawingml/2006/main">
              <a:ext uri="{FF2B5EF4-FFF2-40B4-BE49-F238E27FC236}">
                <a16:creationId xmlns:a16="http://schemas.microsoft.com/office/drawing/2014/main" id="{DDAB2C0B-559C-464B-AC9F-6702139B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6019920"/>
            <a:ext cx="1047708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提交前补充：团队履历、岗位配置与实际产能样表。</a:t>
            </a:r>
            <a:endParaRPr sz="15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9687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2026-10-19T02:20:06.9670000Z</dcterms:created>
  <dcterms:modified xsi:type="dcterms:W3CDTF">2026-10-19T02:20:06.9670000Z</dcterms:modified>
</coreProperties>
</file>