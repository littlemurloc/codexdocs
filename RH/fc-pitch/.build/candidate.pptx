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56ec3c54a64fd3" /><Relationship Type="http://schemas.openxmlformats.org/officeDocument/2006/relationships/extended-properties" Target="/docProps/app.xml" Id="Ra12a0b84a53e4784" /><Relationship Type="http://schemas.openxmlformats.org/officeDocument/2006/relationships/officeDocument" Target="/ppt/presentation.xml" Id="Rd0d13bc11191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46fe6a0874cdf"/>
  </p:sldMasterIdLst>
  <p:notesMasterIdLst>
    <p:notesMasterId xmlns:r="http://schemas.openxmlformats.org/officeDocument/2006/relationships" r:id="Rd90fe45651974367"/>
  </p:notesMasterIdLst>
  <p:sldIdLst>
    <p:sldId xmlns:r="http://schemas.openxmlformats.org/officeDocument/2006/relationships" id="256" r:id="R98e32f6f67594f2b"/>
    <p:sldId xmlns:r="http://schemas.openxmlformats.org/officeDocument/2006/relationships" id="257" r:id="Ra4e47b9e440f4b18"/>
    <p:sldId xmlns:r="http://schemas.openxmlformats.org/officeDocument/2006/relationships" id="258" r:id="R7bb35a17d95b43d0"/>
    <p:sldId xmlns:r="http://schemas.openxmlformats.org/officeDocument/2006/relationships" id="259" r:id="R3b034858ea2246cc"/>
    <p:sldId xmlns:r="http://schemas.openxmlformats.org/officeDocument/2006/relationships" id="260" r:id="Rf1435cf9d0514bab"/>
    <p:sldId xmlns:r="http://schemas.openxmlformats.org/officeDocument/2006/relationships" id="261" r:id="R0c9517f4ae9c47db"/>
    <p:sldId xmlns:r="http://schemas.openxmlformats.org/officeDocument/2006/relationships" id="262" r:id="R44ca79800a9b42eb"/>
    <p:sldId xmlns:r="http://schemas.openxmlformats.org/officeDocument/2006/relationships" id="263" r:id="R1780d0bdfca741e4"/>
    <p:sldId xmlns:r="http://schemas.openxmlformats.org/officeDocument/2006/relationships" id="264" r:id="R7e8852e6fcad492c"/>
    <p:sldId xmlns:r="http://schemas.openxmlformats.org/officeDocument/2006/relationships" id="265" r:id="Rf609e97ce2b847f7"/>
    <p:sldId xmlns:r="http://schemas.openxmlformats.org/officeDocument/2006/relationships" id="266" r:id="R782bda682e97440b"/>
    <p:sldId xmlns:r="http://schemas.openxmlformats.org/officeDocument/2006/relationships" id="267" r:id="Re7ac42fd84ec4a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76b600603446d7" /><Relationship Type="http://schemas.openxmlformats.org/officeDocument/2006/relationships/slideMaster" Target="/ppt/slideMasters/slideMaster1.xml" Id="Ra2746fe6a0874cdf" /><Relationship Type="http://schemas.openxmlformats.org/officeDocument/2006/relationships/notesMaster" Target="/ppt/notesMasters/notesMaster1.xml" Id="Rd90fe45651974367" /><Relationship Type="http://schemas.openxmlformats.org/officeDocument/2006/relationships/presProps" Target="/ppt/presProps.xml" Id="R5e4d0921520b4d7a" /><Relationship Type="http://schemas.openxmlformats.org/officeDocument/2006/relationships/tableStyles" Target="/ppt/tableStyles.xml" Id="Ra7217e5c62834160" /><Relationship Type="http://schemas.openxmlformats.org/officeDocument/2006/relationships/slide" Target="/ppt/slides/slide1.xml" Id="R98e32f6f67594f2b" /><Relationship Type="http://schemas.openxmlformats.org/officeDocument/2006/relationships/slide" Target="/ppt/slides/slide2.xml" Id="Ra4e47b9e440f4b18" /><Relationship Type="http://schemas.openxmlformats.org/officeDocument/2006/relationships/slide" Target="/ppt/slides/slide3.xml" Id="R7bb35a17d95b43d0" /><Relationship Type="http://schemas.openxmlformats.org/officeDocument/2006/relationships/slide" Target="/ppt/slides/slide4.xml" Id="R3b034858ea2246cc" /><Relationship Type="http://schemas.openxmlformats.org/officeDocument/2006/relationships/slide" Target="/ppt/slides/slide5.xml" Id="Rf1435cf9d0514bab" /><Relationship Type="http://schemas.openxmlformats.org/officeDocument/2006/relationships/slide" Target="/ppt/slides/slide6.xml" Id="R0c9517f4ae9c47db" /><Relationship Type="http://schemas.openxmlformats.org/officeDocument/2006/relationships/slide" Target="/ppt/slides/slide7.xml" Id="R44ca79800a9b42eb" /><Relationship Type="http://schemas.openxmlformats.org/officeDocument/2006/relationships/slide" Target="/ppt/slides/slide8.xml" Id="R1780d0bdfca741e4" /><Relationship Type="http://schemas.openxmlformats.org/officeDocument/2006/relationships/slide" Target="/ppt/slides/slide9.xml" Id="R7e8852e6fcad492c" /><Relationship Type="http://schemas.openxmlformats.org/officeDocument/2006/relationships/slide" Target="/ppt/slides/slide10.xml" Id="Rf609e97ce2b847f7" /><Relationship Type="http://schemas.openxmlformats.org/officeDocument/2006/relationships/slide" Target="/ppt/slides/slide11.xml" Id="R782bda682e97440b" /><Relationship Type="http://schemas.openxmlformats.org/officeDocument/2006/relationships/slide" Target="/ppt/slides/slide12.xml" Id="Re7ac42fd84ec4a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08297f214a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aecd25858142f9" /><Relationship Type="http://schemas.openxmlformats.org/officeDocument/2006/relationships/notesMaster" Target="/ppt/notesMasters/notesMaster1.xml" Id="Raabd21fea90340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ad7edb7cf14bb3" /><Relationship Type="http://schemas.openxmlformats.org/officeDocument/2006/relationships/notesMaster" Target="/ppt/notesMasters/notesMaster1.xml" Id="R42471a383fb443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f3f042b2614b8c" /><Relationship Type="http://schemas.openxmlformats.org/officeDocument/2006/relationships/notesMaster" Target="/ppt/notesMasters/notesMaster1.xml" Id="Rf8dae9b3b6fd41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cfd0e39997413f" /><Relationship Type="http://schemas.openxmlformats.org/officeDocument/2006/relationships/notesMaster" Target="/ppt/notesMasters/notesMaster1.xml" Id="R85989457d0ab42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e9718180ca4db2" /><Relationship Type="http://schemas.openxmlformats.org/officeDocument/2006/relationships/notesMaster" Target="/ppt/notesMasters/notesMaster1.xml" Id="R4c72104101b349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2246a7b45b4ee6" /><Relationship Type="http://schemas.openxmlformats.org/officeDocument/2006/relationships/notesMaster" Target="/ppt/notesMasters/notesMaster1.xml" Id="Ree7ab28e86b040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406a62e62e46d0" /><Relationship Type="http://schemas.openxmlformats.org/officeDocument/2006/relationships/notesMaster" Target="/ppt/notesMasters/notesMaster1.xml" Id="R21e92621927d47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f4126807df4e7e" /><Relationship Type="http://schemas.openxmlformats.org/officeDocument/2006/relationships/notesMaster" Target="/ppt/notesMasters/notesMaster1.xml" Id="Rb64fb0b19fba40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389f010624480e" /><Relationship Type="http://schemas.openxmlformats.org/officeDocument/2006/relationships/notesMaster" Target="/ppt/notesMasters/notesMaster1.xml" Id="Rfe174802bfdb45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d50bf7d4b04892" /><Relationship Type="http://schemas.openxmlformats.org/officeDocument/2006/relationships/notesMaster" Target="/ppt/notesMasters/notesMaster1.xml" Id="R2802a1e5100f42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40b3c8534149d7" /><Relationship Type="http://schemas.openxmlformats.org/officeDocument/2006/relationships/notesMaster" Target="/ppt/notesMasters/notesMaster1.xml" Id="Rbeb3c9c8a94246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da3efe186b458b" /><Relationship Type="http://schemas.openxmlformats.org/officeDocument/2006/relationships/notesMaster" Target="/ppt/notesMasters/notesMaster1.xml" Id="R393711900df943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开场：建议从一期试点开始，评估我们承担赛季主题、章节玩法、任务奖励和活动体验设计的方式。团队履历、人员配置和报价需在对外提交前补充。</a:t>
            </a:r>
          </a:p>
          <a:p xmlns:a="http://schemas.openxmlformats.org/drawingml/2006/main">
            <a:r>
              <a:t>视觉素材：D:/codex/RH/haaland-offline/assets/haaland-stadium.png，为本项目AI生成概念素材，不是官方宣传图。</a:t>
            </a:r>
          </a:p>
          <a:p xmlns:a="http://schemas.openxmlformats.org/drawingml/2006/main">
            <a:r>
              <a:t>用户提供的空白文件画布为12192000×6858000 EMU，沿用16:9尺寸。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这不是对内部运营效果的判断，而是对公开活动结构的归纳。2025年度最佳包含多章节、代币路径、拼图和球员交换；春节活动包含登录、累计进度和主题挑战。</a:t>
            </a:r>
          </a:p>
          <a:p xmlns:a="http://schemas.openxmlformats.org/drawingml/2006/main">
            <a:r>
              <a:t>来源：EA SPORTS，2025年度最佳活动介绍，https://www.weibo.com/ttarticle/p/show?id=2309405127089513955762</a:t>
            </a:r>
          </a:p>
          <a:p xmlns:a="http://schemas.openxmlformats.org/drawingml/2006/main">
            <a:r>
              <a:t>来源：FC足球世界，马年春节活动公告，https://www.taptap.cn/moment/771064711469861731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这里列的是合作希望实现的目标，不是已有业绩，也没有承诺具体留存或收入增幅。需要在试点前与FC团队确认优先目标，并在复盘时验证。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交付物按FC团队实际配置结构和评审习惯映射。此页是拟议交付目录，不表示这些材料已经全部制作完毕。试点前应准备一份完整配置样表，让制作方验证字段和状态是否足够。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主题方案把哈兰德作为设计线索：训练、创造机会、搭档配合和终章挑战共同构成成长过程。禁区猎手是活动设计的一部分，尚未单独实现到网页原型。网页已有大厅、训练、搭档、征程和冠军五个页面，不能将页面数量等同于完整五个玩法章节。</a:t>
            </a:r>
          </a:p>
          <a:p xmlns:a="http://schemas.openxmlformats.org/drawingml/2006/main">
            <a:r>
              <a:t>视觉素材为本项目AI生成，非官方宣传图片。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整期设计需要独立内容清单，包括训练关卡、周赛场次、路线任务链、奖励节点和日常任务配置。重复日常的次数不等同于新增内容数量。6周指活动运行长度，项目工期另含设计准备、制作接入与复盘。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项目早期网页原型，仅截取手机活动画面用于展示。当前还提供独立的单文件离线版。演示中的训练和比赛采用简化交互，不代表完整足球引擎或游戏客户端实现。禁区猎手未单独接入，完整六周内容也尚未制作。</a:t>
            </a:r>
          </a:p>
          <a:p xmlns:a="http://schemas.openxmlformats.org/drawingml/2006/main">
            <a:r>
              <a:t>截图：D:/codex/RH/haaland-season/preview-overview.jpg</a:t>
            </a:r>
          </a:p>
          <a:p xmlns:a="http://schemas.openxmlformats.org/drawingml/2006/main">
            <a:r>
              <a:t>离线演示：D:/codex/RH/haaland-offline/开始演示-手机预览版.html</a:t>
            </a:r>
          </a:p>
          <a:p xmlns:a="http://schemas.openxmlformats.org/drawingml/2006/main">
            <a:r>
              <a:t>在线参考：https://haaland-season-lab-oct14.apt-toast-4281.chatgpt.site ，当前有访问权限限制，不作为对外提交的唯一入口。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顺序覆盖活动简报、概念评审、内容锁定、配置交付、联调验收和上线复盘。交付日程应以现有系统和资源可用性为前提，避免把需要新增开发的机制混入常规配置工作。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试点需要先确认埋点和历史基线。若没有实验或合适的比较对象，不能将指标变化全部归因于设计合作。球员强度、同期投放、渠道流量和版本变化均可能影响结果。本提案没有虚构项目业绩或提升百分比。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试点可按系统能力缩小范围，不必一次引入全部新机制。设计验收与线上效果验收分别约定。商业目标和最终范围需双方确认，当前不提供未经人员与产能核实的交付承诺。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提出具体请求：与活动策划、产品及开发负责人对齐一次，确认试点主题、系统能力和验收标准。对外发送前需要补充真实的团队履历、岗位配置、产能样表和商务信息，不以当前设计原型替代履约能力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d06eb3bce44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02b83eb7042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cf10411e74c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b1120d0f445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84f5476a48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4b99109cb4c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cfdaf9e8d44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391C39-0C6E-4B18-B83C-B985ACE20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9A1A7D-AC72-4CA1-AA1B-F95DA8CE9F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BFDA8C-A76F-4742-BD28-A74347416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4E828C-D7C9-4E2B-845D-1EB10334C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D99E42-036C-48FC-AF1C-BD6EB6C37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1846A4-A98E-452A-8B35-9EFB41DD4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13967-202F-4E80-9D09-4995DFA850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8118B7-F03D-47ED-BAE5-1FBB02BF8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E6FA9C-1596-449F-975C-C39BDBECA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A127D4-DA65-468A-984F-96FE3413CD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FC season proposal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28afa4314949d2" /><Relationship Type="http://schemas.openxmlformats.org/officeDocument/2006/relationships/slideLayout" Target="/ppt/slideLayouts/slideLayout1.xml" Id="R44757c12ea9b4038" /><Relationship Type="http://schemas.openxmlformats.org/officeDocument/2006/relationships/slideLayout" Target="/ppt/slideLayouts/slideLayout2.xml" Id="R6563140744814b91" /><Relationship Type="http://schemas.openxmlformats.org/officeDocument/2006/relationships/slideLayout" Target="/ppt/slideLayouts/slideLayout3.xml" Id="R9ee674295e4745ac" /><Relationship Type="http://schemas.openxmlformats.org/officeDocument/2006/relationships/slideLayout" Target="/ppt/slideLayouts/slideLayout4.xml" Id="Ra5bc4d38ab874228" /><Relationship Type="http://schemas.openxmlformats.org/officeDocument/2006/relationships/slideLayout" Target="/ppt/slideLayouts/slideLayout5.xml" Id="R56a6c9ede8eb4833" /><Relationship Type="http://schemas.openxmlformats.org/officeDocument/2006/relationships/slideLayout" Target="/ppt/slideLayouts/slideLayout6.xml" Id="R24e00a609aa24687" /><Relationship Type="http://schemas.openxmlformats.org/officeDocument/2006/relationships/slideLayout" Target="/ppt/slideLayouts/slideLayout7.xml" Id="R997c22b78d7e4f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57c12ea9b4038"/>
    <p:sldLayoutId xmlns:r="http://schemas.openxmlformats.org/officeDocument/2006/relationships" id="2147483650" r:id="R6563140744814b91"/>
    <p:sldLayoutId xmlns:r="http://schemas.openxmlformats.org/officeDocument/2006/relationships" id="2147483651" r:id="R9ee674295e4745ac"/>
    <p:sldLayoutId xmlns:r="http://schemas.openxmlformats.org/officeDocument/2006/relationships" id="2147483652" r:id="Ra5bc4d38ab874228"/>
    <p:sldLayoutId xmlns:r="http://schemas.openxmlformats.org/officeDocument/2006/relationships" id="2147483653" r:id="R56a6c9ede8eb4833"/>
    <p:sldLayoutId xmlns:r="http://schemas.openxmlformats.org/officeDocument/2006/relationships" id="2147483654" r:id="R24e00a609aa24687"/>
    <p:sldLayoutId xmlns:r="http://schemas.openxmlformats.org/officeDocument/2006/relationships" id="2147483655" r:id="R997c22b78d7e4f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bb7b2a4b034ce7" /><Relationship Type="http://schemas.openxmlformats.org/officeDocument/2006/relationships/image" Target="/ppt/media/image.png" Id="R279deea85ebc4168" /><Relationship Type="http://schemas.openxmlformats.org/officeDocument/2006/relationships/notesSlide" Target="/ppt/notesSlides/notesSlide1.xml" Id="R520c1685727544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3f7b81d0f64e20" /><Relationship Type="http://schemas.openxmlformats.org/officeDocument/2006/relationships/notesSlide" Target="/ppt/notesSlides/notesSlide2.xml" Id="Rea6da60f2bbd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2420cbaf6d4ade" /><Relationship Type="http://schemas.openxmlformats.org/officeDocument/2006/relationships/notesSlide" Target="/ppt/notesSlides/notesSlide3.xml" Id="R2e615f6df94348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be40c4bc944e50" /><Relationship Type="http://schemas.openxmlformats.org/officeDocument/2006/relationships/notesSlide" Target="/ppt/notesSlides/notesSlide4.xml" Id="R7ffed6d4688945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661aab3e6d4825" /><Relationship Type="http://schemas.openxmlformats.org/officeDocument/2006/relationships/notesSlide" Target="/ppt/notesSlides/notesSlide5.xml" Id="R61f3787e293247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cdec0dbcb14f08" /><Relationship Type="http://schemas.openxmlformats.org/officeDocument/2006/relationships/image" Target="/ppt/media/image2.png" Id="R8f5f9f0540c84d9c" /><Relationship Type="http://schemas.openxmlformats.org/officeDocument/2006/relationships/notesSlide" Target="/ppt/notesSlides/notesSlide6.xml" Id="R32637e0d4b8541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62fb07b20e4f19" /><Relationship Type="http://schemas.openxmlformats.org/officeDocument/2006/relationships/notesSlide" Target="/ppt/notesSlides/notesSlide7.xml" Id="R0533e7061add44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84f42309664521" /><Relationship Type="http://schemas.openxmlformats.org/officeDocument/2006/relationships/image" Target="/ppt/media/image.jpeg" Id="Rc41a766265e042cb" /><Relationship Type="http://schemas.openxmlformats.org/officeDocument/2006/relationships/notesSlide" Target="/ppt/notesSlides/notesSlide8.xml" Id="Rad47a6270f1f42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adab89e9504f8f" /><Relationship Type="http://schemas.openxmlformats.org/officeDocument/2006/relationships/notesSlide" Target="/ppt/notesSlides/notesSlide9.xml" Id="R103cf59394864a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d69aa1c4834896" /><Relationship Type="http://schemas.openxmlformats.org/officeDocument/2006/relationships/notesSlide" Target="/ppt/notesSlides/notesSlide10.xml" Id="R2d4f0621901f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895ec40e634236" /><Relationship Type="http://schemas.openxmlformats.org/officeDocument/2006/relationships/notesSlide" Target="/ppt/notesSlides/notesSlide11.xml" Id="R57fd2066ad364e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bce00006c243e9" /><Relationship Type="http://schemas.openxmlformats.org/officeDocument/2006/relationships/notesSlide" Target="/ppt/notesSlides/notesSlide12.xml" Id="Rfc434eaff26946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C6A4C-99C3-4938-A7E3-A45C80ABE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deea85ebc41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B9218340-1129-4F5E-B378-9B7CB71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FC 足球世界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7031C9A-61D5-4AA6-A4D0-93F95D1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572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赛季活动设计</a:t>
            </a:r>
          </a:p>
          <a:p xmlns:a="http://schemas.openxmlformats.org/drawingml/2006/main">
            <a:pPr algn="l"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合作提案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EF8AE3-96B6-4C95-B42F-FE691FA9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通过一期试点，建立持续的活动内容交付合作</a:t>
            </a:r>
          </a:p>
        </p:txBody>
      </p:sp>
      <p:sp>
        <p:nvSpPr>
          <p:cNvPr id="5" name="discussion-label">
            <a:extLst xmlns:a="http://schemas.openxmlformats.org/drawingml/2006/main">
              <a:ext uri="{FF2B5EF4-FFF2-40B4-BE49-F238E27FC236}">
                <a16:creationId xmlns:a16="http://schemas.microsoft.com/office/drawing/2014/main" id="{A146037F-71A1-4C1B-9DAE-3E22CF39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合作讨论稿</a:t>
            </a:r>
          </a:p>
        </p:txBody>
      </p:sp>
    </p:spTree>
    <p:extLst>
      <p:ext uri="{BB962C8B-B14F-4D97-AF65-F5344CB8AC3E}">
        <p14:creationId xmlns:p14="http://schemas.microsoft.com/office/powerpoint/2010/main" val="319772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84979F-37BB-4033-B80B-40E82846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现有活动的组织方式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5A76E3A-355A-4239-AC35-803B49C5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根据公开活动样本归纳：主题提供表达，球员获取和球队成长串联体验。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2ADA96-4F9D-402D-8826-98D53F6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framework-0">
            <a:extLst xmlns:a="http://schemas.openxmlformats.org/drawingml/2006/main">
              <a:ext uri="{FF2B5EF4-FFF2-40B4-BE49-F238E27FC236}">
                <a16:creationId xmlns:a16="http://schemas.microsoft.com/office/drawing/2014/main" id="{816CC7C1-B48B-4217-B871-7D34A0E5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5" name="framework-desc-0">
            <a:extLst xmlns:a="http://schemas.openxmlformats.org/drawingml/2006/main">
              <a:ext uri="{FF2B5EF4-FFF2-40B4-BE49-F238E27FC236}">
                <a16:creationId xmlns:a16="http://schemas.microsoft.com/office/drawing/2014/main" id="{DBC592B6-0614-4A98-9F3F-1638867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0275"/>
            <a:ext cx="890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年度荣誉、真实赛事、传奇球星与节日庆典</a:t>
            </a:r>
          </a:p>
        </p:txBody>
      </p:sp>
      <p:sp>
        <p:nvSpPr>
          <p:cNvPr id="6" name="framework-1">
            <a:extLst xmlns:a="http://schemas.openxmlformats.org/drawingml/2006/main">
              <a:ext uri="{FF2B5EF4-FFF2-40B4-BE49-F238E27FC236}">
                <a16:creationId xmlns:a16="http://schemas.microsoft.com/office/drawing/2014/main" id="{53E22B47-6A45-4803-9D6D-411E4AFA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参与</a:t>
            </a:r>
          </a:p>
        </p:txBody>
      </p:sp>
      <p:sp>
        <p:nvSpPr>
          <p:cNvPr id="7" name="framework-desc-1">
            <a:extLst xmlns:a="http://schemas.openxmlformats.org/drawingml/2006/main">
              <a:ext uri="{FF2B5EF4-FFF2-40B4-BE49-F238E27FC236}">
                <a16:creationId xmlns:a16="http://schemas.microsoft.com/office/drawing/2014/main" id="{2DEFE960-C5B4-4894-96DF-85E82C2A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14650"/>
            <a:ext cx="890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登录、训练、比赛、任务与主题互动</a:t>
            </a:r>
          </a:p>
        </p:txBody>
      </p:sp>
      <p:sp>
        <p:nvSpPr>
          <p:cNvPr id="8" name="framework-2">
            <a:extLst xmlns:a="http://schemas.openxmlformats.org/drawingml/2006/main">
              <a:ext uri="{FF2B5EF4-FFF2-40B4-BE49-F238E27FC236}">
                <a16:creationId xmlns:a16="http://schemas.microsoft.com/office/drawing/2014/main" id="{831A12CC-84DB-4EF9-8337-CEE792C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推进</a:t>
            </a:r>
          </a:p>
        </p:txBody>
      </p:sp>
      <p:sp>
        <p:nvSpPr>
          <p:cNvPr id="9" name="framework-desc-2">
            <a:extLst xmlns:a="http://schemas.openxmlformats.org/drawingml/2006/main">
              <a:ext uri="{FF2B5EF4-FFF2-40B4-BE49-F238E27FC236}">
                <a16:creationId xmlns:a16="http://schemas.microsoft.com/office/drawing/2014/main" id="{BEF756D0-2040-4764-89F7-00A7C03F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29025"/>
            <a:ext cx="890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代币、路径、拼图、里程碑与阶段开放</a:t>
            </a:r>
          </a:p>
        </p:txBody>
      </p:sp>
      <p:sp>
        <p:nvSpPr>
          <p:cNvPr id="10" name="framework-3">
            <a:extLst xmlns:a="http://schemas.openxmlformats.org/drawingml/2006/main">
              <a:ext uri="{FF2B5EF4-FFF2-40B4-BE49-F238E27FC236}">
                <a16:creationId xmlns:a16="http://schemas.microsoft.com/office/drawing/2014/main" id="{B34F4B48-DF90-4867-85BD-ADCC0849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</a:t>
            </a:r>
          </a:p>
        </p:txBody>
      </p:sp>
      <p:sp>
        <p:nvSpPr>
          <p:cNvPr id="11" name="framework-desc-3">
            <a:extLst xmlns:a="http://schemas.openxmlformats.org/drawingml/2006/main">
              <a:ext uri="{FF2B5EF4-FFF2-40B4-BE49-F238E27FC236}">
                <a16:creationId xmlns:a16="http://schemas.microsoft.com/office/drawing/2014/main" id="{6F779CEC-A20D-4714-AE17-2B8DE3D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890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球员、交换资格、养成资源与展示内容</a:t>
            </a:r>
          </a:p>
        </p:txBody>
      </p:sp>
      <p:sp>
        <p:nvSpPr>
          <p:cNvPr id="12" name="framework-4">
            <a:extLst xmlns:a="http://schemas.openxmlformats.org/drawingml/2006/main">
              <a:ext uri="{FF2B5EF4-FFF2-40B4-BE49-F238E27FC236}">
                <a16:creationId xmlns:a16="http://schemas.microsoft.com/office/drawing/2014/main" id="{E1C8A9EC-D583-4A99-85E4-4E729C33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节奏</a:t>
            </a:r>
          </a:p>
        </p:txBody>
      </p:sp>
      <p:sp>
        <p:nvSpPr>
          <p:cNvPr id="13" name="framework-desc-4">
            <a:extLst xmlns:a="http://schemas.openxmlformats.org/drawingml/2006/main">
              <a:ext uri="{FF2B5EF4-FFF2-40B4-BE49-F238E27FC236}">
                <a16:creationId xmlns:a16="http://schemas.microsoft.com/office/drawing/2014/main" id="{B7183040-329E-451A-BAB3-60FCE13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57775"/>
            <a:ext cx="890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每日参与、每周更新、整期目标</a:t>
            </a:r>
          </a:p>
        </p:txBody>
      </p:sp>
      <p:sp>
        <p:nvSpPr>
          <p:cNvPr id="14" name="sample-caveat">
            <a:extLst xmlns:a="http://schemas.openxmlformats.org/drawingml/2006/main">
              <a:ext uri="{FF2B5EF4-FFF2-40B4-BE49-F238E27FC236}">
                <a16:creationId xmlns:a16="http://schemas.microsoft.com/office/drawing/2014/main" id="{10846A55-F992-434B-8210-1018A42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公开样本的设计归纳，具体机制随活动变化</a:t>
            </a:r>
          </a:p>
        </p:txBody>
      </p:sp>
    </p:spTree>
    <p:extLst>
      <p:ext uri="{BB962C8B-B14F-4D97-AF65-F5344CB8AC3E}">
        <p14:creationId xmlns:p14="http://schemas.microsoft.com/office/powerpoint/2010/main" val="492560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67324E-59E2-41C8-BDA5-C9885ED9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合作目标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3839D55-8097-4E3E-9B1B-6D7F22B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每期主题形成明确的参与体验，交付内容能够排期、制作和验收。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CB4C78-2535-4610-9F53-B7F05065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goal-title-0">
            <a:extLst xmlns:a="http://schemas.openxmlformats.org/drawingml/2006/main">
              <a:ext uri="{FF2B5EF4-FFF2-40B4-BE49-F238E27FC236}">
                <a16:creationId xmlns:a16="http://schemas.microsoft.com/office/drawing/2014/main" id="{13EF17BF-4648-4F96-85E8-AD649E3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主题表达</a:t>
            </a:r>
          </a:p>
        </p:txBody>
      </p:sp>
      <p:sp>
        <p:nvSpPr>
          <p:cNvPr id="5" name="goal-body-0">
            <a:extLst xmlns:a="http://schemas.openxmlformats.org/drawingml/2006/main">
              <a:ext uri="{FF2B5EF4-FFF2-40B4-BE49-F238E27FC236}">
                <a16:creationId xmlns:a16="http://schemas.microsoft.com/office/drawing/2014/main" id="{97B294AF-6609-4D1D-A83B-E26FAED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将主题落实到章节目标与玩家选择，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让球星特色影响参与方式。</a:t>
            </a:r>
          </a:p>
        </p:txBody>
      </p:sp>
      <p:sp>
        <p:nvSpPr>
          <p:cNvPr id="6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41F495CB-EA71-482F-B10A-A1A989E4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制作明确</a:t>
            </a:r>
          </a:p>
        </p:txBody>
      </p:sp>
      <p:sp>
        <p:nvSpPr>
          <p:cNvPr id="7" name="goal-body-1">
            <a:extLst xmlns:a="http://schemas.openxmlformats.org/drawingml/2006/main">
              <a:ext uri="{FF2B5EF4-FFF2-40B4-BE49-F238E27FC236}">
                <a16:creationId xmlns:a16="http://schemas.microsoft.com/office/drawing/2014/main" id="{4777B37B-926C-42D6-ABD9-09BFD20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194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同步交付规则、字段、界面状态与素材需求，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提前识别制作依赖。</a:t>
            </a:r>
          </a:p>
        </p:txBody>
      </p:sp>
      <p:sp>
        <p:nvSpPr>
          <p:cNvPr id="8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ED3653CC-8CAC-4260-BA8E-4CB4A72C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持续更新</a:t>
            </a:r>
          </a:p>
        </p:txBody>
      </p:sp>
      <p:sp>
        <p:nvSpPr>
          <p:cNvPr id="9" name="goal-body-2">
            <a:extLst xmlns:a="http://schemas.openxmlformats.org/drawingml/2006/main">
              <a:ext uri="{FF2B5EF4-FFF2-40B4-BE49-F238E27FC236}">
                <a16:creationId xmlns:a16="http://schemas.microsoft.com/office/drawing/2014/main" id="{7A522BFE-E4C5-41F3-A10D-08196DD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将整期目标拆到每周内容与每日循环，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保持奖励路径清晰。</a:t>
            </a:r>
          </a:p>
        </p:txBody>
      </p:sp>
      <p:sp>
        <p:nvSpPr>
          <p:cNvPr id="10" name="goal-title-3">
            <a:extLst xmlns:a="http://schemas.openxmlformats.org/drawingml/2006/main">
              <a:ext uri="{FF2B5EF4-FFF2-40B4-BE49-F238E27FC236}">
                <a16:creationId xmlns:a16="http://schemas.microsoft.com/office/drawing/2014/main" id="{5F28CE1D-B6AA-4301-B484-EA75B03B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386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结果复盘</a:t>
            </a:r>
          </a:p>
        </p:txBody>
      </p:sp>
      <p:sp>
        <p:nvSpPr>
          <p:cNvPr id="11" name="goal-body-3">
            <a:extLst xmlns:a="http://schemas.openxmlformats.org/drawingml/2006/main">
              <a:ext uri="{FF2B5EF4-FFF2-40B4-BE49-F238E27FC236}">
                <a16:creationId xmlns:a16="http://schemas.microsoft.com/office/drawing/2014/main" id="{B39A808F-7A1A-4F77-88D9-C30F65F1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通过参与、完成和交付记录，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提出下一期的具体调整。</a:t>
            </a:r>
          </a:p>
        </p:txBody>
      </p:sp>
    </p:spTree>
    <p:extLst>
      <p:ext uri="{BB962C8B-B14F-4D97-AF65-F5344CB8AC3E}">
        <p14:creationId xmlns:p14="http://schemas.microsoft.com/office/powerpoint/2010/main" val="1750509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67EB3-E53E-4423-8244-84E08A7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合作范围与决策分工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ABA7653-BA87-4702-B871-6174B9F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首期以活动内容设计为主，配置制作与上线执行按工具、权限和人员逐步扩大。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05774-B422-4E94-A928-5B41C71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12452-955C-4F35-8ABB-124710A034ED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781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419600"/>
                <a:gridCol w="4495800"/>
              </a:tblGrid>
              <a:tr h="630238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我们拟承担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FC团队确认或决策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主题与玩法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概念、章节及内容清单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方向、档期与系统限制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任务与奖励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规则、配置建议及测算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经济、评级与投放审批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 UI/UX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流程、原型及素材需求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设计规范与制作标准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制作与验收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配置映射、修订与内容验收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客户端、服务端及版本接入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上线与复盘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观察结果、分析及调整建议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发布审批与线上变更权限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84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B47832-84FB-48C4-B6F6-C3AC02E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每期的交付清单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7E3E19-7023-496C-9D99-9D37195B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delivery-headline">
            <a:extLst xmlns:a="http://schemas.openxmlformats.org/drawingml/2006/main">
              <a:ext uri="{FF2B5EF4-FFF2-40B4-BE49-F238E27FC236}">
                <a16:creationId xmlns:a16="http://schemas.microsoft.com/office/drawing/2014/main" id="{07FCEBF0-2E78-4EC4-86DD-D7F9D7A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429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一套可以进入</a:t>
            </a:r>
          </a:p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制作评审的设计包</a:t>
            </a:r>
          </a:p>
        </p:txBody>
      </p:sp>
      <p:sp>
        <p:nvSpPr>
          <p:cNvPr id="4" name="delivery-context">
            <a:extLst xmlns:a="http://schemas.openxmlformats.org/drawingml/2006/main">
              <a:ext uri="{FF2B5EF4-FFF2-40B4-BE49-F238E27FC236}">
                <a16:creationId xmlns:a16="http://schemas.microsoft.com/office/drawing/2014/main" id="{454E9478-9E71-45F2-844E-8EDA7E22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交付颗粒度与对方模板对齐。</a:t>
            </a:r>
          </a:p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新增系统能力单独提出需求。</a:t>
            </a:r>
          </a:p>
        </p:txBody>
      </p:sp>
      <p:sp>
        <p:nvSpPr>
          <p:cNvPr id="5" name="delivery-title-0">
            <a:extLst xmlns:a="http://schemas.openxmlformats.org/drawingml/2006/main">
              <a:ext uri="{FF2B5EF4-FFF2-40B4-BE49-F238E27FC236}">
                <a16:creationId xmlns:a16="http://schemas.microsoft.com/office/drawing/2014/main" id="{7AEFB6B0-590E-46C9-A4A2-35F5541C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赛季总案</a:t>
            </a:r>
          </a:p>
        </p:txBody>
      </p:sp>
      <p:sp>
        <p:nvSpPr>
          <p:cNvPr id="6" name="delivery-body-0">
            <a:extLst xmlns:a="http://schemas.openxmlformats.org/drawingml/2006/main">
              <a:ext uri="{FF2B5EF4-FFF2-40B4-BE49-F238E27FC236}">
                <a16:creationId xmlns:a16="http://schemas.microsoft.com/office/drawing/2014/main" id="{299C67D5-3891-4BA3-96BD-A459DED7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主题、目标玩家、章节关系和日历</a:t>
            </a:r>
          </a:p>
        </p:txBody>
      </p:sp>
      <p:sp>
        <p:nvSpPr>
          <p:cNvPr id="7" name="delivery-title-1">
            <a:extLst xmlns:a="http://schemas.openxmlformats.org/drawingml/2006/main">
              <a:ext uri="{FF2B5EF4-FFF2-40B4-BE49-F238E27FC236}">
                <a16:creationId xmlns:a16="http://schemas.microsoft.com/office/drawing/2014/main" id="{693D7F07-0723-4090-AE01-5D050ACB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完整内容</a:t>
            </a:r>
          </a:p>
        </p:txBody>
      </p:sp>
      <p:sp>
        <p:nvSpPr>
          <p:cNvPr id="8" name="delivery-body-1">
            <a:extLst xmlns:a="http://schemas.openxmlformats.org/drawingml/2006/main">
              <a:ext uri="{FF2B5EF4-FFF2-40B4-BE49-F238E27FC236}">
                <a16:creationId xmlns:a16="http://schemas.microsoft.com/office/drawing/2014/main" id="{5AC7C90F-D683-44D3-AED9-7FE98557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关卡、任务、奖励节点与获取方式</a:t>
            </a:r>
          </a:p>
        </p:txBody>
      </p:sp>
      <p:sp>
        <p:nvSpPr>
          <p:cNvPr id="9" name="delivery-title-2">
            <a:extLst xmlns:a="http://schemas.openxmlformats.org/drawingml/2006/main">
              <a:ext uri="{FF2B5EF4-FFF2-40B4-BE49-F238E27FC236}">
                <a16:creationId xmlns:a16="http://schemas.microsoft.com/office/drawing/2014/main" id="{E56D8F70-D498-4665-ACED-0ADB9802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规则与数值</a:t>
            </a:r>
          </a:p>
        </p:txBody>
      </p:sp>
      <p:sp>
        <p:nvSpPr>
          <p:cNvPr id="10" name="delivery-body-2">
            <a:extLst xmlns:a="http://schemas.openxmlformats.org/drawingml/2006/main">
              <a:ext uri="{FF2B5EF4-FFF2-40B4-BE49-F238E27FC236}">
                <a16:creationId xmlns:a16="http://schemas.microsoft.com/office/drawing/2014/main" id="{AFE2A3A4-9815-4776-825E-EA33B38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052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产出、消耗、门槛与异常状态</a:t>
            </a:r>
          </a:p>
        </p:txBody>
      </p:sp>
      <p:sp>
        <p:nvSpPr>
          <p:cNvPr id="11" name="delivery-title-3">
            <a:extLst xmlns:a="http://schemas.openxmlformats.org/drawingml/2006/main">
              <a:ext uri="{FF2B5EF4-FFF2-40B4-BE49-F238E27FC236}">
                <a16:creationId xmlns:a16="http://schemas.microsoft.com/office/drawing/2014/main" id="{E583C694-BC13-4EC7-9842-286BDC7A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UI/UX材料</a:t>
            </a:r>
          </a:p>
        </p:txBody>
      </p:sp>
      <p:sp>
        <p:nvSpPr>
          <p:cNvPr id="12" name="delivery-body-3">
            <a:extLst xmlns:a="http://schemas.openxmlformats.org/drawingml/2006/main">
              <a:ext uri="{FF2B5EF4-FFF2-40B4-BE49-F238E27FC236}">
                <a16:creationId xmlns:a16="http://schemas.microsoft.com/office/drawing/2014/main" id="{B5E9CEA3-4ABC-4AA8-A2D7-CEB04F0A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910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流程、线框、交互原型和文案</a:t>
            </a:r>
          </a:p>
        </p:txBody>
      </p:sp>
      <p:sp>
        <p:nvSpPr>
          <p:cNvPr id="13" name="delivery-title-4">
            <a:extLst xmlns:a="http://schemas.openxmlformats.org/drawingml/2006/main">
              <a:ext uri="{FF2B5EF4-FFF2-40B4-BE49-F238E27FC236}">
                <a16:creationId xmlns:a16="http://schemas.microsoft.com/office/drawing/2014/main" id="{4D2CF26C-6D5C-4870-8E29-900BCA90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434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制作材料</a:t>
            </a:r>
          </a:p>
        </p:txBody>
      </p:sp>
      <p:sp>
        <p:nvSpPr>
          <p:cNvPr id="14" name="delivery-body-4">
            <a:extLst xmlns:a="http://schemas.openxmlformats.org/drawingml/2006/main">
              <a:ext uri="{FF2B5EF4-FFF2-40B4-BE49-F238E27FC236}">
                <a16:creationId xmlns:a16="http://schemas.microsoft.com/office/drawing/2014/main" id="{F7A69674-BC38-45BE-B181-A6073F8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768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素材清单、字段映射和开发需求</a:t>
            </a:r>
          </a:p>
        </p:txBody>
      </p:sp>
      <p:sp>
        <p:nvSpPr>
          <p:cNvPr id="15" name="delivery-title-5">
            <a:extLst xmlns:a="http://schemas.openxmlformats.org/drawingml/2006/main">
              <a:ext uri="{FF2B5EF4-FFF2-40B4-BE49-F238E27FC236}">
                <a16:creationId xmlns:a16="http://schemas.microsoft.com/office/drawing/2014/main" id="{14126FFC-D0C3-4AC2-BE5E-E5D08BC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运营材料</a:t>
            </a:r>
          </a:p>
        </p:txBody>
      </p:sp>
      <p:sp>
        <p:nvSpPr>
          <p:cNvPr id="16" name="delivery-body-5">
            <a:extLst xmlns:a="http://schemas.openxmlformats.org/drawingml/2006/main">
              <a:ext uri="{FF2B5EF4-FFF2-40B4-BE49-F238E27FC236}">
                <a16:creationId xmlns:a16="http://schemas.microsoft.com/office/drawing/2014/main" id="{DCE23A52-5941-4217-9143-EA2C53EA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62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验收、埋点需求和复盘报告</a:t>
            </a:r>
          </a:p>
        </p:txBody>
      </p:sp>
    </p:spTree>
    <p:extLst>
      <p:ext uri="{BB962C8B-B14F-4D97-AF65-F5344CB8AC3E}">
        <p14:creationId xmlns:p14="http://schemas.microsoft.com/office/powerpoint/2010/main" val="514247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017EC-A582-4A0B-97A2-15062C022C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f9f0540c84d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05C39DD8-E164-4A91-8113-EC773BB0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设计案例</a:t>
            </a:r>
          </a:p>
        </p:txBody>
      </p:sp>
      <p:sp>
        <p:nvSpPr>
          <p:cNvPr id="3" name="case-title">
            <a:extLst xmlns:a="http://schemas.openxmlformats.org/drawingml/2006/main">
              <a:ext uri="{FF2B5EF4-FFF2-40B4-BE49-F238E27FC236}">
                <a16:creationId xmlns:a16="http://schemas.microsoft.com/office/drawing/2014/main" id="{3F12693E-50AB-43BF-A44E-A4AAD01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哈兰德的</a:t>
            </a:r>
          </a:p>
          <a:p xmlns:a="http://schemas.openxmlformats.org/drawingml/2006/main">
            <a:pPr algn="l"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锋线征程</a:t>
            </a:r>
          </a:p>
        </p:txBody>
      </p:sp>
      <p:sp>
        <p:nvSpPr>
          <p:cNvPr id="4" name="case-promise">
            <a:extLst xmlns:a="http://schemas.openxmlformats.org/drawingml/2006/main">
              <a:ext uri="{FF2B5EF4-FFF2-40B4-BE49-F238E27FC236}">
                <a16:creationId xmlns:a16="http://schemas.microsoft.com/office/drawing/2014/main" id="{A8C067EF-793B-45DE-9842-3C59365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围绕中锋创造机会，完成高效终结。</a:t>
            </a:r>
          </a:p>
        </p:txBody>
      </p:sp>
      <p:sp>
        <p:nvSpPr>
          <p:cNvPr id="5" name="case-chapters">
            <a:extLst xmlns:a="http://schemas.openxmlformats.org/drawingml/2006/main">
              <a:ext uri="{FF2B5EF4-FFF2-40B4-BE49-F238E27FC236}">
                <a16:creationId xmlns:a16="http://schemas.microsoft.com/office/drawing/2014/main" id="{FF3D09FB-8D04-4A51-AC44-3632E14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191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射手训练场   技巧与终结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禁区猎手       应对不同防线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最佳搭档       选择配合路线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金靴征程       推进球员奖励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冠军之夜       完成终章挑战</a:t>
            </a:r>
          </a:p>
        </p:txBody>
      </p:sp>
      <p:sp>
        <p:nvSpPr>
          <p:cNvPr id="6" name="case-caveat">
            <a:extLst xmlns:a="http://schemas.openxmlformats.org/drawingml/2006/main">
              <a:ext uri="{FF2B5EF4-FFF2-40B4-BE49-F238E27FC236}">
                <a16:creationId xmlns:a16="http://schemas.microsoft.com/office/drawing/2014/main" id="{B03B8F15-C49D-49D0-AE76-9FF32B4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原创概念，按6周活动假设设计。AI生成主题视觉。</a:t>
            </a:r>
          </a:p>
        </p:txBody>
      </p:sp>
    </p:spTree>
    <p:extLst>
      <p:ext uri="{BB962C8B-B14F-4D97-AF65-F5344CB8AC3E}">
        <p14:creationId xmlns:p14="http://schemas.microsoft.com/office/powerpoint/2010/main" val="743667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2D1915-09F4-4EE7-83BD-54E04DE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六周赛季的内容节奏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4CCAAFC-A1EF-411F-909A-32D4F8B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开放顺序同时考虑学习、阶段目标和核心奖励的达成时间。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9134C7-9857-4A20-A426-1D6F745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0DA4D-FFD6-4232-B55D-ACC962BE0F12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438650"/>
                <a:gridCol w="4286250"/>
              </a:tblGrid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内容重点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玩家目标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第1至2周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基础训练、主题比赛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熟悉终结方式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第3至4周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搭档路线、进阶挑战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形成自己的进攻组合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第5周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冠军之夜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冲击核心球员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第6周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补领与剩余目标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完成征程与收藏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calendar-caveat">
            <a:extLst xmlns:a="http://schemas.openxmlformats.org/drawingml/2006/main">
              <a:ext uri="{FF2B5EF4-FFF2-40B4-BE49-F238E27FC236}">
                <a16:creationId xmlns:a16="http://schemas.microsoft.com/office/drawing/2014/main" id="{97630110-5074-4140-9298-16DD4852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开放时间与内容数量为初步设计，需结合现有系统、投放和制作产能确认。</a:t>
            </a:r>
          </a:p>
        </p:txBody>
      </p:sp>
    </p:spTree>
    <p:extLst>
      <p:ext uri="{BB962C8B-B14F-4D97-AF65-F5344CB8AC3E}">
        <p14:creationId xmlns:p14="http://schemas.microsoft.com/office/powerpoint/2010/main" val="1537112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D2CAE9-6FAA-43F1-A78E-38481DC1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关键交互已经有可操作的样板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64DC0CF-B476-498B-A782-5F432A74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训练、路线选择、奖励领取和冠军结算，能够在同一条体验流程中演示。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97A515-0AC3-485E-8AA5-845B0BED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850AA-6B33-42D2-82F9-A20439391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a766265e042cb"/>
          <a:srcRect xmlns:a="http://schemas.openxmlformats.org/drawingml/2006/main" l="3600" t="20100" r="2600" b="28700"/>
          <a:stretch xmlns:a="http://schemas.openxmlformats.org/drawingml/2006/main"/>
        </p:blipFill>
        <p:spPr>
          <a:xfrm xmlns:a="http://schemas.openxmlformats.org/drawingml/2006/main">
            <a:off x="685800" y="1905000"/>
            <a:ext cx="10820400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prototype-caveat">
            <a:extLst xmlns:a="http://schemas.openxmlformats.org/drawingml/2006/main">
              <a:ext uri="{FF2B5EF4-FFF2-40B4-BE49-F238E27FC236}">
                <a16:creationId xmlns:a16="http://schemas.microsoft.com/office/drawing/2014/main" id="{BE22CC9F-00EC-4717-A0A7-7963512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当前为交互样板，完整关卡、赛季配置与游戏客户端接入仍需制作。</a:t>
            </a:r>
          </a:p>
        </p:txBody>
      </p:sp>
    </p:spTree>
    <p:extLst>
      <p:ext uri="{BB962C8B-B14F-4D97-AF65-F5344CB8AC3E}">
        <p14:creationId xmlns:p14="http://schemas.microsoft.com/office/powerpoint/2010/main" val="1068409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0AC2EF-FD58-407C-8F94-81E5D174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持续内容交付流程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0874FE7-0B77-4D2C-9B8A-A348BF4E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每个阶段保留确认人和验收项，新增系统能力单独评估排期。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C34811-CB41-427A-BADF-9E26F8D0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process-index-0">
            <a:extLst xmlns:a="http://schemas.openxmlformats.org/drawingml/2006/main">
              <a:ext uri="{FF2B5EF4-FFF2-40B4-BE49-F238E27FC236}">
                <a16:creationId xmlns:a16="http://schemas.microsoft.com/office/drawing/2014/main" id="{3ECC2C92-7573-4925-94B7-2AFBC4BC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3A07B950-5CC3-4112-A0DB-964285A7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需求对齐</a:t>
            </a:r>
          </a:p>
        </p:txBody>
      </p:sp>
      <p:sp>
        <p:nvSpPr>
          <p:cNvPr id="6" name="process-body-0">
            <a:extLst xmlns:a="http://schemas.openxmlformats.org/drawingml/2006/main">
              <a:ext uri="{FF2B5EF4-FFF2-40B4-BE49-F238E27FC236}">
                <a16:creationId xmlns:a16="http://schemas.microsoft.com/office/drawing/2014/main" id="{BBFDD61D-D7F7-4FCE-99CE-E54FCB3E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38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档期、主题和目标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球员池与奖励边界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现有活动系统能力</a:t>
            </a:r>
          </a:p>
        </p:txBody>
      </p:sp>
      <p:sp>
        <p:nvSpPr>
          <p:cNvPr id="7" name="process-index-1">
            <a:extLst xmlns:a="http://schemas.openxmlformats.org/drawingml/2006/main">
              <a:ext uri="{FF2B5EF4-FFF2-40B4-BE49-F238E27FC236}">
                <a16:creationId xmlns:a16="http://schemas.microsoft.com/office/drawing/2014/main" id="{50DF8C56-E712-4715-AA7A-E2E87F4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010B1A66-556C-41B8-BA95-DD2FE6D7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337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设计锁定</a:t>
            </a:r>
          </a:p>
        </p:txBody>
      </p:sp>
      <p:sp>
        <p:nvSpPr>
          <p:cNvPr id="9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E0CEF120-26C6-4BD0-A25C-D8920C7F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38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章节和核心玩法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任务、规则与奖励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原型和制作依赖</a:t>
            </a:r>
          </a:p>
        </p:txBody>
      </p:sp>
      <p:sp>
        <p:nvSpPr>
          <p:cNvPr id="10" name="process-index-2">
            <a:extLst xmlns:a="http://schemas.openxmlformats.org/drawingml/2006/main">
              <a:ext uri="{FF2B5EF4-FFF2-40B4-BE49-F238E27FC236}">
                <a16:creationId xmlns:a16="http://schemas.microsoft.com/office/drawing/2014/main" id="{1CDE5030-38ED-4D88-9DB2-6914E30D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3F0231CA-A43F-4517-B000-BC4FCA0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337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制作联调</a:t>
            </a:r>
          </a:p>
        </p:txBody>
      </p:sp>
      <p:sp>
        <p:nvSpPr>
          <p:cNvPr id="12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67B5263A-4B02-4926-82E6-2C792A4A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238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字段与配置交付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客户端和美术接入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完整路径与异常验收</a:t>
            </a:r>
          </a:p>
        </p:txBody>
      </p:sp>
      <p:sp>
        <p:nvSpPr>
          <p:cNvPr id="13" name="process-index-3">
            <a:extLst xmlns:a="http://schemas.openxmlformats.org/drawingml/2006/main">
              <a:ext uri="{FF2B5EF4-FFF2-40B4-BE49-F238E27FC236}">
                <a16:creationId xmlns:a16="http://schemas.microsoft.com/office/drawing/2014/main" id="{BCB26C7A-55C8-4DC8-BC6C-A0457AAF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33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1C02351B-FC1F-4247-B4F4-89DF7833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337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上线复盘</a:t>
            </a:r>
          </a:p>
        </p:txBody>
      </p:sp>
      <p:sp>
        <p:nvSpPr>
          <p:cNvPr id="15" name="process-body-3">
            <a:extLst xmlns:a="http://schemas.openxmlformats.org/drawingml/2006/main">
              <a:ext uri="{FF2B5EF4-FFF2-40B4-BE49-F238E27FC236}">
                <a16:creationId xmlns:a16="http://schemas.microsoft.com/office/drawing/2014/main" id="{7932B51F-B4C4-426D-9854-5F4FD0B5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86200"/>
            <a:ext cx="238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内容开放跟进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参与与达成数据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后续调整和下一期建议</a:t>
            </a:r>
          </a:p>
        </p:txBody>
      </p:sp>
    </p:spTree>
    <p:extLst>
      <p:ext uri="{BB962C8B-B14F-4D97-AF65-F5344CB8AC3E}">
        <p14:creationId xmlns:p14="http://schemas.microsoft.com/office/powerpoint/2010/main" val="158098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1C6D6C-28A6-4E25-A5BC-7EC09DBE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效果评估与交付验收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A87FD54-3EB4-46AA-83A4-25B750B6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玩家结果与交付质量分开记录，目标值在试点前基于历史数据共同确定。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43B1D1-E4BD-4141-8CA1-D8897A34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7615C-9292-44F5-BB72-218D264B0A5A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362450"/>
                <a:gridCol w="4362450"/>
              </a:tblGrid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观察内容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解释与比较口径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活动参与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入口、章节参与与回访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与历史同类活动比较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奖励体验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达成率、耗时与资源积累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按玩家类型分层观察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商业表现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付费参与与奖励经济影响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结合球员强度和投放解释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交付质量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按期完成、返工与上线问题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按双方约定的标准记录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measurement-caveat">
            <a:extLst xmlns:a="http://schemas.openxmlformats.org/drawingml/2006/main">
              <a:ext uri="{FF2B5EF4-FFF2-40B4-BE49-F238E27FC236}">
                <a16:creationId xmlns:a16="http://schemas.microsoft.com/office/drawing/2014/main" id="{DAAF38DE-085E-4B66-9DE0-C9ADE2A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当前没有真实运营数据，不预先承诺留存或收入提升幅度。</a:t>
            </a:r>
          </a:p>
        </p:txBody>
      </p:sp>
    </p:spTree>
    <p:extLst>
      <p:ext uri="{BB962C8B-B14F-4D97-AF65-F5344CB8AC3E}">
        <p14:creationId xmlns:p14="http://schemas.microsoft.com/office/powerpoint/2010/main" val="18082858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AAF5C8-F151-4335-AE82-B7BCFF96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先完成一期试点，再扩大持续合作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C558CD3-D80B-4E7C-A957-EB455C65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选择双方认可的主题，在现有活动能力支持的范围内完成设计与接入验证。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B254E1-C76E-4172-AC7A-F66F5F36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pilot-design">
            <a:extLst xmlns:a="http://schemas.openxmlformats.org/drawingml/2006/main">
              <a:ext uri="{FF2B5EF4-FFF2-40B4-BE49-F238E27FC236}">
                <a16:creationId xmlns:a16="http://schemas.microsoft.com/office/drawing/2014/main" id="{EE136BD3-7D63-4993-A7D2-0434A34B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制作前：设计验收</a:t>
            </a:r>
          </a:p>
        </p:txBody>
      </p:sp>
      <p:sp>
        <p:nvSpPr>
          <p:cNvPr id="5" name="pilot-design-body">
            <a:extLst xmlns:a="http://schemas.openxmlformats.org/drawingml/2006/main">
              <a:ext uri="{FF2B5EF4-FFF2-40B4-BE49-F238E27FC236}">
                <a16:creationId xmlns:a16="http://schemas.microsoft.com/office/drawing/2014/main" id="{36DFEFC8-A373-4748-8640-3EBBAEC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5048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主题与玩法符合活动简报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规则、配置和界面状态完整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制作依赖与排期明确</a:t>
            </a:r>
          </a:p>
        </p:txBody>
      </p:sp>
      <p:sp>
        <p:nvSpPr>
          <p:cNvPr id="6" name="pilot-live">
            <a:extLst xmlns:a="http://schemas.openxmlformats.org/drawingml/2006/main">
              <a:ext uri="{FF2B5EF4-FFF2-40B4-BE49-F238E27FC236}">
                <a16:creationId xmlns:a16="http://schemas.microsoft.com/office/drawing/2014/main" id="{D59A3317-F343-410A-AC33-78DFBB36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上线后：运行验证</a:t>
            </a:r>
          </a:p>
        </p:txBody>
      </p:sp>
      <p:sp>
        <p:nvSpPr>
          <p:cNvPr id="7" name="pilot-live-body">
            <a:extLst xmlns:a="http://schemas.openxmlformats.org/drawingml/2006/main">
              <a:ext uri="{FF2B5EF4-FFF2-40B4-BE49-F238E27FC236}">
                <a16:creationId xmlns:a16="http://schemas.microsoft.com/office/drawing/2014/main" id="{280EA1FA-CB94-425B-948C-E21C6BE5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28975"/>
            <a:ext cx="5048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关键流程与奖励发放正常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内容按约定节奏开放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数据口径与复盘建议可交付</a:t>
            </a:r>
          </a:p>
        </p:txBody>
      </p:sp>
      <p:sp>
        <p:nvSpPr>
          <p:cNvPr id="8" name="pilot-duration">
            <a:extLst xmlns:a="http://schemas.openxmlformats.org/drawingml/2006/main">
              <a:ext uri="{FF2B5EF4-FFF2-40B4-BE49-F238E27FC236}">
                <a16:creationId xmlns:a16="http://schemas.microsoft.com/office/drawing/2014/main" id="{AB8D2896-77C5-49D9-B1CD-4AF51E1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活动运行按6周假设，项目总工期另含准备、接入与复盘。</a:t>
            </a:r>
          </a:p>
        </p:txBody>
      </p:sp>
    </p:spTree>
    <p:extLst>
      <p:ext uri="{BB962C8B-B14F-4D97-AF65-F5344CB8AC3E}">
        <p14:creationId xmlns:p14="http://schemas.microsoft.com/office/powerpoint/2010/main" val="2040497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A905B3-A6FA-422F-A6E5-9695432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下一步：确定一期试点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6C1C56-6E8E-4626-BED3-4596C107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next-statement">
            <a:extLst xmlns:a="http://schemas.openxmlformats.org/drawingml/2006/main">
              <a:ext uri="{FF2B5EF4-FFF2-40B4-BE49-F238E27FC236}">
                <a16:creationId xmlns:a16="http://schemas.microsoft.com/office/drawing/2014/main" id="{D860EE49-58F6-43FC-AAFE-43C13923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一次需求对齐，</a:t>
            </a:r>
          </a:p>
          <a:p xmlns:a="http://schemas.openxmlformats.org/drawingml/2006/main">
            <a:pPr algn="l">
              <a:def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确认合作的起点。</a:t>
            </a:r>
          </a:p>
        </p:txBody>
      </p:sp>
      <p:sp>
        <p:nvSpPr>
          <p:cNvPr id="4" name="next-topics">
            <a:extLst xmlns:a="http://schemas.openxmlformats.org/drawingml/2006/main">
              <a:ext uri="{FF2B5EF4-FFF2-40B4-BE49-F238E27FC236}">
                <a16:creationId xmlns:a16="http://schemas.microsoft.com/office/drawing/2014/main" id="{1D282ABF-808C-46A3-95B2-EF46C4DD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试点主题     可用活动系统</a:t>
            </a:r>
          </a:p>
          <a:p xmlns:a="http://schemas.openxmlformats.org/drawingml/2006/main">
            <a: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奖励边界     验收口径与负责人</a:t>
            </a:r>
          </a:p>
        </p:txBody>
      </p:sp>
      <p:sp>
        <p:nvSpPr>
          <p:cNvPr id="5" name="next-commercial">
            <a:extLst xmlns:a="http://schemas.openxmlformats.org/drawingml/2006/main">
              <a:ext uri="{FF2B5EF4-FFF2-40B4-BE49-F238E27FC236}">
                <a16:creationId xmlns:a16="http://schemas.microsoft.com/office/drawing/2014/main" id="{F398613B-BAB4-41EF-B43E-CE220CB2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试点范围、排期与费用在需求确认后约定。</a:t>
            </a:r>
          </a:p>
        </p:txBody>
      </p:sp>
      <p:sp>
        <p:nvSpPr>
          <p:cNvPr id="6" name="next-readiness">
            <a:extLst xmlns:a="http://schemas.openxmlformats.org/drawingml/2006/main">
              <a:ext uri="{FF2B5EF4-FFF2-40B4-BE49-F238E27FC236}">
                <a16:creationId xmlns:a16="http://schemas.microsoft.com/office/drawing/2014/main" id="{79DDE899-88D2-4B66-B9D4-BDBC558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提交前补充：团队履历、岗位配置与实际产能样表。</a:t>
            </a:r>
          </a:p>
        </p:txBody>
      </p:sp>
    </p:spTree>
    <p:extLst>
      <p:ext uri="{BB962C8B-B14F-4D97-AF65-F5344CB8AC3E}">
        <p14:creationId xmlns:p14="http://schemas.microsoft.com/office/powerpoint/2010/main" val="1194015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2026-10-15T14:34:23.0740000Z</dcterms:created>
  <dcterms:modified xsi:type="dcterms:W3CDTF">2026-10-15T14:34:23.0740000Z</dcterms:modified>
</coreProperties>
</file>